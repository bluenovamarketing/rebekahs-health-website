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e130cba8f44ceb" /><Relationship Type="http://schemas.openxmlformats.org/officeDocument/2006/relationships/extended-properties" Target="/docProps/app.xml" Id="Re11ec4b999564664" /><Relationship Type="http://schemas.openxmlformats.org/officeDocument/2006/relationships/officeDocument" Target="/ppt/presentation.xml" Id="R6ff0741d272443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35ae80b3894091"/>
  </p:sldMasterIdLst>
  <p:notesMasterIdLst>
    <p:notesMasterId xmlns:r="http://schemas.openxmlformats.org/officeDocument/2006/relationships" r:id="R447a52e114624ff8"/>
  </p:notesMasterIdLst>
  <p:sldIdLst>
    <p:sldId xmlns:r="http://schemas.openxmlformats.org/officeDocument/2006/relationships" id="256" r:id="R698a01ba33a04815"/>
    <p:sldId xmlns:r="http://schemas.openxmlformats.org/officeDocument/2006/relationships" id="257" r:id="Ra8cf4d2ecac34cee"/>
    <p:sldId xmlns:r="http://schemas.openxmlformats.org/officeDocument/2006/relationships" id="258" r:id="Rdb0e2d6402f64f65"/>
    <p:sldId xmlns:r="http://schemas.openxmlformats.org/officeDocument/2006/relationships" id="259" r:id="Rb1f3ea466de040f4"/>
    <p:sldId xmlns:r="http://schemas.openxmlformats.org/officeDocument/2006/relationships" id="260" r:id="R3980f1471b224b04"/>
    <p:sldId xmlns:r="http://schemas.openxmlformats.org/officeDocument/2006/relationships" id="261" r:id="R65dabfd736c34ac7"/>
    <p:sldId xmlns:r="http://schemas.openxmlformats.org/officeDocument/2006/relationships" id="262" r:id="R0a054bde76114796"/>
    <p:sldId xmlns:r="http://schemas.openxmlformats.org/officeDocument/2006/relationships" id="263" r:id="Rb61ac782ac5843b9"/>
    <p:sldId xmlns:r="http://schemas.openxmlformats.org/officeDocument/2006/relationships" id="264" r:id="R232f3d00f1fe4e5d"/>
    <p:sldId xmlns:r="http://schemas.openxmlformats.org/officeDocument/2006/relationships" id="265" r:id="R3a150f65df1d4a2d"/>
    <p:sldId xmlns:r="http://schemas.openxmlformats.org/officeDocument/2006/relationships" id="266" r:id="Ra40c608c7dc4416e"/>
    <p:sldId xmlns:r="http://schemas.openxmlformats.org/officeDocument/2006/relationships" id="267" r:id="R19d9e28174954d9f"/>
    <p:sldId xmlns:r="http://schemas.openxmlformats.org/officeDocument/2006/relationships" id="268" r:id="Rced326181d4e4d2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3b2dd89d1c40e5" /><Relationship Type="http://schemas.openxmlformats.org/officeDocument/2006/relationships/slideMaster" Target="/ppt/slideMasters/slideMaster1.xml" Id="R8635ae80b3894091" /><Relationship Type="http://schemas.openxmlformats.org/officeDocument/2006/relationships/notesMaster" Target="/ppt/notesMasters/notesMaster1.xml" Id="R447a52e114624ff8" /><Relationship Type="http://schemas.openxmlformats.org/officeDocument/2006/relationships/presProps" Target="/ppt/presProps.xml" Id="Redf1770051364c10" /><Relationship Type="http://schemas.openxmlformats.org/officeDocument/2006/relationships/tableStyles" Target="/ppt/tableStyles.xml" Id="R43b66429ab3b40ef" /><Relationship Type="http://schemas.openxmlformats.org/officeDocument/2006/relationships/slide" Target="/ppt/slides/slide1.xml" Id="R698a01ba33a04815" /><Relationship Type="http://schemas.openxmlformats.org/officeDocument/2006/relationships/slide" Target="/ppt/slides/slide2.xml" Id="Ra8cf4d2ecac34cee" /><Relationship Type="http://schemas.openxmlformats.org/officeDocument/2006/relationships/slide" Target="/ppt/slides/slide3.xml" Id="Rdb0e2d6402f64f65" /><Relationship Type="http://schemas.openxmlformats.org/officeDocument/2006/relationships/slide" Target="/ppt/slides/slide4.xml" Id="Rb1f3ea466de040f4" /><Relationship Type="http://schemas.openxmlformats.org/officeDocument/2006/relationships/slide" Target="/ppt/slides/slide5.xml" Id="R3980f1471b224b04" /><Relationship Type="http://schemas.openxmlformats.org/officeDocument/2006/relationships/slide" Target="/ppt/slides/slide6.xml" Id="R65dabfd736c34ac7" /><Relationship Type="http://schemas.openxmlformats.org/officeDocument/2006/relationships/slide" Target="/ppt/slides/slide7.xml" Id="R0a054bde76114796" /><Relationship Type="http://schemas.openxmlformats.org/officeDocument/2006/relationships/slide" Target="/ppt/slides/slide8.xml" Id="Rb61ac782ac5843b9" /><Relationship Type="http://schemas.openxmlformats.org/officeDocument/2006/relationships/slide" Target="/ppt/slides/slide9.xml" Id="R232f3d00f1fe4e5d" /><Relationship Type="http://schemas.openxmlformats.org/officeDocument/2006/relationships/slide" Target="/ppt/slides/slide10.xml" Id="R3a150f65df1d4a2d" /><Relationship Type="http://schemas.openxmlformats.org/officeDocument/2006/relationships/slide" Target="/ppt/slides/slide11.xml" Id="Ra40c608c7dc4416e" /><Relationship Type="http://schemas.openxmlformats.org/officeDocument/2006/relationships/slide" Target="/ppt/slides/slide12.xml" Id="R19d9e28174954d9f" /><Relationship Type="http://schemas.openxmlformats.org/officeDocument/2006/relationships/slide" Target="/ppt/slides/slide13.xml" Id="Rced326181d4e4d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84b9e1e0fb4a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d44082083e4870" /><Relationship Type="http://schemas.openxmlformats.org/officeDocument/2006/relationships/notesMaster" Target="/ppt/notesMasters/notesMaster1.xml" Id="R19cb1e8b61b242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934a039cef4f8e" /><Relationship Type="http://schemas.openxmlformats.org/officeDocument/2006/relationships/notesMaster" Target="/ppt/notesMasters/notesMaster1.xml" Id="R4c6b23ded56043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b2e46621634449" /><Relationship Type="http://schemas.openxmlformats.org/officeDocument/2006/relationships/notesMaster" Target="/ppt/notesMasters/notesMaster1.xml" Id="Re3a0204968cc46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97d96103414591" /><Relationship Type="http://schemas.openxmlformats.org/officeDocument/2006/relationships/notesMaster" Target="/ppt/notesMasters/notesMaster1.xml" Id="Rc5c1b4dc57c040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69558469d04926" /><Relationship Type="http://schemas.openxmlformats.org/officeDocument/2006/relationships/notesMaster" Target="/ppt/notesMasters/notesMaster1.xml" Id="Rb07190028c7f4a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22126159b3444f" /><Relationship Type="http://schemas.openxmlformats.org/officeDocument/2006/relationships/notesMaster" Target="/ppt/notesMasters/notesMaster1.xml" Id="Rd8a41332426e44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8f85873f38467b" /><Relationship Type="http://schemas.openxmlformats.org/officeDocument/2006/relationships/notesMaster" Target="/ppt/notesMasters/notesMaster1.xml" Id="Rc8458553adb44e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b3645a39e542a9" /><Relationship Type="http://schemas.openxmlformats.org/officeDocument/2006/relationships/notesMaster" Target="/ppt/notesMasters/notesMaster1.xml" Id="Rd17777b715a542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5e76d99b184934" /><Relationship Type="http://schemas.openxmlformats.org/officeDocument/2006/relationships/notesMaster" Target="/ppt/notesMasters/notesMaster1.xml" Id="R6875c5f43a0b47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0ca1103a08483b" /><Relationship Type="http://schemas.openxmlformats.org/officeDocument/2006/relationships/notesMaster" Target="/ppt/notesMasters/notesMaster1.xml" Id="Rf6b287bf3fd541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5c8d7636f94329" /><Relationship Type="http://schemas.openxmlformats.org/officeDocument/2006/relationships/notesMaster" Target="/ppt/notesMasters/notesMaster1.xml" Id="R65c2e908165f4c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473460af53447e" /><Relationship Type="http://schemas.openxmlformats.org/officeDocument/2006/relationships/notesMaster" Target="/ppt/notesMasters/notesMaster1.xml" Id="R6eaa95644dee40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2c46e53db84004" /><Relationship Type="http://schemas.openxmlformats.org/officeDocument/2006/relationships/notesMaster" Target="/ppt/notesMasters/notesMaster1.xml" Id="Rf83823b23ec24f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b71bf6a9348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d0f8b680e84d23" /><Relationship Type="http://schemas.openxmlformats.org/officeDocument/2006/relationships/slideLayout" Target="/ppt/slideLayouts/slideLayout1.xml" Id="R623c44f2884649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3c44f2884649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42606a6c54ace" /><Relationship Type="http://schemas.openxmlformats.org/officeDocument/2006/relationships/image" Target="/ppt/media/image.png" Id="Re1e400f681d54d4b" /><Relationship Type="http://schemas.openxmlformats.org/officeDocument/2006/relationships/notesSlide" Target="/ppt/notesSlides/notesSlide1.xml" Id="Rf15a48fafa1a4b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33c96ddae42e2" /><Relationship Type="http://schemas.openxmlformats.org/officeDocument/2006/relationships/notesSlide" Target="/ppt/notesSlides/notesSlide2.xml" Id="Rd4971e99695f4c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2b271037e4098" /><Relationship Type="http://schemas.openxmlformats.org/officeDocument/2006/relationships/notesSlide" Target="/ppt/notesSlides/notesSlide3.xml" Id="R9c17f7371f8349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ed0ad5d7a47e8" /><Relationship Type="http://schemas.openxmlformats.org/officeDocument/2006/relationships/image" Target="/ppt/media/image.jpeg" Id="Rba583e8f11dc4040" /><Relationship Type="http://schemas.openxmlformats.org/officeDocument/2006/relationships/image" Target="/ppt/media/image2.jpeg" Id="Re40869977bf54d83" /><Relationship Type="http://schemas.openxmlformats.org/officeDocument/2006/relationships/notesSlide" Target="/ppt/notesSlides/notesSlide4.xml" Id="R75049a61f1df40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f52f7a13d44f8" /><Relationship Type="http://schemas.openxmlformats.org/officeDocument/2006/relationships/image" Target="/ppt/media/image3.jpeg" Id="R2485131f3ee24c2c" /><Relationship Type="http://schemas.openxmlformats.org/officeDocument/2006/relationships/image" Target="/ppt/media/image4.jpeg" Id="R146841b9c1a440a8" /><Relationship Type="http://schemas.openxmlformats.org/officeDocument/2006/relationships/notesSlide" Target="/ppt/notesSlides/notesSlide5.xml" Id="Rf71881464c7f42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89ece01904bf6" /><Relationship Type="http://schemas.openxmlformats.org/officeDocument/2006/relationships/image" Target="/ppt/media/image5.jpeg" Id="R6653e7a352b34651" /><Relationship Type="http://schemas.openxmlformats.org/officeDocument/2006/relationships/image" Target="/ppt/media/image6.jpeg" Id="R69d8e97391b44165" /><Relationship Type="http://schemas.openxmlformats.org/officeDocument/2006/relationships/notesSlide" Target="/ppt/notesSlides/notesSlide6.xml" Id="R39ca08bd142445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5ee2e2bea454c" /><Relationship Type="http://schemas.openxmlformats.org/officeDocument/2006/relationships/image" Target="/ppt/media/image7.jpeg" Id="R03ed4628fae04a90" /><Relationship Type="http://schemas.openxmlformats.org/officeDocument/2006/relationships/image" Target="/ppt/media/image8.jpeg" Id="R4c90fc7dc52b447b" /><Relationship Type="http://schemas.openxmlformats.org/officeDocument/2006/relationships/notesSlide" Target="/ppt/notesSlides/notesSlide7.xml" Id="R72e0f67d36ad48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02aa71fb940fa" /><Relationship Type="http://schemas.openxmlformats.org/officeDocument/2006/relationships/image" Target="/ppt/media/image9.jpeg" Id="Rc9a9062fe1ce44b6" /><Relationship Type="http://schemas.openxmlformats.org/officeDocument/2006/relationships/image" Target="/ppt/media/image10.jpeg" Id="R8ae379d5069f43dc" /><Relationship Type="http://schemas.openxmlformats.org/officeDocument/2006/relationships/notesSlide" Target="/ppt/notesSlides/notesSlide8.xml" Id="Ra0a234de4e2f45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f0ee2a0ae4fdf" /><Relationship Type="http://schemas.openxmlformats.org/officeDocument/2006/relationships/image" Target="/ppt/media/image11.jpeg" Id="Rd3e260bc64a44ab7" /><Relationship Type="http://schemas.openxmlformats.org/officeDocument/2006/relationships/image" Target="/ppt/media/image12.jpeg" Id="Rc3bdaa5897eb447c" /><Relationship Type="http://schemas.openxmlformats.org/officeDocument/2006/relationships/notesSlide" Target="/ppt/notesSlides/notesSlide9.xml" Id="Rfdbf8854ddb646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657592e184927" /><Relationship Type="http://schemas.openxmlformats.org/officeDocument/2006/relationships/image" Target="/ppt/media/image13.jpeg" Id="Re6e32c02102d47d8" /><Relationship Type="http://schemas.openxmlformats.org/officeDocument/2006/relationships/image" Target="/ppt/media/image14.jpeg" Id="Rbb3efd226dac4903" /><Relationship Type="http://schemas.openxmlformats.org/officeDocument/2006/relationships/notesSlide" Target="/ppt/notesSlides/notesSlide10.xml" Id="R202459b44ada4b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0a268640e4da7" /><Relationship Type="http://schemas.openxmlformats.org/officeDocument/2006/relationships/image" Target="/ppt/media/image15.jpeg" Id="R1470b3b9050448f7" /><Relationship Type="http://schemas.openxmlformats.org/officeDocument/2006/relationships/image" Target="/ppt/media/image16.jpeg" Id="Re19ded9d5d234882" /><Relationship Type="http://schemas.openxmlformats.org/officeDocument/2006/relationships/notesSlide" Target="/ppt/notesSlides/notesSlide11.xml" Id="R9134e2ebd86440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8f1185e2b45a3" /><Relationship Type="http://schemas.openxmlformats.org/officeDocument/2006/relationships/image" Target="/ppt/media/image17.jpeg" Id="R98ebf3a40ad7447f" /><Relationship Type="http://schemas.openxmlformats.org/officeDocument/2006/relationships/image" Target="/ppt/media/image18.jpeg" Id="Ra11f330d59b748e8" /><Relationship Type="http://schemas.openxmlformats.org/officeDocument/2006/relationships/notesSlide" Target="/ppt/notesSlides/notesSlide12.xml" Id="Rc5c3a88e55414c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330d48d7b427d" /><Relationship Type="http://schemas.openxmlformats.org/officeDocument/2006/relationships/notesSlide" Target="/ppt/notesSlides/notesSlide13.xml" Id="R49a8c39cbba44b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Clear the website cache safely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Cache safety v1.1  |  1/13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400f681d54d4b"/>
          <a:stretch xmlns:a="http://schemas.openxmlformats.org/drawingml/2006/main"/>
        </p:blipFill>
        <p:spPr>
          <a:xfrm xmlns:a="http://schemas.openxmlformats.org/drawingml/2006/main">
            <a:off x="1476375" y="3078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Use the smallest safe cache clear, refresh your browser, and verify the exact public page without changing server settings.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15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|  Live website  |  Use only after saving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WordPress access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Cache safety v1.1  |  2/13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Editor: record cache  |  Administrator: sitewide cache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Use only the cache control your role and instructions allow.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953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Do not give someone Administrator access only to clear cache. Ask Blue Nova when a sitewide or server purge is required.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Clear cache only when a saved change is stale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Cache safety v1.1  |  3/13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CACHE IS A VISIBILITY STEP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Save first  |  exact public URL  |  purge only what applies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91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Cache clearing does not save your work and does not correct wrong content.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Save the correct item once before clearing cache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Cache safety v1.1  |  4/13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83e8f11dc4040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227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2770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2894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4-box">
            <a:extLst xmlns:a="http://schemas.openxmlformats.org/drawingml/2006/main">
              <a:ext uri="{FF2B5EF4-FFF2-40B4-BE49-F238E27FC236}">
                <a16:creationId xmlns:a16="http://schemas.microsoft.com/office/drawing/2014/main" id="{749CC583-2ADA-4B0C-B07C-A70D394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61937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4-heading">
            <a:extLst xmlns:a="http://schemas.openxmlformats.org/drawingml/2006/main">
              <a:ext uri="{FF2B5EF4-FFF2-40B4-BE49-F238E27FC236}">
                <a16:creationId xmlns:a16="http://schemas.microsoft.com/office/drawing/2014/main" id="{7F25953F-4AE7-4F02-A289-F98AEE3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7908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4-body">
            <a:extLst xmlns:a="http://schemas.openxmlformats.org/drawingml/2006/main">
              <a:ext uri="{FF2B5EF4-FFF2-40B4-BE49-F238E27FC236}">
                <a16:creationId xmlns:a16="http://schemas.microsoft.com/office/drawing/2014/main" id="{10B576F1-08BF-4DE2-87D4-C0B5EEA2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248025"/>
            <a:ext cx="28765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Click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Click All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Search by name if needed.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7E47C0BD-FEE9-422F-B0A0-1673A9F4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1662BBA2-2371-44E1-82C1-F0F3C6C4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869977bf54d83"/>
          <a:stretch xmlns:a="http://schemas.openxmlformats.org/drawingml/2006/main"/>
        </p:blipFill>
        <p:spPr>
          <a:xfrm xmlns:a="http://schemas.openxmlformats.org/drawingml/2006/main">
            <a:off x="552450" y="3647427"/>
            <a:ext cx="11944350" cy="2801646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5088EA59-FC69-4DFD-AEB9-8557CE66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24ADEDD5-A0F0-40F7-B877-2DC03B5A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39EE0F66-5A60-4390-B158-F13B6C37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Save first.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Wait for confirmation.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Keep the exact public URL.</a:t>
            </a:r>
          </a:p>
        </p:txBody>
      </p:sp>
      <p:sp>
        <p:nvSpPr>
          <p:cNvPr id="25" name="guide-cover-1">
            <a:extLst xmlns:a="http://schemas.openxmlformats.org/drawingml/2006/main">
              <a:ext uri="{FF2B5EF4-FFF2-40B4-BE49-F238E27FC236}">
                <a16:creationId xmlns:a16="http://schemas.microsoft.com/office/drawing/2014/main" id="{A3ECCFCB-AD51-4C83-BF20-2F9B7398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1">
            <a:extLst xmlns:a="http://schemas.openxmlformats.org/drawingml/2006/main">
              <a:ext uri="{FF2B5EF4-FFF2-40B4-BE49-F238E27FC236}">
                <a16:creationId xmlns:a16="http://schemas.microsoft.com/office/drawing/2014/main" id="{7014F018-C8C1-4D82-AC31-E197964C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1">
            <a:extLst xmlns:a="http://schemas.openxmlformats.org/drawingml/2006/main">
              <a:ext uri="{FF2B5EF4-FFF2-40B4-BE49-F238E27FC236}">
                <a16:creationId xmlns:a16="http://schemas.microsoft.com/office/drawing/2014/main" id="{B13E5260-1A95-4241-9AAD-560E7701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1">
            <a:extLst xmlns:a="http://schemas.openxmlformats.org/drawingml/2006/main">
              <a:ext uri="{FF2B5EF4-FFF2-40B4-BE49-F238E27FC236}">
                <a16:creationId xmlns:a16="http://schemas.microsoft.com/office/drawing/2014/main" id="{A23C7660-BDD2-4765-9B51-51F2DCFD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Editor &gt; Save, Update, or Publish</a:t>
            </a:r>
          </a:p>
        </p:txBody>
      </p:sp>
      <p:sp>
        <p:nvSpPr>
          <p:cNvPr id="29" name="guide-body-1">
            <a:extLst xmlns:a="http://schemas.openxmlformats.org/drawingml/2006/main">
              <a:ext uri="{FF2B5EF4-FFF2-40B4-BE49-F238E27FC236}">
                <a16:creationId xmlns:a16="http://schemas.microsoft.com/office/drawing/2014/main" id="{A81A65D8-F150-461A-B51C-29F16446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Finish and review the approved change.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Select Save, Update, or Publish one time and wait for confirmation.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Copy the exact public URL that visitors use.</a:t>
            </a:r>
          </a:p>
        </p:txBody>
      </p:sp>
      <p:sp>
        <p:nvSpPr>
          <p:cNvPr id="30" name="guide-warning-1">
            <a:extLst xmlns:a="http://schemas.openxmlformats.org/drawingml/2006/main">
              <a:ext uri="{FF2B5EF4-FFF2-40B4-BE49-F238E27FC236}">
                <a16:creationId xmlns:a16="http://schemas.microsoft.com/office/drawing/2014/main" id="{970B262D-5A16-4291-A1C2-3F1DB828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Start with the smallest applicable cache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Cache safety v1.1  |  5/13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5131f3ee24c2c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65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908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032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7-box">
            <a:extLst xmlns:a="http://schemas.openxmlformats.org/drawingml/2006/main">
              <a:ext uri="{FF2B5EF4-FFF2-40B4-BE49-F238E27FC236}">
                <a16:creationId xmlns:a16="http://schemas.microsoft.com/office/drawing/2014/main" id="{0F19B1DB-3B3B-49C1-80BC-96FCE752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7-heading">
            <a:extLst xmlns:a="http://schemas.openxmlformats.org/drawingml/2006/main">
              <a:ext uri="{FF2B5EF4-FFF2-40B4-BE49-F238E27FC236}">
                <a16:creationId xmlns:a16="http://schemas.microsoft.com/office/drawing/2014/main" id="{82F39FEE-796F-4780-ABB1-8EFCF569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7-body">
            <a:extLst xmlns:a="http://schemas.openxmlformats.org/drawingml/2006/main">
              <a:ext uri="{FF2B5EF4-FFF2-40B4-BE49-F238E27FC236}">
                <a16:creationId xmlns:a16="http://schemas.microsoft.com/office/drawing/2014/main" id="{7B905C5E-FC7C-4CAF-A6DE-D492D9B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Find Medical Service.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Check the approved category.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Uncheck incorrect categories.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B43882D0-03D2-4BCD-84DB-F9E4DEF7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7DA31449-9DAA-427A-93C8-37B9E36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841b9c1a440a8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A1E3021B-660E-41BD-93CD-357A265E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6482EF53-8E6B-49DC-A44A-E4951D70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3DC65744-926C-4842-97D8-28F93924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Match the exact item.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Use its Clear Cache action.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Do not purge unrelated content.</a:t>
            </a:r>
          </a:p>
        </p:txBody>
      </p:sp>
      <p:sp>
        <p:nvSpPr>
          <p:cNvPr id="25" name="guide-cover-2">
            <a:extLst xmlns:a="http://schemas.openxmlformats.org/drawingml/2006/main">
              <a:ext uri="{FF2B5EF4-FFF2-40B4-BE49-F238E27FC236}">
                <a16:creationId xmlns:a16="http://schemas.microsoft.com/office/drawing/2014/main" id="{A914C54F-0C52-4851-8661-23E29DAC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2">
            <a:extLst xmlns:a="http://schemas.openxmlformats.org/drawingml/2006/main">
              <a:ext uri="{FF2B5EF4-FFF2-40B4-BE49-F238E27FC236}">
                <a16:creationId xmlns:a16="http://schemas.microsoft.com/office/drawing/2014/main" id="{D5891590-A8A1-4C5A-9116-20B4D860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2">
            <a:extLst xmlns:a="http://schemas.openxmlformats.org/drawingml/2006/main">
              <a:ext uri="{FF2B5EF4-FFF2-40B4-BE49-F238E27FC236}">
                <a16:creationId xmlns:a16="http://schemas.microsoft.com/office/drawing/2014/main" id="{D1B6034D-199F-419B-BBB3-D39E52D2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2">
            <a:extLst xmlns:a="http://schemas.openxmlformats.org/drawingml/2006/main">
              <a:ext uri="{FF2B5EF4-FFF2-40B4-BE49-F238E27FC236}">
                <a16:creationId xmlns:a16="http://schemas.microsoft.com/office/drawing/2014/main" id="{5A36DBD4-956F-4B57-BBC7-9845D9E9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Content list &gt; changed row &gt; Clear Cache</a:t>
            </a:r>
          </a:p>
        </p:txBody>
      </p:sp>
      <p:sp>
        <p:nvSpPr>
          <p:cNvPr id="29" name="guide-body-2">
            <a:extLst xmlns:a="http://schemas.openxmlformats.org/drawingml/2006/main">
              <a:ext uri="{FF2B5EF4-FFF2-40B4-BE49-F238E27FC236}">
                <a16:creationId xmlns:a16="http://schemas.microsoft.com/office/drawing/2014/main" id="{B421A957-367B-44ED-BE39-B27394BA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Return to the list that contains the item you changed.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Find the exact row and use its Clear Cache action when available.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Do not clear unrelated pages, products, events, or practitioner records.</a:t>
            </a:r>
          </a:p>
        </p:txBody>
      </p:sp>
      <p:sp>
        <p:nvSpPr>
          <p:cNvPr id="30" name="guide-warning-2">
            <a:extLst xmlns:a="http://schemas.openxmlformats.org/drawingml/2006/main">
              <a:ext uri="{FF2B5EF4-FFF2-40B4-BE49-F238E27FC236}">
                <a16:creationId xmlns:a16="http://schemas.microsoft.com/office/drawing/2014/main" id="{4AF770AE-09BE-42BF-B72A-56C44E06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Refresh the browser without changing the URL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Cache safety v1.1  |  6/13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3e7a352b34651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483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026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149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9-box">
            <a:extLst xmlns:a="http://schemas.openxmlformats.org/drawingml/2006/main">
              <a:ext uri="{FF2B5EF4-FFF2-40B4-BE49-F238E27FC236}">
                <a16:creationId xmlns:a16="http://schemas.microsoft.com/office/drawing/2014/main" id="{4ABC69C6-DAD4-4F33-9D0B-71C0042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9-heading">
            <a:extLst xmlns:a="http://schemas.openxmlformats.org/drawingml/2006/main">
              <a:ext uri="{FF2B5EF4-FFF2-40B4-BE49-F238E27FC236}">
                <a16:creationId xmlns:a16="http://schemas.microsoft.com/office/drawing/2014/main" id="{A67D71E3-0150-41E7-8E63-2A3F778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9-body">
            <a:extLst xmlns:a="http://schemas.openxmlformats.org/drawingml/2006/main">
              <a:ext uri="{FF2B5EF4-FFF2-40B4-BE49-F238E27FC236}">
                <a16:creationId xmlns:a16="http://schemas.microsoft.com/office/drawing/2014/main" id="{7902B29C-2B93-41ED-ABA6-92C8BE4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Select Visual.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Replace the approved description.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Keep the paragraph breaks.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21417551-7971-46A0-A134-410189F4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A34A1B5-BC25-4C72-98C7-8779AB7D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8e97391b44165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D4D104B4-9A79-4C09-A56B-1E62579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BC430E73-5DD1-42E7-9CE8-1799832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6D25D61B-2C29-460D-9FB7-FE4040D8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Use the canonical URL.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Perform one hard refresh.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Read the visible result.</a:t>
            </a:r>
          </a:p>
        </p:txBody>
      </p:sp>
      <p:sp>
        <p:nvSpPr>
          <p:cNvPr id="25" name="guide-cover-3">
            <a:extLst xmlns:a="http://schemas.openxmlformats.org/drawingml/2006/main">
              <a:ext uri="{FF2B5EF4-FFF2-40B4-BE49-F238E27FC236}">
                <a16:creationId xmlns:a16="http://schemas.microsoft.com/office/drawing/2014/main" id="{A579DCD0-BE49-46E6-9BA0-98B196DD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3">
            <a:extLst xmlns:a="http://schemas.openxmlformats.org/drawingml/2006/main">
              <a:ext uri="{FF2B5EF4-FFF2-40B4-BE49-F238E27FC236}">
                <a16:creationId xmlns:a16="http://schemas.microsoft.com/office/drawing/2014/main" id="{82854C97-EA5F-4587-A440-ABD800D1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3">
            <a:extLst xmlns:a="http://schemas.openxmlformats.org/drawingml/2006/main">
              <a:ext uri="{FF2B5EF4-FFF2-40B4-BE49-F238E27FC236}">
                <a16:creationId xmlns:a16="http://schemas.microsoft.com/office/drawing/2014/main" id="{BDFC9D8B-0457-41CE-84DA-4F8E52A2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3">
            <a:extLst xmlns:a="http://schemas.openxmlformats.org/drawingml/2006/main">
              <a:ext uri="{FF2B5EF4-FFF2-40B4-BE49-F238E27FC236}">
                <a16:creationId xmlns:a16="http://schemas.microsoft.com/office/drawing/2014/main" id="{A2B0B1D2-F137-4BD2-816F-3598DC9F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Exact public URL &gt; hard refresh</a:t>
            </a:r>
          </a:p>
        </p:txBody>
      </p:sp>
      <p:sp>
        <p:nvSpPr>
          <p:cNvPr id="29" name="guide-body-3">
            <a:extLst xmlns:a="http://schemas.openxmlformats.org/drawingml/2006/main">
              <a:ext uri="{FF2B5EF4-FFF2-40B4-BE49-F238E27FC236}">
                <a16:creationId xmlns:a16="http://schemas.microsoft.com/office/drawing/2014/main" id="{970AF647-4C23-408C-91F3-702212E3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Open the exact public URL with no extra question mark or test text.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On Windows press Control plus F5. On a Mac press Command, Shift, and R.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Confirm the visible page now shows the saved information.</a:t>
            </a:r>
          </a:p>
        </p:txBody>
      </p:sp>
      <p:sp>
        <p:nvSpPr>
          <p:cNvPr id="30" name="guide-warning-3">
            <a:extLst xmlns:a="http://schemas.openxmlformats.org/drawingml/2006/main">
              <a:ext uri="{FF2B5EF4-FFF2-40B4-BE49-F238E27FC236}">
                <a16:creationId xmlns:a16="http://schemas.microsoft.com/office/drawing/2014/main" id="{8DCDB41A-93C6-4C7B-9670-86B865B8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Check in a private window when the browser stays stale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Cache safety v1.1  |  7/13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d4628fae04a90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287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829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3953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0-box">
            <a:extLst xmlns:a="http://schemas.openxmlformats.org/drawingml/2006/main">
              <a:ext uri="{FF2B5EF4-FFF2-40B4-BE49-F238E27FC236}">
                <a16:creationId xmlns:a16="http://schemas.microsoft.com/office/drawing/2014/main" id="{47D5217A-E42C-4ADF-9103-30D5116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0-heading">
            <a:extLst xmlns:a="http://schemas.openxmlformats.org/drawingml/2006/main">
              <a:ext uri="{FF2B5EF4-FFF2-40B4-BE49-F238E27FC236}">
                <a16:creationId xmlns:a16="http://schemas.microsoft.com/office/drawing/2014/main" id="{780B9F1D-0BB3-4C1A-B929-5C80B4BF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0-body">
            <a:extLst xmlns:a="http://schemas.openxmlformats.org/drawingml/2006/main">
              <a:ext uri="{FF2B5EF4-FFF2-40B4-BE49-F238E27FC236}">
                <a16:creationId xmlns:a16="http://schemas.microsoft.com/office/drawing/2014/main" id="{59DF0A13-2632-4088-9ED5-479F2E0A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Add only approved public details.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Test every link.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Remove outdated contact information.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8EDCC9F3-24DA-4049-8181-72DAAAA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1ED9BDE7-F1E3-4F14-940C-2D1C20F1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0fc7dc52b447b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FA2E18A6-C808-472C-BDCB-82142D8A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47108EF7-53C2-4EA4-B9A6-EC578D4D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9C69C03C-3655-4E3F-A07D-5C4DB96B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Open a private window.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Use the same URL.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Do not add cache-busting text.</a:t>
            </a:r>
          </a:p>
        </p:txBody>
      </p:sp>
      <p:sp>
        <p:nvSpPr>
          <p:cNvPr id="25" name="guide-cover-4">
            <a:extLst xmlns:a="http://schemas.openxmlformats.org/drawingml/2006/main">
              <a:ext uri="{FF2B5EF4-FFF2-40B4-BE49-F238E27FC236}">
                <a16:creationId xmlns:a16="http://schemas.microsoft.com/office/drawing/2014/main" id="{87BFC4AA-1E44-45B6-956B-CAD5E6F1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4">
            <a:extLst xmlns:a="http://schemas.openxmlformats.org/drawingml/2006/main">
              <a:ext uri="{FF2B5EF4-FFF2-40B4-BE49-F238E27FC236}">
                <a16:creationId xmlns:a16="http://schemas.microsoft.com/office/drawing/2014/main" id="{36BDF5A7-F931-4B41-A7E6-4D31CFD5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4">
            <a:extLst xmlns:a="http://schemas.openxmlformats.org/drawingml/2006/main">
              <a:ext uri="{FF2B5EF4-FFF2-40B4-BE49-F238E27FC236}">
                <a16:creationId xmlns:a16="http://schemas.microsoft.com/office/drawing/2014/main" id="{4F3BA67A-7DEE-4D61-ACB5-AE9D9A6E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4">
            <a:extLst xmlns:a="http://schemas.openxmlformats.org/drawingml/2006/main">
              <a:ext uri="{FF2B5EF4-FFF2-40B4-BE49-F238E27FC236}">
                <a16:creationId xmlns:a16="http://schemas.microsoft.com/office/drawing/2014/main" id="{4A6E5B9B-46BE-428C-8CF0-DFCB1A7B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Private or Incognito window &gt; exact public URL</a:t>
            </a:r>
          </a:p>
        </p:txBody>
      </p:sp>
      <p:sp>
        <p:nvSpPr>
          <p:cNvPr id="29" name="guide-body-4">
            <a:extLst xmlns:a="http://schemas.openxmlformats.org/drawingml/2006/main">
              <a:ext uri="{FF2B5EF4-FFF2-40B4-BE49-F238E27FC236}">
                <a16:creationId xmlns:a16="http://schemas.microsoft.com/office/drawing/2014/main" id="{D19452B7-ECEF-44F0-B8A8-85325A4A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Open a private or Incognito window.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Paste the same exact public URL.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A correct private-window result means the remaining problem was the regular browser cache.</a:t>
            </a:r>
          </a:p>
        </p:txBody>
      </p:sp>
      <p:sp>
        <p:nvSpPr>
          <p:cNvPr id="30" name="guide-warning-4">
            <a:extLst xmlns:a="http://schemas.openxmlformats.org/drawingml/2006/main">
              <a:ext uri="{FF2B5EF4-FFF2-40B4-BE49-F238E27FC236}">
                <a16:creationId xmlns:a16="http://schemas.microsoft.com/office/drawing/2014/main" id="{62E36545-10EA-4C54-A950-0D4A60F9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Use Breeze only when a broader purge is approved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Cache safety v1.1  |  8/13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9062fe1ce44b6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1-box">
            <a:extLst xmlns:a="http://schemas.openxmlformats.org/drawingml/2006/main">
              <a:ext uri="{FF2B5EF4-FFF2-40B4-BE49-F238E27FC236}">
                <a16:creationId xmlns:a16="http://schemas.microsoft.com/office/drawing/2014/main" id="{675C4915-8EB7-4966-8DF8-3A318ACC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1-heading">
            <a:extLst xmlns:a="http://schemas.openxmlformats.org/drawingml/2006/main">
              <a:ext uri="{FF2B5EF4-FFF2-40B4-BE49-F238E27FC236}">
                <a16:creationId xmlns:a16="http://schemas.microsoft.com/office/drawing/2014/main" id="{DB8BA70E-1E1C-42FF-8AD2-9CCC11C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1-body">
            <a:extLst xmlns:a="http://schemas.openxmlformats.org/drawingml/2006/main">
              <a:ext uri="{FF2B5EF4-FFF2-40B4-BE49-F238E27FC236}">
                <a16:creationId xmlns:a16="http://schemas.microsoft.com/office/drawing/2014/main" id="{EF2C2CC5-DFDA-44D3-88A6-EB8D397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Re-read every changed field.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Compare with the approved information.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Fix errors before saving.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744FCE74-0862-4A7B-A39A-F93F670B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6AF0294B-41F2-4246-9143-7C4DF9DD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379d5069f43dc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D795B593-E452-4062-AE49-1B9A2D6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39B2A4BB-FCCD-423A-BE74-451B21D7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E3219AB5-C174-4CF7-A13C-AED13EB0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Purge only when warranted.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Click once and wait.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Do not change settings.</a:t>
            </a:r>
          </a:p>
        </p:txBody>
      </p:sp>
      <p:sp>
        <p:nvSpPr>
          <p:cNvPr id="25" name="guide-cover-5">
            <a:extLst xmlns:a="http://schemas.openxmlformats.org/drawingml/2006/main">
              <a:ext uri="{FF2B5EF4-FFF2-40B4-BE49-F238E27FC236}">
                <a16:creationId xmlns:a16="http://schemas.microsoft.com/office/drawing/2014/main" id="{B19D7A87-BA63-4448-9697-78A396D0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5">
            <a:extLst xmlns:a="http://schemas.openxmlformats.org/drawingml/2006/main">
              <a:ext uri="{FF2B5EF4-FFF2-40B4-BE49-F238E27FC236}">
                <a16:creationId xmlns:a16="http://schemas.microsoft.com/office/drawing/2014/main" id="{9C8C78BC-3DDA-4F23-BAE2-9AF0BC15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5">
            <a:extLst xmlns:a="http://schemas.openxmlformats.org/drawingml/2006/main">
              <a:ext uri="{FF2B5EF4-FFF2-40B4-BE49-F238E27FC236}">
                <a16:creationId xmlns:a16="http://schemas.microsoft.com/office/drawing/2014/main" id="{FEC07205-97D2-43D9-A07B-D3C58964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5">
            <a:extLst xmlns:a="http://schemas.openxmlformats.org/drawingml/2006/main">
              <a:ext uri="{FF2B5EF4-FFF2-40B4-BE49-F238E27FC236}">
                <a16:creationId xmlns:a16="http://schemas.microsoft.com/office/drawing/2014/main" id="{55393259-B882-4193-A869-22F58B10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WordPress admin bar &gt; Breeze &gt; Purge All Cache</a:t>
            </a:r>
          </a:p>
        </p:txBody>
      </p:sp>
      <p:sp>
        <p:nvSpPr>
          <p:cNvPr id="29" name="guide-body-5">
            <a:extLst xmlns:a="http://schemas.openxmlformats.org/drawingml/2006/main">
              <a:ext uri="{FF2B5EF4-FFF2-40B4-BE49-F238E27FC236}">
                <a16:creationId xmlns:a16="http://schemas.microsoft.com/office/drawing/2014/main" id="{0247258B-A03B-4648-BB6B-7665E3B9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Use this only when an approved saved change affects a shared page or several pages.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Select the approved Breeze purge one time and wait.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Do not change Breeze settings, preload options, minification, or optimization controls.</a:t>
            </a:r>
          </a:p>
        </p:txBody>
      </p:sp>
      <p:sp>
        <p:nvSpPr>
          <p:cNvPr id="30" name="guide-warning-5">
            <a:extLst xmlns:a="http://schemas.openxmlformats.org/drawingml/2006/main">
              <a:ext uri="{FF2B5EF4-FFF2-40B4-BE49-F238E27FC236}">
                <a16:creationId xmlns:a16="http://schemas.microsoft.com/office/drawing/2014/main" id="{1C7D9B7D-7EB1-491B-953F-485C32CC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Leave Cloudways and Varnish controls to authorized users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Cache safety v1.1  |  9/13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260bc64a44ab7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990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41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2-box">
            <a:extLst xmlns:a="http://schemas.openxmlformats.org/drawingml/2006/main">
              <a:ext uri="{FF2B5EF4-FFF2-40B4-BE49-F238E27FC236}">
                <a16:creationId xmlns:a16="http://schemas.microsoft.com/office/drawing/2014/main" id="{AE96A1A7-2080-4A02-92EC-C234016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2-heading">
            <a:extLst xmlns:a="http://schemas.openxmlformats.org/drawingml/2006/main">
              <a:ext uri="{FF2B5EF4-FFF2-40B4-BE49-F238E27FC236}">
                <a16:creationId xmlns:a16="http://schemas.microsoft.com/office/drawing/2014/main" id="{8659E305-1C06-41F7-B96B-24B1D38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2-body">
            <a:extLst xmlns:a="http://schemas.openxmlformats.org/drawingml/2006/main">
              <a:ext uri="{FF2B5EF4-FFF2-40B4-BE49-F238E27FC236}">
                <a16:creationId xmlns:a16="http://schemas.microsoft.com/office/drawing/2014/main" id="{85081FAA-0F62-48F5-A83B-901A83C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Click Save once.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Wait for confirmation.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Do not click repeatedly.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D19E1327-175C-4838-88C5-1268E10D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D2145F7-66B7-4EC7-A289-70412226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daa5897eb447c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2FA350BD-A77C-4029-8BB1-2F88B956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91E2FF1E-AAEB-4631-924A-74DCEFCB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253916D3-73CE-423F-81CD-BB07B517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Use only an approved purge.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Never change server settings.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Ask Blue Nova if the control is missing.</a:t>
            </a:r>
          </a:p>
        </p:txBody>
      </p:sp>
      <p:sp>
        <p:nvSpPr>
          <p:cNvPr id="25" name="guide-cover-6">
            <a:extLst xmlns:a="http://schemas.openxmlformats.org/drawingml/2006/main">
              <a:ext uri="{FF2B5EF4-FFF2-40B4-BE49-F238E27FC236}">
                <a16:creationId xmlns:a16="http://schemas.microsoft.com/office/drawing/2014/main" id="{635D9D16-5C7A-4EEC-B713-3B825E35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6">
            <a:extLst xmlns:a="http://schemas.openxmlformats.org/drawingml/2006/main">
              <a:ext uri="{FF2B5EF4-FFF2-40B4-BE49-F238E27FC236}">
                <a16:creationId xmlns:a16="http://schemas.microsoft.com/office/drawing/2014/main" id="{64D732B5-B766-4531-93A1-174B795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6">
            <a:extLst xmlns:a="http://schemas.openxmlformats.org/drawingml/2006/main">
              <a:ext uri="{FF2B5EF4-FFF2-40B4-BE49-F238E27FC236}">
                <a16:creationId xmlns:a16="http://schemas.microsoft.com/office/drawing/2014/main" id="{359F30A8-8ACC-47BB-8ED6-6ED251C7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6">
            <a:extLst xmlns:a="http://schemas.openxmlformats.org/drawingml/2006/main">
              <a:ext uri="{FF2B5EF4-FFF2-40B4-BE49-F238E27FC236}">
                <a16:creationId xmlns:a16="http://schemas.microsoft.com/office/drawing/2014/main" id="{8E60152F-C82F-4343-BBB1-A6E370A9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Approved Varnish purge control or Blue Nova</a:t>
            </a:r>
          </a:p>
        </p:txBody>
      </p:sp>
      <p:sp>
        <p:nvSpPr>
          <p:cNvPr id="29" name="guide-body-6">
            <a:extLst xmlns:a="http://schemas.openxmlformats.org/drawingml/2006/main">
              <a:ext uri="{FF2B5EF4-FFF2-40B4-BE49-F238E27FC236}">
                <a16:creationId xmlns:a16="http://schemas.microsoft.com/office/drawing/2014/main" id="{0D2DA052-993B-49D4-9B6C-78668744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A Varnish purge may be needed when the correct content remains stale after the page and Breeze cache are cleared.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Use only the approved purge control if you were specifically authorized.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Do not open server settings, restart services, or disable Varnish.</a:t>
            </a:r>
          </a:p>
        </p:txBody>
      </p:sp>
      <p:sp>
        <p:nvSpPr>
          <p:cNvPr id="30" name="guide-warning-6">
            <a:extLst xmlns:a="http://schemas.openxmlformats.org/drawingml/2006/main">
              <a:ext uri="{FF2B5EF4-FFF2-40B4-BE49-F238E27FC236}">
                <a16:creationId xmlns:a16="http://schemas.microsoft.com/office/drawing/2014/main" id="{A5D61F50-26CD-4F80-8D46-26402018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Never solve cache trouble with random settings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Cache safety v1.1  |  10/13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32c02102d47d8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cache-cue-box">
            <a:extLst xmlns:a="http://schemas.openxmlformats.org/drawingml/2006/main">
              <a:ext uri="{FF2B5EF4-FFF2-40B4-BE49-F238E27FC236}">
                <a16:creationId xmlns:a16="http://schemas.microsoft.com/office/drawing/2014/main" id="{63AE86B5-DAA9-4BC6-B2FB-5231AF0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cache-cue-instruction">
            <a:extLst xmlns:a="http://schemas.openxmlformats.org/drawingml/2006/main">
              <a:ext uri="{FF2B5EF4-FFF2-40B4-BE49-F238E27FC236}">
                <a16:creationId xmlns:a16="http://schemas.microsoft.com/office/drawing/2014/main" id="{CC0FB520-EB88-4FF0-929C-7722B70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209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Return to the practitioner list.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Hover over the same row.</a:t>
            </a:r>
          </a:p>
        </p:txBody>
      </p:sp>
      <p:sp>
        <p:nvSpPr>
          <p:cNvPr id="15" name="cache-cue-action">
            <a:extLst xmlns:a="http://schemas.openxmlformats.org/drawingml/2006/main">
              <a:ext uri="{FF2B5EF4-FFF2-40B4-BE49-F238E27FC236}">
                <a16:creationId xmlns:a16="http://schemas.microsoft.com/office/drawing/2014/main" id="{B6D5F10A-0932-45CB-82F5-1F7B55C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Clear Cache.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03DB1B71-F8EF-48E6-80F8-252EE437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33CBD6E-560F-41B6-8F1B-3991E358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efd226dac4903"/>
          <a:stretch xmlns:a="http://schemas.openxmlformats.org/drawingml/2006/main"/>
        </p:blipFill>
        <p:spPr>
          <a:xfrm xmlns:a="http://schemas.openxmlformats.org/drawingml/2006/main">
            <a:off x="552450" y="3647427"/>
            <a:ext cx="11944350" cy="2801646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C6F319E0-D59E-446B-B8B1-2C4383D2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86D0CC1C-6400-4A97-853A-15328015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7DA2E999-8A08-4300-869A-B3575F2A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Do not repeat saves.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Do not purge everything.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Do not change plugins or servers.</a:t>
            </a:r>
          </a:p>
        </p:txBody>
      </p:sp>
      <p:sp>
        <p:nvSpPr>
          <p:cNvPr id="25" name="guide-cover-7">
            <a:extLst xmlns:a="http://schemas.openxmlformats.org/drawingml/2006/main">
              <a:ext uri="{FF2B5EF4-FFF2-40B4-BE49-F238E27FC236}">
                <a16:creationId xmlns:a16="http://schemas.microsoft.com/office/drawing/2014/main" id="{0464360B-0B85-4DBB-8288-6F65D2A9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7">
            <a:extLst xmlns:a="http://schemas.openxmlformats.org/drawingml/2006/main">
              <a:ext uri="{FF2B5EF4-FFF2-40B4-BE49-F238E27FC236}">
                <a16:creationId xmlns:a16="http://schemas.microsoft.com/office/drawing/2014/main" id="{F8481243-D225-419C-80E9-9C159501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7">
            <a:extLst xmlns:a="http://schemas.openxmlformats.org/drawingml/2006/main">
              <a:ext uri="{FF2B5EF4-FFF2-40B4-BE49-F238E27FC236}">
                <a16:creationId xmlns:a16="http://schemas.microsoft.com/office/drawing/2014/main" id="{30A4562C-D9AA-43C3-8882-B57AA575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7">
            <a:extLst xmlns:a="http://schemas.openxmlformats.org/drawingml/2006/main">
              <a:ext uri="{FF2B5EF4-FFF2-40B4-BE49-F238E27FC236}">
                <a16:creationId xmlns:a16="http://schemas.microsoft.com/office/drawing/2014/main" id="{857F2D74-4F32-451F-AA2E-965F9EE9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STOP: unrelated cache and optimization controls</a:t>
            </a:r>
          </a:p>
        </p:txBody>
      </p:sp>
      <p:sp>
        <p:nvSpPr>
          <p:cNvPr id="29" name="guide-body-7">
            <a:extLst xmlns:a="http://schemas.openxmlformats.org/drawingml/2006/main">
              <a:ext uri="{FF2B5EF4-FFF2-40B4-BE49-F238E27FC236}">
                <a16:creationId xmlns:a16="http://schemas.microsoft.com/office/drawing/2014/main" id="{58213B11-DA7C-486C-83B1-33BB7B0B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Do not repeatedly click Update or Publish.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Do not clear object cache, Redis, CDN, database, image, or plugin caches unless Blue Nova directs you.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Do not install, disable, or configure optimization plugins.</a:t>
            </a:r>
          </a:p>
        </p:txBody>
      </p:sp>
      <p:sp>
        <p:nvSpPr>
          <p:cNvPr id="30" name="guide-warning-7">
            <a:extLst xmlns:a="http://schemas.openxmlformats.org/drawingml/2006/main">
              <a:ext uri="{FF2B5EF4-FFF2-40B4-BE49-F238E27FC236}">
                <a16:creationId xmlns:a16="http://schemas.microsoft.com/office/drawing/2014/main" id="{213D35E9-B398-4ECC-BD0E-5D56D5C7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Verify the visible public result on desktop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Cache safety v1.1  |  11/13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0b3b9050448f7"/>
          <a:stretch xmlns:a="http://schemas.openxmlformats.org/drawingml/2006/main"/>
        </p:blipFill>
        <p:spPr>
          <a:xfrm xmlns:a="http://schemas.openxmlformats.org/drawingml/2006/main">
            <a:off x="1381735" y="1398630"/>
            <a:ext cx="15524531" cy="801361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580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123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350" y="3247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4-box">
            <a:extLst xmlns:a="http://schemas.openxmlformats.org/drawingml/2006/main">
              <a:ext uri="{FF2B5EF4-FFF2-40B4-BE49-F238E27FC236}">
                <a16:creationId xmlns:a16="http://schemas.microsoft.com/office/drawing/2014/main" id="{6DC89904-0505-4186-A6F9-DE14575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572500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14" name="written-steps-s14-heading">
            <a:extLst xmlns:a="http://schemas.openxmlformats.org/drawingml/2006/main">
              <a:ext uri="{FF2B5EF4-FFF2-40B4-BE49-F238E27FC236}">
                <a16:creationId xmlns:a16="http://schemas.microsoft.com/office/drawing/2014/main" id="{E56D5C24-D474-49BD-8D23-ABC67D4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6487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4C3C"/>
                </a:solidFill>
              </a:defRPr>
            </a:pPr>
            <a:r>
              <a:rPr sz="1125" b="1">
                <a:solidFill>
                  <a:srgbClr val="174C3C"/>
                </a:solidFill>
              </a:rPr>
              <a:t>WRITTEN CHECK</a:t>
            </a:r>
          </a:p>
        </p:txBody>
      </p:sp>
      <p:sp>
        <p:nvSpPr>
          <p:cNvPr id="15" name="written-steps-s14-body">
            <a:extLst xmlns:a="http://schemas.openxmlformats.org/drawingml/2006/main">
              <a:ext uri="{FF2B5EF4-FFF2-40B4-BE49-F238E27FC236}">
                <a16:creationId xmlns:a16="http://schemas.microsoft.com/office/drawing/2014/main" id="{8D41BF83-9913-4A25-8265-FF672CF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88963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1. Search the name.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2. Confirm the public details.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3. Check the links.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685ADFEC-1406-4119-9691-4EAA8AEF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54EA2403-617E-4E45-8B9E-8F3CAE3A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ded9d5d234882"/>
          <a:stretch xmlns:a="http://schemas.openxmlformats.org/drawingml/2006/main"/>
        </p:blipFill>
        <p:spPr>
          <a:xfrm xmlns:a="http://schemas.openxmlformats.org/drawingml/2006/main">
            <a:off x="607906" y="1314450"/>
            <a:ext cx="11833437" cy="7467600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4BC032DF-E857-4FCD-8E03-6D1D9492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7C8D4D63-68C3-448B-826C-667E0EF4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4128F2A5-EFEC-45FE-9C77-58AB5F76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Check the visible change.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Test affected links.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Confirm the layout remains correct.</a:t>
            </a:r>
          </a:p>
        </p:txBody>
      </p:sp>
      <p:sp>
        <p:nvSpPr>
          <p:cNvPr id="25" name="guide-cover-8">
            <a:extLst xmlns:a="http://schemas.openxmlformats.org/drawingml/2006/main">
              <a:ext uri="{FF2B5EF4-FFF2-40B4-BE49-F238E27FC236}">
                <a16:creationId xmlns:a16="http://schemas.microsoft.com/office/drawing/2014/main" id="{C057AAD5-046F-43FB-AB03-34AD70B9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8">
            <a:extLst xmlns:a="http://schemas.openxmlformats.org/drawingml/2006/main">
              <a:ext uri="{FF2B5EF4-FFF2-40B4-BE49-F238E27FC236}">
                <a16:creationId xmlns:a16="http://schemas.microsoft.com/office/drawing/2014/main" id="{BBCDF3F0-90D1-424B-AA15-7AC5EC12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8">
            <a:extLst xmlns:a="http://schemas.openxmlformats.org/drawingml/2006/main">
              <a:ext uri="{FF2B5EF4-FFF2-40B4-BE49-F238E27FC236}">
                <a16:creationId xmlns:a16="http://schemas.microsoft.com/office/drawing/2014/main" id="{BB888070-A72A-44A5-8DB1-CA722921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8">
            <a:extLst xmlns:a="http://schemas.openxmlformats.org/drawingml/2006/main">
              <a:ext uri="{FF2B5EF4-FFF2-40B4-BE49-F238E27FC236}">
                <a16:creationId xmlns:a16="http://schemas.microsoft.com/office/drawing/2014/main" id="{2964CF41-27A4-4D66-A933-C70E4138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Exact public URL &gt; desktop check</a:t>
            </a:r>
          </a:p>
        </p:txBody>
      </p:sp>
      <p:sp>
        <p:nvSpPr>
          <p:cNvPr id="29" name="guide-body-8">
            <a:extLst xmlns:a="http://schemas.openxmlformats.org/drawingml/2006/main">
              <a:ext uri="{FF2B5EF4-FFF2-40B4-BE49-F238E27FC236}">
                <a16:creationId xmlns:a16="http://schemas.microsoft.com/office/drawing/2014/main" id="{E467A93A-5097-43A4-964A-AAB47F7C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Read the exact changed text, image, date, link, or listing.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Click every public link affected by the change.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Confirm the page fits the screen and does not run off the side.</a:t>
            </a:r>
          </a:p>
        </p:txBody>
      </p:sp>
      <p:sp>
        <p:nvSpPr>
          <p:cNvPr id="30" name="guide-warning-8">
            <a:extLst xmlns:a="http://schemas.openxmlformats.org/drawingml/2006/main">
              <a:ext uri="{FF2B5EF4-FFF2-40B4-BE49-F238E27FC236}">
                <a16:creationId xmlns:a16="http://schemas.microsoft.com/office/drawing/2014/main" id="{2E81EF7A-B8F5-4D00-9DDB-E25B8239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Repeat the check on a phone and know when to stop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Cache safety v1.1  |  12/13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bf3a40ad7447f"/>
          <a:stretch xmlns:a="http://schemas.openxmlformats.org/drawingml/2006/main"/>
        </p:blipFill>
        <p:spPr>
          <a:xfrm xmlns:a="http://schemas.openxmlformats.org/drawingml/2006/main">
            <a:off x="1381735" y="990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990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836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5-box">
            <a:extLst xmlns:a="http://schemas.openxmlformats.org/drawingml/2006/main">
              <a:ext uri="{FF2B5EF4-FFF2-40B4-BE49-F238E27FC236}">
                <a16:creationId xmlns:a16="http://schemas.microsoft.com/office/drawing/2014/main" id="{95F7E925-0EF7-4F1A-9828-BF8ECBF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6191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5-heading">
            <a:extLst xmlns:a="http://schemas.openxmlformats.org/drawingml/2006/main">
              <a:ext uri="{FF2B5EF4-FFF2-40B4-BE49-F238E27FC236}">
                <a16:creationId xmlns:a16="http://schemas.microsoft.com/office/drawing/2014/main" id="{14D4D90E-89F6-47C7-9D04-00F1043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43200"/>
            <a:ext cx="577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5-body">
            <a:extLst xmlns:a="http://schemas.openxmlformats.org/drawingml/2006/main">
              <a:ext uri="{FF2B5EF4-FFF2-40B4-BE49-F238E27FC236}">
                <a16:creationId xmlns:a16="http://schemas.microsoft.com/office/drawing/2014/main" id="{CC6F111D-F8F6-4BF7-B6D2-F9566B6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00400"/>
            <a:ext cx="57340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1. Click View full listing.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2. Check the full details and links.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3. Repeat the check on a phone.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369E89C9-3A59-4222-A997-6174901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BFCDEE92-C609-4F75-ADE1-A9AB60AC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f330d59b748e8"/>
          <a:stretch xmlns:a="http://schemas.openxmlformats.org/drawingml/2006/main"/>
        </p:blipFill>
        <p:spPr>
          <a:xfrm xmlns:a="http://schemas.openxmlformats.org/drawingml/2006/main">
            <a:off x="4865787" y="1314450"/>
            <a:ext cx="3317675" cy="7467600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22E99F6B-EA7E-4805-9028-F006086E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9B904E64-2079-40F9-849E-796F8F41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980D85CD-E8AA-4F48-989D-52F3AA31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Repeat at phone size.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Test buttons and links.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Escalate if still stale.</a:t>
            </a:r>
          </a:p>
        </p:txBody>
      </p:sp>
      <p:sp>
        <p:nvSpPr>
          <p:cNvPr id="25" name="guide-cover-9">
            <a:extLst xmlns:a="http://schemas.openxmlformats.org/drawingml/2006/main">
              <a:ext uri="{FF2B5EF4-FFF2-40B4-BE49-F238E27FC236}">
                <a16:creationId xmlns:a16="http://schemas.microsoft.com/office/drawing/2014/main" id="{443B1BF0-F444-4C6D-A0C5-F10EE00F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9">
            <a:extLst xmlns:a="http://schemas.openxmlformats.org/drawingml/2006/main">
              <a:ext uri="{FF2B5EF4-FFF2-40B4-BE49-F238E27FC236}">
                <a16:creationId xmlns:a16="http://schemas.microsoft.com/office/drawing/2014/main" id="{E6A7955A-C629-46F2-977B-F34DDBDC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9">
            <a:extLst xmlns:a="http://schemas.openxmlformats.org/drawingml/2006/main">
              <a:ext uri="{FF2B5EF4-FFF2-40B4-BE49-F238E27FC236}">
                <a16:creationId xmlns:a16="http://schemas.microsoft.com/office/drawing/2014/main" id="{66B4FC3B-25D5-4C81-A606-EF2AB96E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9">
            <a:extLst xmlns:a="http://schemas.openxmlformats.org/drawingml/2006/main">
              <a:ext uri="{FF2B5EF4-FFF2-40B4-BE49-F238E27FC236}">
                <a16:creationId xmlns:a16="http://schemas.microsoft.com/office/drawing/2014/main" id="{3DDDB11D-3970-4987-B698-C5168DFD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Exact public URL &gt; phone-size check</a:t>
            </a:r>
          </a:p>
        </p:txBody>
      </p:sp>
      <p:sp>
        <p:nvSpPr>
          <p:cNvPr id="29" name="guide-body-9">
            <a:extLst xmlns:a="http://schemas.openxmlformats.org/drawingml/2006/main">
              <a:ext uri="{FF2B5EF4-FFF2-40B4-BE49-F238E27FC236}">
                <a16:creationId xmlns:a16="http://schemas.microsoft.com/office/drawing/2014/main" id="{27942810-77E0-40B6-873C-1DC6951D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Check the same visible result at phone size.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Confirm text, images, buttons, and links remain readable and usable.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If the saved result is still missing, stop and contact Blue Nova instead of purging again.</a:t>
            </a:r>
          </a:p>
        </p:txBody>
      </p:sp>
      <p:sp>
        <p:nvSpPr>
          <p:cNvPr id="30" name="guide-warning-9">
            <a:extLst xmlns:a="http://schemas.openxmlformats.org/drawingml/2006/main">
              <a:ext uri="{FF2B5EF4-FFF2-40B4-BE49-F238E27FC236}">
                <a16:creationId xmlns:a16="http://schemas.microsoft.com/office/drawing/2014/main" id="{869195E8-9660-4F02-85E9-D18E111D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Always finish with the same three checks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Cache safety v1.1  |  13/13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SAVE  &gt;  CLEAR APPLICABLE CACHE  &gt;  VERIFY LIVE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Open the exact public URL with no extra address text, then check desktop and phone.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43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the visible result is still wrong or missing, stop and contact Blue Nova.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2026-09-01T16:43:54.5890000Z</dcterms:created>
  <dcterms:modified xsi:type="dcterms:W3CDTF">2026-09-01T16:43:54.5890000Z</dcterms:modified>
</coreProperties>
</file>