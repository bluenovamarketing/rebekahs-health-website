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421696cc024f72" /><Relationship Type="http://schemas.openxmlformats.org/officeDocument/2006/relationships/extended-properties" Target="/docProps/app.xml" Id="Rb6aad0af2fd94f12" /><Relationship Type="http://schemas.openxmlformats.org/officeDocument/2006/relationships/officeDocument" Target="/ppt/presentation.xml" Id="R0c6863760ded45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9c7cd16dfc4569"/>
  </p:sldMasterIdLst>
  <p:notesMasterIdLst>
    <p:notesMasterId xmlns:r="http://schemas.openxmlformats.org/officeDocument/2006/relationships" r:id="Raff7fd763c6a4f89"/>
  </p:notesMasterIdLst>
  <p:sldIdLst>
    <p:sldId xmlns:r="http://schemas.openxmlformats.org/officeDocument/2006/relationships" id="256" r:id="R53a9e2d266a640f2"/>
    <p:sldId xmlns:r="http://schemas.openxmlformats.org/officeDocument/2006/relationships" id="257" r:id="R3989a24c2e144a7e"/>
    <p:sldId xmlns:r="http://schemas.openxmlformats.org/officeDocument/2006/relationships" id="258" r:id="R506f176861584d9f"/>
    <p:sldId xmlns:r="http://schemas.openxmlformats.org/officeDocument/2006/relationships" id="259" r:id="Rd4fb0c8018a34ff2"/>
    <p:sldId xmlns:r="http://schemas.openxmlformats.org/officeDocument/2006/relationships" id="260" r:id="R5a66775010cf4a4f"/>
    <p:sldId xmlns:r="http://schemas.openxmlformats.org/officeDocument/2006/relationships" id="261" r:id="R45a9e9aa9ccd4a8d"/>
    <p:sldId xmlns:r="http://schemas.openxmlformats.org/officeDocument/2006/relationships" id="262" r:id="R1bb3109444074257"/>
    <p:sldId xmlns:r="http://schemas.openxmlformats.org/officeDocument/2006/relationships" id="263" r:id="R87d55287aa9843e7"/>
    <p:sldId xmlns:r="http://schemas.openxmlformats.org/officeDocument/2006/relationships" id="264" r:id="R3125e24b4a744877"/>
    <p:sldId xmlns:r="http://schemas.openxmlformats.org/officeDocument/2006/relationships" id="265" r:id="R3e9705d8b8b041ca"/>
    <p:sldId xmlns:r="http://schemas.openxmlformats.org/officeDocument/2006/relationships" id="266" r:id="R370d36b2b67a4115"/>
    <p:sldId xmlns:r="http://schemas.openxmlformats.org/officeDocument/2006/relationships" id="267" r:id="R0c6bb262ba54493b"/>
    <p:sldId xmlns:r="http://schemas.openxmlformats.org/officeDocument/2006/relationships" id="268" r:id="R042bb6cabc1a4ca0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7f55264e6e48be" /><Relationship Type="http://schemas.openxmlformats.org/officeDocument/2006/relationships/slideMaster" Target="/ppt/slideMasters/slideMaster1.xml" Id="R839c7cd16dfc4569" /><Relationship Type="http://schemas.openxmlformats.org/officeDocument/2006/relationships/notesMaster" Target="/ppt/notesMasters/notesMaster1.xml" Id="Raff7fd763c6a4f89" /><Relationship Type="http://schemas.openxmlformats.org/officeDocument/2006/relationships/presProps" Target="/ppt/presProps.xml" Id="Rf5ec75505f1544e0" /><Relationship Type="http://schemas.openxmlformats.org/officeDocument/2006/relationships/tableStyles" Target="/ppt/tableStyles.xml" Id="R4af3afd8d15a4ac4" /><Relationship Type="http://schemas.openxmlformats.org/officeDocument/2006/relationships/slide" Target="/ppt/slides/slide1.xml" Id="R53a9e2d266a640f2" /><Relationship Type="http://schemas.openxmlformats.org/officeDocument/2006/relationships/slide" Target="/ppt/slides/slide2.xml" Id="R3989a24c2e144a7e" /><Relationship Type="http://schemas.openxmlformats.org/officeDocument/2006/relationships/slide" Target="/ppt/slides/slide3.xml" Id="R506f176861584d9f" /><Relationship Type="http://schemas.openxmlformats.org/officeDocument/2006/relationships/slide" Target="/ppt/slides/slide4.xml" Id="Rd4fb0c8018a34ff2" /><Relationship Type="http://schemas.openxmlformats.org/officeDocument/2006/relationships/slide" Target="/ppt/slides/slide5.xml" Id="R5a66775010cf4a4f" /><Relationship Type="http://schemas.openxmlformats.org/officeDocument/2006/relationships/slide" Target="/ppt/slides/slide6.xml" Id="R45a9e9aa9ccd4a8d" /><Relationship Type="http://schemas.openxmlformats.org/officeDocument/2006/relationships/slide" Target="/ppt/slides/slide7.xml" Id="R1bb3109444074257" /><Relationship Type="http://schemas.openxmlformats.org/officeDocument/2006/relationships/slide" Target="/ppt/slides/slide8.xml" Id="R87d55287aa9843e7" /><Relationship Type="http://schemas.openxmlformats.org/officeDocument/2006/relationships/slide" Target="/ppt/slides/slide9.xml" Id="R3125e24b4a744877" /><Relationship Type="http://schemas.openxmlformats.org/officeDocument/2006/relationships/slide" Target="/ppt/slides/slide10.xml" Id="R3e9705d8b8b041ca" /><Relationship Type="http://schemas.openxmlformats.org/officeDocument/2006/relationships/slide" Target="/ppt/slides/slide11.xml" Id="R370d36b2b67a4115" /><Relationship Type="http://schemas.openxmlformats.org/officeDocument/2006/relationships/slide" Target="/ppt/slides/slide12.xml" Id="R0c6bb262ba54493b" /><Relationship Type="http://schemas.openxmlformats.org/officeDocument/2006/relationships/slide" Target="/ppt/slides/slide13.xml" Id="R042bb6cabc1a4c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6b496f41be4b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cbebef62a5416a" /><Relationship Type="http://schemas.openxmlformats.org/officeDocument/2006/relationships/notesMaster" Target="/ppt/notesMasters/notesMaster1.xml" Id="R26d68da10cd94a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4752916c9d4bd7" /><Relationship Type="http://schemas.openxmlformats.org/officeDocument/2006/relationships/notesMaster" Target="/ppt/notesMasters/notesMaster1.xml" Id="Rdffe894b840e4f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27a79151b1406c" /><Relationship Type="http://schemas.openxmlformats.org/officeDocument/2006/relationships/notesMaster" Target="/ppt/notesMasters/notesMaster1.xml" Id="Rf5c091f6e4e343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6ba8342bf744a3" /><Relationship Type="http://schemas.openxmlformats.org/officeDocument/2006/relationships/notesMaster" Target="/ppt/notesMasters/notesMaster1.xml" Id="Rb2f5483c811045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6d423b3e6c4938" /><Relationship Type="http://schemas.openxmlformats.org/officeDocument/2006/relationships/notesMaster" Target="/ppt/notesMasters/notesMaster1.xml" Id="R3e02c980391a42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7a0d9a8f264a7e" /><Relationship Type="http://schemas.openxmlformats.org/officeDocument/2006/relationships/notesMaster" Target="/ppt/notesMasters/notesMaster1.xml" Id="R40d76b0da2e54b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f4cf48c4064e2e" /><Relationship Type="http://schemas.openxmlformats.org/officeDocument/2006/relationships/notesMaster" Target="/ppt/notesMasters/notesMaster1.xml" Id="Rb320af0b66e143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b14fe8455d43df" /><Relationship Type="http://schemas.openxmlformats.org/officeDocument/2006/relationships/notesMaster" Target="/ppt/notesMasters/notesMaster1.xml" Id="R9e0567b29ba449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d7a0db6c844b28" /><Relationship Type="http://schemas.openxmlformats.org/officeDocument/2006/relationships/notesMaster" Target="/ppt/notesMasters/notesMaster1.xml" Id="Re32c19eb89c048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fa96111e6042c0" /><Relationship Type="http://schemas.openxmlformats.org/officeDocument/2006/relationships/notesMaster" Target="/ppt/notesMasters/notesMaster1.xml" Id="Ra7827789920f4d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0c09bbbb6f46af" /><Relationship Type="http://schemas.openxmlformats.org/officeDocument/2006/relationships/notesMaster" Target="/ppt/notesMasters/notesMaster1.xml" Id="Re7c1673181af45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37dc91bb634eee" /><Relationship Type="http://schemas.openxmlformats.org/officeDocument/2006/relationships/notesMaster" Target="/ppt/notesMasters/notesMaster1.xml" Id="R3815df3008df428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5da6cc49204c5d" /><Relationship Type="http://schemas.openxmlformats.org/officeDocument/2006/relationships/notesMaster" Target="/ppt/notesMasters/notesMaster1.xml" Id="R4189fedfa68041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Established WordPress user-role and cache workflow used by this project.</a:t>
            </a:r>
          </a:p>
          <a:p xmlns:a="http://schemas.openxmlformats.org/drawingml/2006/main">
            <a:r>
              <a:t>- No live WordPress login or website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Established WordPress user-role and cache workflow used by this project.</a:t>
            </a:r>
          </a:p>
          <a:p xmlns:a="http://schemas.openxmlformats.org/drawingml/2006/main">
            <a:r>
              <a:t>- No live WordPress login or website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Established WordPress user-role and cache workflow used by this project.</a:t>
            </a:r>
          </a:p>
          <a:p xmlns:a="http://schemas.openxmlformats.org/drawingml/2006/main">
            <a:r>
              <a:t>- No live WordPress login or website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Established WordPress user-role and cache workflow used by this project.</a:t>
            </a:r>
          </a:p>
          <a:p xmlns:a="http://schemas.openxmlformats.org/drawingml/2006/main">
            <a:r>
              <a:t>- No live WordPress login or website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Established WordPress user-role and cache workflow used by this project.</a:t>
            </a:r>
          </a:p>
          <a:p xmlns:a="http://schemas.openxmlformats.org/drawingml/2006/main">
            <a:r>
              <a:t>- No live WordPress login or website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Established WordPress user-role and cache workflow used by this project.</a:t>
            </a:r>
          </a:p>
          <a:p xmlns:a="http://schemas.openxmlformats.org/drawingml/2006/main">
            <a:r>
              <a:t>- No live WordPress login or website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Established WordPress user-role and cache workflow used by this project.</a:t>
            </a:r>
          </a:p>
          <a:p xmlns:a="http://schemas.openxmlformats.org/drawingml/2006/main">
            <a:r>
              <a:t>- No live WordPress login or website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Established WordPress user-role and cache workflow used by this project.</a:t>
            </a:r>
          </a:p>
          <a:p xmlns:a="http://schemas.openxmlformats.org/drawingml/2006/main">
            <a:r>
              <a:t>- No live WordPress login or website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Established WordPress user-role and cache workflow used by this project.</a:t>
            </a:r>
          </a:p>
          <a:p xmlns:a="http://schemas.openxmlformats.org/drawingml/2006/main">
            <a:r>
              <a:t>- No live WordPress login or website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Established WordPress user-role and cache workflow used by this project.</a:t>
            </a:r>
          </a:p>
          <a:p xmlns:a="http://schemas.openxmlformats.org/drawingml/2006/main">
            <a:r>
              <a:t>- No live WordPress login or website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Established WordPress user-role and cache workflow used by this project.</a:t>
            </a:r>
          </a:p>
          <a:p xmlns:a="http://schemas.openxmlformats.org/drawingml/2006/main">
            <a:r>
              <a:t>- No live WordPress login or website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Established WordPress user-role and cache workflow used by this project.</a:t>
            </a:r>
          </a:p>
          <a:p xmlns:a="http://schemas.openxmlformats.org/drawingml/2006/main">
            <a:r>
              <a:t>- No live WordPress login or website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Established WordPress user-role and cache workflow used by this project.</a:t>
            </a:r>
          </a:p>
          <a:p xmlns:a="http://schemas.openxmlformats.org/drawingml/2006/main">
            <a:r>
              <a:t>- No live WordPress login or website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5fbddfb1f249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c5471bd6d84fb6" /><Relationship Type="http://schemas.openxmlformats.org/officeDocument/2006/relationships/slideLayout" Target="/ppt/slideLayouts/slideLayout1.xml" Id="Re0815b23c5f24d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815b23c5f24d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eb924b9bf4858" /><Relationship Type="http://schemas.openxmlformats.org/officeDocument/2006/relationships/image" Target="/ppt/media/image.png" Id="Rcab2eef6aa3a49fc" /><Relationship Type="http://schemas.openxmlformats.org/officeDocument/2006/relationships/notesSlide" Target="/ppt/notesSlides/notesSlide1.xml" Id="R182607be906f43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37e1333604a8a" /><Relationship Type="http://schemas.openxmlformats.org/officeDocument/2006/relationships/notesSlide" Target="/ppt/notesSlides/notesSlide2.xml" Id="R654e05b6c1d440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e1d6f93cf41ce" /><Relationship Type="http://schemas.openxmlformats.org/officeDocument/2006/relationships/notesSlide" Target="/ppt/notesSlides/notesSlide3.xml" Id="R5d09d71efc624a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412a91b844798" /><Relationship Type="http://schemas.openxmlformats.org/officeDocument/2006/relationships/image" Target="/ppt/media/image.jpeg" Id="R393dd3287c1948f4" /><Relationship Type="http://schemas.openxmlformats.org/officeDocument/2006/relationships/image" Target="/ppt/media/image2.jpeg" Id="R3185c124b6ce412d" /><Relationship Type="http://schemas.openxmlformats.org/officeDocument/2006/relationships/notesSlide" Target="/ppt/notesSlides/notesSlide4.xml" Id="R47fa11c1ccf642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6c38fa2474ef0" /><Relationship Type="http://schemas.openxmlformats.org/officeDocument/2006/relationships/image" Target="/ppt/media/image3.jpeg" Id="Reacc9ec42871477d" /><Relationship Type="http://schemas.openxmlformats.org/officeDocument/2006/relationships/image" Target="/ppt/media/image4.jpeg" Id="R2fdbd357eb114363" /><Relationship Type="http://schemas.openxmlformats.org/officeDocument/2006/relationships/notesSlide" Target="/ppt/notesSlides/notesSlide5.xml" Id="Rbb6a3eb2a0f74e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06efda9284823" /><Relationship Type="http://schemas.openxmlformats.org/officeDocument/2006/relationships/image" Target="/ppt/media/image5.jpeg" Id="R16d21e6e4dc84f38" /><Relationship Type="http://schemas.openxmlformats.org/officeDocument/2006/relationships/image" Target="/ppt/media/image6.jpeg" Id="R20f6912e7895403d" /><Relationship Type="http://schemas.openxmlformats.org/officeDocument/2006/relationships/notesSlide" Target="/ppt/notesSlides/notesSlide6.xml" Id="Rb665e6a232fa49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647da6bc84b6a" /><Relationship Type="http://schemas.openxmlformats.org/officeDocument/2006/relationships/image" Target="/ppt/media/image7.jpeg" Id="R10f5cc33b99d4d3e" /><Relationship Type="http://schemas.openxmlformats.org/officeDocument/2006/relationships/image" Target="/ppt/media/image8.jpeg" Id="R5cf8d75ed9db4f22" /><Relationship Type="http://schemas.openxmlformats.org/officeDocument/2006/relationships/notesSlide" Target="/ppt/notesSlides/notesSlide7.xml" Id="R72396e3c00844c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ffc96dd994a22" /><Relationship Type="http://schemas.openxmlformats.org/officeDocument/2006/relationships/image" Target="/ppt/media/image9.jpeg" Id="R2507d8a03af141d8" /><Relationship Type="http://schemas.openxmlformats.org/officeDocument/2006/relationships/image" Target="/ppt/media/image10.jpeg" Id="Rde5c1b772c5f4d91" /><Relationship Type="http://schemas.openxmlformats.org/officeDocument/2006/relationships/notesSlide" Target="/ppt/notesSlides/notesSlide8.xml" Id="Rb3e48720cb5f49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710a9c5954a1e" /><Relationship Type="http://schemas.openxmlformats.org/officeDocument/2006/relationships/image" Target="/ppt/media/image11.jpeg" Id="Rc85e3ceb2a334fe2" /><Relationship Type="http://schemas.openxmlformats.org/officeDocument/2006/relationships/image" Target="/ppt/media/image12.jpeg" Id="R7fe98608984f42c9" /><Relationship Type="http://schemas.openxmlformats.org/officeDocument/2006/relationships/notesSlide" Target="/ppt/notesSlides/notesSlide9.xml" Id="R3ddfcf0cf80b4d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b596b20054ce7" /><Relationship Type="http://schemas.openxmlformats.org/officeDocument/2006/relationships/image" Target="/ppt/media/image13.jpeg" Id="R3ab06b7288b44d08" /><Relationship Type="http://schemas.openxmlformats.org/officeDocument/2006/relationships/image" Target="/ppt/media/image14.jpeg" Id="R86ff1c5a8e54400b" /><Relationship Type="http://schemas.openxmlformats.org/officeDocument/2006/relationships/notesSlide" Target="/ppt/notesSlides/notesSlide10.xml" Id="R895507d1874347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34998703541a4" /><Relationship Type="http://schemas.openxmlformats.org/officeDocument/2006/relationships/image" Target="/ppt/media/image15.jpeg" Id="R56f3de01da2c45e2" /><Relationship Type="http://schemas.openxmlformats.org/officeDocument/2006/relationships/image" Target="/ppt/media/image16.jpeg" Id="Ra73e28d3cee14020" /><Relationship Type="http://schemas.openxmlformats.org/officeDocument/2006/relationships/notesSlide" Target="/ppt/notesSlides/notesSlide11.xml" Id="R817f628f39d541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09ca434e84c91" /><Relationship Type="http://schemas.openxmlformats.org/officeDocument/2006/relationships/image" Target="/ppt/media/image17.jpeg" Id="Rebb00be0cc964245" /><Relationship Type="http://schemas.openxmlformats.org/officeDocument/2006/relationships/image" Target="/ppt/media/image18.jpeg" Id="Re5ce210b07b245db" /><Relationship Type="http://schemas.openxmlformats.org/officeDocument/2006/relationships/notesSlide" Target="/ppt/notesSlides/notesSlide12.xml" Id="Ra115652f28b549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dfe3d161f4672" /><Relationship Type="http://schemas.openxmlformats.org/officeDocument/2006/relationships/notesSlide" Target="/ppt/notesSlides/notesSlide13.xml" Id="Rcb210484219645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er-band">
            <a:extLst xmlns:a="http://schemas.openxmlformats.org/drawingml/2006/main">
              <a:ext uri="{FF2B5EF4-FFF2-40B4-BE49-F238E27FC236}">
                <a16:creationId xmlns:a16="http://schemas.microsoft.com/office/drawing/2014/main" id="{6BABED52-1D76-4E02-B163-D57F8FB9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013CFB2-C687-4590-B3A8-D1B8DA4B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Manage a staff WordPress user safely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12E3B8FC-D92C-4A0B-99D8-38345304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3EB80B92-E07A-4756-9C00-CE0EB157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6342E"/>
                </a:solidFill>
              </a:defRPr>
            </a:pPr>
            <a:r>
              <a:rPr sz="1500" b="1">
                <a:solidFill>
                  <a:srgbClr val="26342E"/>
                </a:solidFill>
              </a:rPr>
              <a:t>START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184619A-C0FA-4E3E-B352-B352FEB3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Staff access v1.1  |  1/13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b2eef6aa3a49fc"/>
          <a:stretch xmlns:a="http://schemas.openxmlformats.org/drawingml/2006/main"/>
        </p:blipFill>
        <p:spPr>
          <a:xfrm xmlns:a="http://schemas.openxmlformats.org/drawingml/2006/main">
            <a:off x="1476375" y="3078769"/>
            <a:ext cx="6191250" cy="1843462"/>
          </a:xfrm>
          <a:prstGeom xmlns:a="http://schemas.openxmlformats.org/drawingml/2006/main" prst="rect">
            <a:avLst/>
          </a:prstGeom>
        </p:spPr>
      </p:pic>
      <p:sp>
        <p:nvSpPr>
          <p:cNvPr id="7" name="start-copy">
            <a:extLst xmlns:a="http://schemas.openxmlformats.org/drawingml/2006/main">
              <a:ext uri="{FF2B5EF4-FFF2-40B4-BE49-F238E27FC236}">
                <a16:creationId xmlns:a16="http://schemas.microsoft.com/office/drawing/2014/main" id="{FD0B0792-5661-4247-8D82-0A0B7C3B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7334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>
                <a:solidFill>
                  <a:srgbClr val="26342E"/>
                </a:solidFill>
              </a:defRPr>
            </a:pPr>
            <a:r>
              <a:rPr sz="3150">
                <a:solidFill>
                  <a:srgbClr val="26342E"/>
                </a:solidFill>
              </a:rPr>
              <a:t>Give each staff member their own login, assign the minimum safe role, and remove access without losing website content.</a:t>
            </a:r>
          </a:p>
        </p:txBody>
      </p:sp>
      <p:sp>
        <p:nvSpPr>
          <p:cNvPr id="8" name="start-note">
            <a:extLst xmlns:a="http://schemas.openxmlformats.org/drawingml/2006/main">
              <a:ext uri="{FF2B5EF4-FFF2-40B4-BE49-F238E27FC236}">
                <a16:creationId xmlns:a16="http://schemas.microsoft.com/office/drawing/2014/main" id="{19647DDE-5E81-4CD6-B0A6-D4BB56BB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71500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8E4B61"/>
                </a:solidFill>
              </a:defRPr>
            </a:pPr>
            <a:r>
              <a:rPr sz="1875" b="1">
                <a:solidFill>
                  <a:srgbClr val="8E4B61"/>
                </a:solidFill>
              </a:rPr>
              <a:t>Beginner lesson  |  Administrator only  |  No shared logins</a:t>
            </a:r>
          </a:p>
        </p:txBody>
      </p:sp>
    </p:spTree>
    <p:extLst>
      <p:ext uri="{BB962C8B-B14F-4D97-AF65-F5344CB8AC3E}">
        <p14:creationId xmlns:p14="http://schemas.microsoft.com/office/powerpoint/2010/main" val="1072115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AAAC990-8D1E-4DAB-997A-EDFDEDF0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110642C-D403-4382-B182-DA2B80CE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Required WordPress access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DFD6EF21-F493-4E3D-BCA0-F34B881E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EE5A1D67-2C2D-449B-837A-5758D3F2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07D1B88-CE90-4A2F-8E7F-E71C9070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Staff access v1.1  |  2/13</a:t>
            </a:r>
          </a:p>
        </p:txBody>
      </p:sp>
      <p:sp>
        <p:nvSpPr>
          <p:cNvPr id="6" name="role-label">
            <a:extLst xmlns:a="http://schemas.openxmlformats.org/drawingml/2006/main">
              <a:ext uri="{FF2B5EF4-FFF2-40B4-BE49-F238E27FC236}">
                <a16:creationId xmlns:a16="http://schemas.microsoft.com/office/drawing/2014/main" id="{21CEF488-6E4F-44E8-8F05-6AA6704D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28875"/>
            <a:ext cx="1333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F7D50"/>
                </a:solidFill>
              </a:defRPr>
            </a:pPr>
            <a:r>
              <a:rPr sz="2100" b="1">
                <a:solidFill>
                  <a:srgbClr val="3F7D50"/>
                </a:solidFill>
              </a:rPr>
              <a:t>WORDPRESS ROLE REQUIRED</a:t>
            </a:r>
          </a:p>
        </p:txBody>
      </p:sp>
      <p:sp>
        <p:nvSpPr>
          <p:cNvPr id="7" name="role-value">
            <a:extLst xmlns:a="http://schemas.openxmlformats.org/drawingml/2006/main">
              <a:ext uri="{FF2B5EF4-FFF2-40B4-BE49-F238E27FC236}">
                <a16:creationId xmlns:a16="http://schemas.microsoft.com/office/drawing/2014/main" id="{46264B56-1318-4C06-BC7F-797EDD1C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1524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174C3C"/>
                </a:solidFill>
              </a:defRPr>
            </a:pPr>
            <a:r>
              <a:rPr sz="4950" b="1">
                <a:solidFill>
                  <a:srgbClr val="174C3C"/>
                </a:solidFill>
              </a:rPr>
              <a:t>Administrator</a:t>
            </a:r>
          </a:p>
        </p:txBody>
      </p:sp>
      <p:sp>
        <p:nvSpPr>
          <p:cNvPr id="8" name="enough-box">
            <a:extLst xmlns:a="http://schemas.openxmlformats.org/drawingml/2006/main">
              <a:ext uri="{FF2B5EF4-FFF2-40B4-BE49-F238E27FC236}">
                <a16:creationId xmlns:a16="http://schemas.microsoft.com/office/drawing/2014/main" id="{ADA83475-428E-40B9-B5D2-8A74D03A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05375"/>
            <a:ext cx="83820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sp>
        <p:nvSpPr>
          <p:cNvPr id="9" name="enough">
            <a:extLst xmlns:a="http://schemas.openxmlformats.org/drawingml/2006/main">
              <a:ext uri="{FF2B5EF4-FFF2-40B4-BE49-F238E27FC236}">
                <a16:creationId xmlns:a16="http://schemas.microsoft.com/office/drawing/2014/main" id="{EC6E3E80-72EC-4E67-B118-552C8EFB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3875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6342E"/>
                </a:solidFill>
              </a:defRPr>
            </a:pPr>
            <a:r>
              <a:rPr sz="2700" b="1">
                <a:solidFill>
                  <a:srgbClr val="26342E"/>
                </a:solidFill>
              </a:rPr>
              <a:t>Only an Administrator should manage user accounts.</a:t>
            </a:r>
          </a:p>
        </p:txBody>
      </p:sp>
      <p:sp>
        <p:nvSpPr>
          <p:cNvPr id="10" name="role-stop">
            <a:extLst xmlns:a="http://schemas.openxmlformats.org/drawingml/2006/main">
              <a:ext uri="{FF2B5EF4-FFF2-40B4-BE49-F238E27FC236}">
                <a16:creationId xmlns:a16="http://schemas.microsoft.com/office/drawing/2014/main" id="{D2811582-6E8C-41B2-BFE0-81BE3B23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953250"/>
            <a:ext cx="1133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8E4B61"/>
                </a:solidFill>
              </a:defRPr>
            </a:pPr>
            <a:r>
              <a:rPr sz="2025">
                <a:solidFill>
                  <a:srgbClr val="8E4B61"/>
                </a:solidFill>
              </a:rPr>
              <a:t>Do not give Administrator access for routine practitioner or event editing. Editor is sufficient for those tasks.</a:t>
            </a:r>
          </a:p>
        </p:txBody>
      </p:sp>
    </p:spTree>
    <p:extLst>
      <p:ext uri="{BB962C8B-B14F-4D97-AF65-F5344CB8AC3E}">
        <p14:creationId xmlns:p14="http://schemas.microsoft.com/office/powerpoint/2010/main" val="2054208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B7229F9-12EB-49C1-BA2F-1EBD7566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4242D1-95A4-4875-8EFC-38843ACC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Gather the approved account information first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482FD05-761F-49C3-ACA9-8030C49E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D1A4DEB5-1AD2-490C-AE6C-62F09632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2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0E01E7C-6E97-4CF2-99D3-70E0A378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Staff access v1.1  |  3/13</a:t>
            </a:r>
          </a:p>
        </p:txBody>
      </p:sp>
      <p:sp>
        <p:nvSpPr>
          <p:cNvPr id="6" name="login-label">
            <a:extLst xmlns:a="http://schemas.openxmlformats.org/drawingml/2006/main">
              <a:ext uri="{FF2B5EF4-FFF2-40B4-BE49-F238E27FC236}">
                <a16:creationId xmlns:a16="http://schemas.microsoft.com/office/drawing/2014/main" id="{78C377A7-C011-4BCE-9725-1E6D1FCD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F7D50"/>
                </a:solidFill>
              </a:defRPr>
            </a:pPr>
            <a:r>
              <a:rPr sz="2100" b="1">
                <a:solidFill>
                  <a:srgbClr val="3F7D50"/>
                </a:solidFill>
              </a:rPr>
              <a:t>BEFORE OPENING USERS</a:t>
            </a:r>
          </a:p>
        </p:txBody>
      </p:sp>
      <p:sp>
        <p:nvSpPr>
          <p:cNvPr id="7" name="url-box">
            <a:extLst xmlns:a="http://schemas.openxmlformats.org/drawingml/2006/main">
              <a:ext uri="{FF2B5EF4-FFF2-40B4-BE49-F238E27FC236}">
                <a16:creationId xmlns:a16="http://schemas.microsoft.com/office/drawing/2014/main" id="{676B7AB7-D045-4FD8-A8ED-29D78FDD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14668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sp>
        <p:nvSpPr>
          <p:cNvPr id="8" name="login-url">
            <a:extLst xmlns:a="http://schemas.openxmlformats.org/drawingml/2006/main">
              <a:ext uri="{FF2B5EF4-FFF2-40B4-BE49-F238E27FC236}">
                <a16:creationId xmlns:a16="http://schemas.microsoft.com/office/drawing/2014/main" id="{DAB01ED3-B55B-44DD-90E8-1EA47BA4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00500"/>
            <a:ext cx="1333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74C3C"/>
                </a:solidFill>
              </a:defRPr>
            </a:pPr>
            <a:r>
              <a:rPr sz="3900" b="1">
                <a:solidFill>
                  <a:srgbClr val="174C3C"/>
                </a:solidFill>
              </a:rPr>
              <a:t>Full name  |  unique work email  |  approved role</a:t>
            </a:r>
          </a:p>
        </p:txBody>
      </p:sp>
      <p:sp>
        <p:nvSpPr>
          <p:cNvPr id="9" name="login-note">
            <a:extLst xmlns:a="http://schemas.openxmlformats.org/drawingml/2006/main">
              <a:ext uri="{FF2B5EF4-FFF2-40B4-BE49-F238E27FC236}">
                <a16:creationId xmlns:a16="http://schemas.microsoft.com/office/drawing/2014/main" id="{823C3F0D-DF47-464F-AAC9-2EC9A4A3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191250"/>
            <a:ext cx="1257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8E4B61"/>
                </a:solidFill>
              </a:defRPr>
            </a:pPr>
            <a:r>
              <a:rPr sz="2250">
                <a:solidFill>
                  <a:srgbClr val="8E4B61"/>
                </a:solidFill>
              </a:rPr>
              <a:t>Each person gets a separate account. Never reuse another person's username or password.</a:t>
            </a:r>
          </a:p>
        </p:txBody>
      </p:sp>
    </p:spTree>
    <p:extLst>
      <p:ext uri="{BB962C8B-B14F-4D97-AF65-F5344CB8AC3E}">
        <p14:creationId xmlns:p14="http://schemas.microsoft.com/office/powerpoint/2010/main" val="8364025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3F343D95-AE8C-4643-9299-156D56A3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C60F5D-5F4D-45D1-8EDD-73316956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Open Users and choose the correct action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F909A626-4E05-4DAC-91C0-595BB386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BC08ABB-9DD7-45BB-8B1A-A43284DE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3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ECC1960-09CB-4064-9742-4AA050AA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Staff access v1.1  |  4/13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F13372F0-B4C6-4533-885B-028729CC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dd3287c1948f4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BC8955B9-8D63-40B6-AD88-D80B9B33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227451"/>
            <a:ext cx="1334262" cy="1491234"/>
          </a:xfrm>
          <a:prstGeom xmlns:a="http://schemas.openxmlformats.org/drawingml/2006/main" prst="roundRect">
            <a:avLst>
              <a:gd name="adj" fmla="val 5711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52115E4-E015-493B-932F-F18FDE7A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2770251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ED2AAB70-0013-472B-84D6-E07BC2C6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2894076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4-box">
            <a:extLst xmlns:a="http://schemas.openxmlformats.org/drawingml/2006/main">
              <a:ext uri="{FF2B5EF4-FFF2-40B4-BE49-F238E27FC236}">
                <a16:creationId xmlns:a16="http://schemas.microsoft.com/office/drawing/2014/main" id="{749CC583-2ADA-4B0C-B07C-A70D3941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61937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4-heading">
            <a:extLst xmlns:a="http://schemas.openxmlformats.org/drawingml/2006/main">
              <a:ext uri="{FF2B5EF4-FFF2-40B4-BE49-F238E27FC236}">
                <a16:creationId xmlns:a16="http://schemas.microsoft.com/office/drawing/2014/main" id="{7F25953F-4AE7-4F02-A289-F98AEE3D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7908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4-body">
            <a:extLst xmlns:a="http://schemas.openxmlformats.org/drawingml/2006/main">
              <a:ext uri="{FF2B5EF4-FFF2-40B4-BE49-F238E27FC236}">
                <a16:creationId xmlns:a16="http://schemas.microsoft.com/office/drawing/2014/main" id="{10B576F1-08BF-4DE2-87D4-C0B5EEA2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248025"/>
            <a:ext cx="28765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Click Medical Practicioners.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Click All Medical Practicioners.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Search by name if needed.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7E47C0BD-FEE9-422F-B0A0-1673A9F4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1662BBA2-2371-44E1-82C1-F0F3C6C4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5c124b6ce412d"/>
          <a:stretch xmlns:a="http://schemas.openxmlformats.org/drawingml/2006/main"/>
        </p:blipFill>
        <p:spPr>
          <a:xfrm xmlns:a="http://schemas.openxmlformats.org/drawingml/2006/main">
            <a:off x="552450" y="3647427"/>
            <a:ext cx="11944350" cy="2801646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5088EA59-FC69-4DFD-AEB9-8557CE66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24ADEDD5-A0F0-40F7-B877-2DC03B5A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39EE0F66-5A60-4390-B158-F13B6C37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Confirm the person's identity.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Choose add, change, or remove.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Never edit an unfamiliar Administrator.</a:t>
            </a:r>
          </a:p>
        </p:txBody>
      </p:sp>
      <p:sp>
        <p:nvSpPr>
          <p:cNvPr id="25" name="guide-cover-1">
            <a:extLst xmlns:a="http://schemas.openxmlformats.org/drawingml/2006/main">
              <a:ext uri="{FF2B5EF4-FFF2-40B4-BE49-F238E27FC236}">
                <a16:creationId xmlns:a16="http://schemas.microsoft.com/office/drawing/2014/main" id="{C2FA3FA6-1905-42FB-A784-4CB9F5E0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guide-label-1">
            <a:extLst xmlns:a="http://schemas.openxmlformats.org/drawingml/2006/main">
              <a:ext uri="{FF2B5EF4-FFF2-40B4-BE49-F238E27FC236}">
                <a16:creationId xmlns:a16="http://schemas.microsoft.com/office/drawing/2014/main" id="{840BBC17-C687-4DCE-BC9A-2C3A42F1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guide-route-box-1">
            <a:extLst xmlns:a="http://schemas.openxmlformats.org/drawingml/2006/main">
              <a:ext uri="{FF2B5EF4-FFF2-40B4-BE49-F238E27FC236}">
                <a16:creationId xmlns:a16="http://schemas.microsoft.com/office/drawing/2014/main" id="{1CA37CFD-C4F1-4ECA-A4FC-C23CF483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guide-route-1">
            <a:extLst xmlns:a="http://schemas.openxmlformats.org/drawingml/2006/main">
              <a:ext uri="{FF2B5EF4-FFF2-40B4-BE49-F238E27FC236}">
                <a16:creationId xmlns:a16="http://schemas.microsoft.com/office/drawing/2014/main" id="{EC2C0CCE-90A2-47AB-B2D3-640CA913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C3C"/>
                </a:solidFill>
              </a:defRPr>
            </a:pPr>
            <a:r>
              <a:rPr sz="2175" b="1">
                <a:solidFill>
                  <a:srgbClr val="174C3C"/>
                </a:solidFill>
              </a:rPr>
              <a:t>Users &gt; Add New User</a:t>
            </a:r>
          </a:p>
        </p:txBody>
      </p:sp>
      <p:sp>
        <p:nvSpPr>
          <p:cNvPr id="29" name="guide-body-1">
            <a:extLst xmlns:a="http://schemas.openxmlformats.org/drawingml/2006/main">
              <a:ext uri="{FF2B5EF4-FFF2-40B4-BE49-F238E27FC236}">
                <a16:creationId xmlns:a16="http://schemas.microsoft.com/office/drawing/2014/main" id="{D5867BCD-FB5E-4CFB-91C2-7C8BBDEB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To add someone, select Add New User.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To change or remove someone, select All Users.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Stop if Users is missing; your account is not an Administrator.</a:t>
            </a:r>
          </a:p>
        </p:txBody>
      </p:sp>
      <p:sp>
        <p:nvSpPr>
          <p:cNvPr id="30" name="guide-warning-1">
            <a:extLst xmlns:a="http://schemas.openxmlformats.org/drawingml/2006/main">
              <a:ext uri="{FF2B5EF4-FFF2-40B4-BE49-F238E27FC236}">
                <a16:creationId xmlns:a16="http://schemas.microsoft.com/office/drawing/2014/main" id="{F3621EE1-1C32-44B6-A789-A11C4D94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423055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2829DCF-8334-4A11-92AA-AA873026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9BE32B-C955-439D-AA0F-C0D75D05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Create a permanent username and unique email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1B7654F2-011D-472C-9567-1F4120A0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7C30ABE2-3453-4749-9378-30981C94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E321EEB-9D33-44CE-8749-CE76C91D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Staff access v1.1  |  5/13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3A46D963-A8F0-44D9-8034-67C6AA1D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c9ec42871477d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43B94B79-7019-4BCB-BA54-2ED5D3BB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365498"/>
            <a:ext cx="9261348" cy="5101590"/>
          </a:xfrm>
          <a:prstGeom xmlns:a="http://schemas.openxmlformats.org/drawingml/2006/main" prst="roundRect">
            <a:avLst>
              <a:gd name="adj" fmla="val 149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D741AFC-ED9D-4B41-A2E1-063C3C0E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908298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CEEB048B-20E4-418B-A596-BA8ACDE1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03212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7-box">
            <a:extLst xmlns:a="http://schemas.openxmlformats.org/drawingml/2006/main">
              <a:ext uri="{FF2B5EF4-FFF2-40B4-BE49-F238E27FC236}">
                <a16:creationId xmlns:a16="http://schemas.microsoft.com/office/drawing/2014/main" id="{0F19B1DB-3B3B-49C1-80BC-96FCE752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7-heading">
            <a:extLst xmlns:a="http://schemas.openxmlformats.org/drawingml/2006/main">
              <a:ext uri="{FF2B5EF4-FFF2-40B4-BE49-F238E27FC236}">
                <a16:creationId xmlns:a16="http://schemas.microsoft.com/office/drawing/2014/main" id="{82F39FEE-796F-4780-ABB1-8EFCF569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7-body">
            <a:extLst xmlns:a="http://schemas.openxmlformats.org/drawingml/2006/main">
              <a:ext uri="{FF2B5EF4-FFF2-40B4-BE49-F238E27FC236}">
                <a16:creationId xmlns:a16="http://schemas.microsoft.com/office/drawing/2014/main" id="{7B905C5E-FC7C-4CAF-A6DE-D492D9B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Find Medical Service.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Check the approved category.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Uncheck incorrect categories.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B43882D0-03D2-4BCD-84DB-F9E4DEF7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7DA31449-9DAA-427A-93C8-37B9E364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bd357eb114363"/>
          <a:stretch xmlns:a="http://schemas.openxmlformats.org/drawingml/2006/main"/>
        </p:blipFill>
        <p:spPr>
          <a:xfrm xmlns:a="http://schemas.openxmlformats.org/drawingml/2006/main">
            <a:off x="552450" y="1684774"/>
            <a:ext cx="11944350" cy="6726952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A1E3021B-660E-41BD-93CD-357A265E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6482EF53-8E6B-49DC-A44A-E4951D70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3DC65744-926C-4842-97D8-28F93924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Use one account per person.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Check the email twice.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Do not use a shared login.</a:t>
            </a:r>
          </a:p>
        </p:txBody>
      </p:sp>
      <p:sp>
        <p:nvSpPr>
          <p:cNvPr id="25" name="guide-cover-2">
            <a:extLst xmlns:a="http://schemas.openxmlformats.org/drawingml/2006/main">
              <a:ext uri="{FF2B5EF4-FFF2-40B4-BE49-F238E27FC236}">
                <a16:creationId xmlns:a16="http://schemas.microsoft.com/office/drawing/2014/main" id="{3974CE46-B837-4C6C-8CE5-C5C2409B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guide-label-2">
            <a:extLst xmlns:a="http://schemas.openxmlformats.org/drawingml/2006/main">
              <a:ext uri="{FF2B5EF4-FFF2-40B4-BE49-F238E27FC236}">
                <a16:creationId xmlns:a16="http://schemas.microsoft.com/office/drawing/2014/main" id="{AE189493-6617-4BED-8C68-40A79E93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guide-route-box-2">
            <a:extLst xmlns:a="http://schemas.openxmlformats.org/drawingml/2006/main">
              <a:ext uri="{FF2B5EF4-FFF2-40B4-BE49-F238E27FC236}">
                <a16:creationId xmlns:a16="http://schemas.microsoft.com/office/drawing/2014/main" id="{92E75769-8AA4-4E9A-84B1-F8AF5050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guide-route-2">
            <a:extLst xmlns:a="http://schemas.openxmlformats.org/drawingml/2006/main">
              <a:ext uri="{FF2B5EF4-FFF2-40B4-BE49-F238E27FC236}">
                <a16:creationId xmlns:a16="http://schemas.microsoft.com/office/drawing/2014/main" id="{C28E71C7-BF37-4D4E-B0AC-C80A959B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C3C"/>
                </a:solidFill>
              </a:defRPr>
            </a:pPr>
            <a:r>
              <a:rPr sz="2175" b="1">
                <a:solidFill>
                  <a:srgbClr val="174C3C"/>
                </a:solidFill>
              </a:rPr>
              <a:t>Add New User &gt; Account details</a:t>
            </a:r>
          </a:p>
        </p:txBody>
      </p:sp>
      <p:sp>
        <p:nvSpPr>
          <p:cNvPr id="29" name="guide-body-2">
            <a:extLst xmlns:a="http://schemas.openxmlformats.org/drawingml/2006/main">
              <a:ext uri="{FF2B5EF4-FFF2-40B4-BE49-F238E27FC236}">
                <a16:creationId xmlns:a16="http://schemas.microsoft.com/office/drawing/2014/main" id="{15B7A925-C541-488D-A961-A8A1AB53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Enter a simple username the staff member will recognize.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Enter that person's unique work email address.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A username cannot be changed later, so check spelling before continuing.</a:t>
            </a:r>
          </a:p>
        </p:txBody>
      </p:sp>
      <p:sp>
        <p:nvSpPr>
          <p:cNvPr id="30" name="guide-warning-2">
            <a:extLst xmlns:a="http://schemas.openxmlformats.org/drawingml/2006/main">
              <a:ext uri="{FF2B5EF4-FFF2-40B4-BE49-F238E27FC236}">
                <a16:creationId xmlns:a16="http://schemas.microsoft.com/office/drawing/2014/main" id="{4FFB9826-615A-4568-85F7-365955D2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10092640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A27D9FC1-5260-4252-BB51-89A72D4D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FE1540-B34E-4F3E-A3F5-5AEF9AE8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Complete the name and invitation settings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EBCAA534-4276-4EC9-962E-85E50B92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DD1637E-34F1-44FD-B840-90B49880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5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54D989C-85DA-4E82-B69E-E4B1A363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Staff access v1.1  |  6/13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6567CD9E-A9C3-4700-90A4-15F36698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21e6e4dc84f38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F86AD51D-C12E-4956-A090-E4292618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483227"/>
            <a:ext cx="11890629" cy="4709160"/>
          </a:xfrm>
          <a:prstGeom xmlns:a="http://schemas.openxmlformats.org/drawingml/2006/main" prst="roundRect">
            <a:avLst>
              <a:gd name="adj" fmla="val 1618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BEA5DB97-AED1-49C8-BF20-A7B6FD7A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026027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DB60F1F2-6E74-4006-B59B-D0276328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149852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9-box">
            <a:extLst xmlns:a="http://schemas.openxmlformats.org/drawingml/2006/main">
              <a:ext uri="{FF2B5EF4-FFF2-40B4-BE49-F238E27FC236}">
                <a16:creationId xmlns:a16="http://schemas.microsoft.com/office/drawing/2014/main" id="{4ABC69C6-DAD4-4F33-9D0B-71C0042F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9-heading">
            <a:extLst xmlns:a="http://schemas.openxmlformats.org/drawingml/2006/main">
              <a:ext uri="{FF2B5EF4-FFF2-40B4-BE49-F238E27FC236}">
                <a16:creationId xmlns:a16="http://schemas.microsoft.com/office/drawing/2014/main" id="{A67D71E3-0150-41E7-8E63-2A3F7782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9-body">
            <a:extLst xmlns:a="http://schemas.openxmlformats.org/drawingml/2006/main">
              <a:ext uri="{FF2B5EF4-FFF2-40B4-BE49-F238E27FC236}">
                <a16:creationId xmlns:a16="http://schemas.microsoft.com/office/drawing/2014/main" id="{7902B29C-2B93-41ED-ABA6-92C8BE4A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Select Visual.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Replace the approved description.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Keep the paragraph breaks.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21417551-7971-46A0-A134-410189F4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4A34A1B5-BC25-4C72-98C7-8779AB7D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f6912e7895403d"/>
          <a:stretch xmlns:a="http://schemas.openxmlformats.org/drawingml/2006/main"/>
        </p:blipFill>
        <p:spPr>
          <a:xfrm xmlns:a="http://schemas.openxmlformats.org/drawingml/2006/main">
            <a:off x="552450" y="1684774"/>
            <a:ext cx="11944350" cy="6726952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D4D104B4-9A79-4C09-A56B-1E62579D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BC430E73-5DD1-42E7-9CE8-17998325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6D25D61B-2C29-460D-9FB7-FE4040D8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Use the real staff name.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Do not create an easy password.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Let WordPress send the invitation.</a:t>
            </a:r>
          </a:p>
        </p:txBody>
      </p:sp>
      <p:sp>
        <p:nvSpPr>
          <p:cNvPr id="25" name="guide-cover-3">
            <a:extLst xmlns:a="http://schemas.openxmlformats.org/drawingml/2006/main">
              <a:ext uri="{FF2B5EF4-FFF2-40B4-BE49-F238E27FC236}">
                <a16:creationId xmlns:a16="http://schemas.microsoft.com/office/drawing/2014/main" id="{A81D34C8-AAF2-41AD-9361-3F581537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guide-label-3">
            <a:extLst xmlns:a="http://schemas.openxmlformats.org/drawingml/2006/main">
              <a:ext uri="{FF2B5EF4-FFF2-40B4-BE49-F238E27FC236}">
                <a16:creationId xmlns:a16="http://schemas.microsoft.com/office/drawing/2014/main" id="{3E774ADF-814D-4673-B884-E10A6DF5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guide-route-box-3">
            <a:extLst xmlns:a="http://schemas.openxmlformats.org/drawingml/2006/main">
              <a:ext uri="{FF2B5EF4-FFF2-40B4-BE49-F238E27FC236}">
                <a16:creationId xmlns:a16="http://schemas.microsoft.com/office/drawing/2014/main" id="{8F8BCC9D-3185-4C39-B275-B563DC90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guide-route-3">
            <a:extLst xmlns:a="http://schemas.openxmlformats.org/drawingml/2006/main">
              <a:ext uri="{FF2B5EF4-FFF2-40B4-BE49-F238E27FC236}">
                <a16:creationId xmlns:a16="http://schemas.microsoft.com/office/drawing/2014/main" id="{2F48410F-F55D-4C33-9FE8-7B1A53A4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C3C"/>
                </a:solidFill>
              </a:defRPr>
            </a:pPr>
            <a:r>
              <a:rPr sz="2175" b="1">
                <a:solidFill>
                  <a:srgbClr val="174C3C"/>
                </a:solidFill>
              </a:rPr>
              <a:t>Add New User &gt; Name and notification</a:t>
            </a:r>
          </a:p>
        </p:txBody>
      </p:sp>
      <p:sp>
        <p:nvSpPr>
          <p:cNvPr id="29" name="guide-body-3">
            <a:extLst xmlns:a="http://schemas.openxmlformats.org/drawingml/2006/main">
              <a:ext uri="{FF2B5EF4-FFF2-40B4-BE49-F238E27FC236}">
                <a16:creationId xmlns:a16="http://schemas.microsoft.com/office/drawing/2014/main" id="{3DD26C40-90DD-478C-BF26-F79AE33D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Enter the person's first and last name.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Leave the secure generated password in place.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Keep the user-notification option selected so WordPress sends the setup email.</a:t>
            </a:r>
          </a:p>
        </p:txBody>
      </p:sp>
      <p:sp>
        <p:nvSpPr>
          <p:cNvPr id="30" name="guide-warning-3">
            <a:extLst xmlns:a="http://schemas.openxmlformats.org/drawingml/2006/main">
              <a:ext uri="{FF2B5EF4-FFF2-40B4-BE49-F238E27FC236}">
                <a16:creationId xmlns:a16="http://schemas.microsoft.com/office/drawing/2014/main" id="{4104936D-208F-4DB4-A59B-D47D80DF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21327768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DA7032F-7E6B-4CE3-B00F-4B702D6A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6057A19-5377-4D1E-B250-2E5DE94F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Choose the minimum role the person needs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61719648-24DD-438D-94E8-5301BE01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0978755A-D9CA-48B6-9573-E10438ED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2A2A232-1E7D-4AD4-B07A-DD9F5827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Staff access v1.1  |  7/13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19091F1-2EB5-4DCE-8FD4-4EA769B5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f5cc33b99d4d3e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AE6F87FC-1C92-4486-A3E2-1B7B12C8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287012"/>
            <a:ext cx="11890629" cy="5180076"/>
          </a:xfrm>
          <a:prstGeom xmlns:a="http://schemas.openxmlformats.org/drawingml/2006/main" prst="roundRect">
            <a:avLst>
              <a:gd name="adj" fmla="val 1471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793BAAC-B320-4576-845D-79F558EE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82981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6DA7D80F-A0B2-4384-A92A-9B553EF5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395363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0-box">
            <a:extLst xmlns:a="http://schemas.openxmlformats.org/drawingml/2006/main">
              <a:ext uri="{FF2B5EF4-FFF2-40B4-BE49-F238E27FC236}">
                <a16:creationId xmlns:a16="http://schemas.microsoft.com/office/drawing/2014/main" id="{47D5217A-E42C-4ADF-9103-30D51165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0-heading">
            <a:extLst xmlns:a="http://schemas.openxmlformats.org/drawingml/2006/main">
              <a:ext uri="{FF2B5EF4-FFF2-40B4-BE49-F238E27FC236}">
                <a16:creationId xmlns:a16="http://schemas.microsoft.com/office/drawing/2014/main" id="{780B9F1D-0BB3-4C1A-B929-5C80B4BF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0-body">
            <a:extLst xmlns:a="http://schemas.openxmlformats.org/drawingml/2006/main">
              <a:ext uri="{FF2B5EF4-FFF2-40B4-BE49-F238E27FC236}">
                <a16:creationId xmlns:a16="http://schemas.microsoft.com/office/drawing/2014/main" id="{59DF0A13-2632-4088-9ED5-479F2E0A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Add only approved public details.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Test every link.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Remove outdated contact information.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8EDCC9F3-24DA-4049-8181-72DAAAAA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1ED9BDE7-F1E3-4F14-940C-2D1C20F1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f8d75ed9db4f22"/>
          <a:stretch xmlns:a="http://schemas.openxmlformats.org/drawingml/2006/main"/>
        </p:blipFill>
        <p:spPr>
          <a:xfrm xmlns:a="http://schemas.openxmlformats.org/drawingml/2006/main">
            <a:off x="552450" y="1684774"/>
            <a:ext cx="11944350" cy="6726952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FA2E18A6-C808-472C-BDCB-82142D8A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47108EF7-53C2-4EA4-B9A6-EC578D4D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9C69C03C-3655-4E3F-A07D-5C4DB96B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Routine editing: Editor.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User management: Administrator.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Never upgrade access just to fix a menu.</a:t>
            </a:r>
          </a:p>
        </p:txBody>
      </p:sp>
      <p:sp>
        <p:nvSpPr>
          <p:cNvPr id="25" name="guide-cover-4">
            <a:extLst xmlns:a="http://schemas.openxmlformats.org/drawingml/2006/main">
              <a:ext uri="{FF2B5EF4-FFF2-40B4-BE49-F238E27FC236}">
                <a16:creationId xmlns:a16="http://schemas.microsoft.com/office/drawing/2014/main" id="{64787DF5-FF34-4F93-A52C-C7504300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guide-label-4">
            <a:extLst xmlns:a="http://schemas.openxmlformats.org/drawingml/2006/main">
              <a:ext uri="{FF2B5EF4-FFF2-40B4-BE49-F238E27FC236}">
                <a16:creationId xmlns:a16="http://schemas.microsoft.com/office/drawing/2014/main" id="{1317CEA3-239F-46CB-892C-C9CADB0A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guide-route-box-4">
            <a:extLst xmlns:a="http://schemas.openxmlformats.org/drawingml/2006/main">
              <a:ext uri="{FF2B5EF4-FFF2-40B4-BE49-F238E27FC236}">
                <a16:creationId xmlns:a16="http://schemas.microsoft.com/office/drawing/2014/main" id="{196E5E8A-D15C-41BC-99F2-5F2C1AF8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guide-route-4">
            <a:extLst xmlns:a="http://schemas.openxmlformats.org/drawingml/2006/main">
              <a:ext uri="{FF2B5EF4-FFF2-40B4-BE49-F238E27FC236}">
                <a16:creationId xmlns:a16="http://schemas.microsoft.com/office/drawing/2014/main" id="{0BC91A37-C2E6-4164-AFD4-358365F9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C3C"/>
                </a:solidFill>
              </a:defRPr>
            </a:pPr>
            <a:r>
              <a:rPr sz="2175" b="1">
                <a:solidFill>
                  <a:srgbClr val="174C3C"/>
                </a:solidFill>
              </a:rPr>
              <a:t>Add New User &gt; Role</a:t>
            </a:r>
          </a:p>
        </p:txBody>
      </p:sp>
      <p:sp>
        <p:nvSpPr>
          <p:cNvPr id="29" name="guide-body-4">
            <a:extLst xmlns:a="http://schemas.openxmlformats.org/drawingml/2006/main">
              <a:ext uri="{FF2B5EF4-FFF2-40B4-BE49-F238E27FC236}">
                <a16:creationId xmlns:a16="http://schemas.microsoft.com/office/drawing/2014/main" id="{0D4836ED-7800-473B-AFDF-6386FAB4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Choose Editor for approved practitioner and event work.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Choose Administrator only for an owner or trusted website manager who must manage users and settings.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If the correct access is uncertain, stop and ask Blue Nova.</a:t>
            </a:r>
          </a:p>
        </p:txBody>
      </p:sp>
      <p:sp>
        <p:nvSpPr>
          <p:cNvPr id="30" name="guide-warning-4">
            <a:extLst xmlns:a="http://schemas.openxmlformats.org/drawingml/2006/main">
              <a:ext uri="{FF2B5EF4-FFF2-40B4-BE49-F238E27FC236}">
                <a16:creationId xmlns:a16="http://schemas.microsoft.com/office/drawing/2014/main" id="{8330B486-3A1A-461A-B18B-A2D45086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1755425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0204415-C09B-43F4-A516-EEC81F60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162462-8680-4C8A-9A60-07430884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Add the user once and wait for confirmation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24D5385C-E589-4C92-8FC7-FC262FF7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40E3938C-6AC8-45DB-A8ED-156F3232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7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CBE663F-4CB9-43B0-A538-E0A353C7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Staff access v1.1  |  8/13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9A4AD72-F189-4B70-82FC-AA50CB14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7d8a03af141d8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D016561C-4CDD-4D4B-A3FC-65699913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5111115"/>
            <a:ext cx="11890629" cy="2354580"/>
          </a:xfrm>
          <a:prstGeom xmlns:a="http://schemas.openxmlformats.org/drawingml/2006/main" prst="roundRect">
            <a:avLst>
              <a:gd name="adj" fmla="val 3236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3D2DF43-20BB-42E7-B00E-48996C72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653915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3A18022C-E37F-4BF8-9F20-7B03040C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77774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1-box">
            <a:extLst xmlns:a="http://schemas.openxmlformats.org/drawingml/2006/main">
              <a:ext uri="{FF2B5EF4-FFF2-40B4-BE49-F238E27FC236}">
                <a16:creationId xmlns:a16="http://schemas.microsoft.com/office/drawing/2014/main" id="{675C4915-8EB7-4966-8DF8-3A318ACC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1-heading">
            <a:extLst xmlns:a="http://schemas.openxmlformats.org/drawingml/2006/main">
              <a:ext uri="{FF2B5EF4-FFF2-40B4-BE49-F238E27FC236}">
                <a16:creationId xmlns:a16="http://schemas.microsoft.com/office/drawing/2014/main" id="{DB8BA70E-1E1C-42FF-8AD2-9CCC11CA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1-body">
            <a:extLst xmlns:a="http://schemas.openxmlformats.org/drawingml/2006/main">
              <a:ext uri="{FF2B5EF4-FFF2-40B4-BE49-F238E27FC236}">
                <a16:creationId xmlns:a16="http://schemas.microsoft.com/office/drawing/2014/main" id="{EF2C2CC5-DFDA-44D3-88A6-EB8D397E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Re-read every changed field.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Compare with the approved information.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Fix errors before saving.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744FCE74-0862-4A7B-A39A-F93F670B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6AF0294B-41F2-4246-9143-7C4DF9DD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c1b772c5f4d91"/>
          <a:stretch xmlns:a="http://schemas.openxmlformats.org/drawingml/2006/main"/>
        </p:blipFill>
        <p:spPr>
          <a:xfrm xmlns:a="http://schemas.openxmlformats.org/drawingml/2006/main">
            <a:off x="552450" y="1684774"/>
            <a:ext cx="11944350" cy="6726952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D795B593-E452-4062-AE49-1B9A2D63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39B2A4BB-FCCD-423A-BE74-451B21D7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E3219AB5-C174-4CF7-A13C-AED13EB0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Review before submitting.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Click once and wait.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Do not create a duplicate account.</a:t>
            </a:r>
          </a:p>
        </p:txBody>
      </p:sp>
      <p:sp>
        <p:nvSpPr>
          <p:cNvPr id="25" name="guide-cover-5">
            <a:extLst xmlns:a="http://schemas.openxmlformats.org/drawingml/2006/main">
              <a:ext uri="{FF2B5EF4-FFF2-40B4-BE49-F238E27FC236}">
                <a16:creationId xmlns:a16="http://schemas.microsoft.com/office/drawing/2014/main" id="{6360229C-D546-406B-800E-F1C569B3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guide-label-5">
            <a:extLst xmlns:a="http://schemas.openxmlformats.org/drawingml/2006/main">
              <a:ext uri="{FF2B5EF4-FFF2-40B4-BE49-F238E27FC236}">
                <a16:creationId xmlns:a16="http://schemas.microsoft.com/office/drawing/2014/main" id="{8EA8B3DA-7D1B-4034-832F-4A98F75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guide-route-box-5">
            <a:extLst xmlns:a="http://schemas.openxmlformats.org/drawingml/2006/main">
              <a:ext uri="{FF2B5EF4-FFF2-40B4-BE49-F238E27FC236}">
                <a16:creationId xmlns:a16="http://schemas.microsoft.com/office/drawing/2014/main" id="{AB70901C-BEAC-415E-A9AC-F21429F3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guide-route-5">
            <a:extLst xmlns:a="http://schemas.openxmlformats.org/drawingml/2006/main">
              <a:ext uri="{FF2B5EF4-FFF2-40B4-BE49-F238E27FC236}">
                <a16:creationId xmlns:a16="http://schemas.microsoft.com/office/drawing/2014/main" id="{CDC51A78-4807-4A45-962F-B62087B6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C3C"/>
                </a:solidFill>
              </a:defRPr>
            </a:pPr>
            <a:r>
              <a:rPr sz="2175" b="1">
                <a:solidFill>
                  <a:srgbClr val="174C3C"/>
                </a:solidFill>
              </a:rPr>
              <a:t>Add New User &gt; Add New User button</a:t>
            </a:r>
          </a:p>
        </p:txBody>
      </p:sp>
      <p:sp>
        <p:nvSpPr>
          <p:cNvPr id="29" name="guide-body-5">
            <a:extLst xmlns:a="http://schemas.openxmlformats.org/drawingml/2006/main">
              <a:ext uri="{FF2B5EF4-FFF2-40B4-BE49-F238E27FC236}">
                <a16:creationId xmlns:a16="http://schemas.microsoft.com/office/drawing/2014/main" id="{44E1FB9C-EA6B-459C-AF2F-457AD973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Review every field before clicking the button.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Select Add New User one time, then wait for the success message.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If WordPress reports that the username or email already exists, stop and check All Users.</a:t>
            </a:r>
          </a:p>
        </p:txBody>
      </p:sp>
      <p:sp>
        <p:nvSpPr>
          <p:cNvPr id="30" name="guide-warning-5">
            <a:extLst xmlns:a="http://schemas.openxmlformats.org/drawingml/2006/main">
              <a:ext uri="{FF2B5EF4-FFF2-40B4-BE49-F238E27FC236}">
                <a16:creationId xmlns:a16="http://schemas.microsoft.com/office/drawing/2014/main" id="{670ED783-5833-4CEE-923D-59467DCA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657546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9AC37860-02D0-40F1-AAEC-EE8A9036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03ED3AB-F080-471C-A7DD-3920DCF6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Have the staff member complete the first login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06BFEEE2-6DDB-483C-B2F7-35AE637E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D65A1AD8-730E-4F6A-BC01-73913E2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8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026265E-08BC-472F-BF44-245C92B3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Staff access v1.1  |  9/13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93542544-2909-447A-A48A-04F41BFA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e3ceb2a334fe2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D6B35B9E-062E-43EE-BB3A-6607DCC2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691" y="990600"/>
            <a:ext cx="1922907" cy="981075"/>
          </a:xfrm>
          <a:prstGeom xmlns:a="http://schemas.openxmlformats.org/drawingml/2006/main" prst="roundRect">
            <a:avLst>
              <a:gd name="adj" fmla="val 7767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A0DD2F0-C3FE-4A82-AAC3-E5C6C3A9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691" y="10096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58E679B1-3331-4685-A450-09A53661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941" y="1133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2-box">
            <a:extLst xmlns:a="http://schemas.openxmlformats.org/drawingml/2006/main">
              <a:ext uri="{FF2B5EF4-FFF2-40B4-BE49-F238E27FC236}">
                <a16:creationId xmlns:a16="http://schemas.microsoft.com/office/drawing/2014/main" id="{AE96A1A7-2080-4A02-92EC-C234016C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2-heading">
            <a:extLst xmlns:a="http://schemas.openxmlformats.org/drawingml/2006/main">
              <a:ext uri="{FF2B5EF4-FFF2-40B4-BE49-F238E27FC236}">
                <a16:creationId xmlns:a16="http://schemas.microsoft.com/office/drawing/2014/main" id="{8659E305-1C06-41F7-B96B-24B1D38F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2-body">
            <a:extLst xmlns:a="http://schemas.openxmlformats.org/drawingml/2006/main">
              <a:ext uri="{FF2B5EF4-FFF2-40B4-BE49-F238E27FC236}">
                <a16:creationId xmlns:a16="http://schemas.microsoft.com/office/drawing/2014/main" id="{85081FAA-0F62-48F5-A83B-901A83C2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Click Save once.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Wait for confirmation.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Do not click repeatedly.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D19E1327-175C-4838-88C5-1268E10D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4D2145F7-66B7-4EC7-A289-70412226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98608984f42c9"/>
          <a:stretch xmlns:a="http://schemas.openxmlformats.org/drawingml/2006/main"/>
        </p:blipFill>
        <p:spPr>
          <a:xfrm xmlns:a="http://schemas.openxmlformats.org/drawingml/2006/main">
            <a:off x="552450" y="1684774"/>
            <a:ext cx="11944350" cy="6726952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2FA350BD-A77C-4029-8BB1-2F88B956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91E2FF1E-AAEB-4631-924A-74DCEFCB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253916D3-73CE-423F-81CD-BB07B517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Use the invitation link.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Create a private strong password.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Confirm only the needed menus appear.</a:t>
            </a:r>
          </a:p>
        </p:txBody>
      </p:sp>
      <p:sp>
        <p:nvSpPr>
          <p:cNvPr id="25" name="guide-cover-6">
            <a:extLst xmlns:a="http://schemas.openxmlformats.org/drawingml/2006/main">
              <a:ext uri="{FF2B5EF4-FFF2-40B4-BE49-F238E27FC236}">
                <a16:creationId xmlns:a16="http://schemas.microsoft.com/office/drawing/2014/main" id="{FA6A5615-544F-46CF-93B9-D88F717E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guide-label-6">
            <a:extLst xmlns:a="http://schemas.openxmlformats.org/drawingml/2006/main">
              <a:ext uri="{FF2B5EF4-FFF2-40B4-BE49-F238E27FC236}">
                <a16:creationId xmlns:a16="http://schemas.microsoft.com/office/drawing/2014/main" id="{7C1D2813-7065-45B9-A9AC-E88E6646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guide-route-box-6">
            <a:extLst xmlns:a="http://schemas.openxmlformats.org/drawingml/2006/main">
              <a:ext uri="{FF2B5EF4-FFF2-40B4-BE49-F238E27FC236}">
                <a16:creationId xmlns:a16="http://schemas.microsoft.com/office/drawing/2014/main" id="{D8D1B693-1AFE-4ED7-B583-CF30A583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guide-route-6">
            <a:extLst xmlns:a="http://schemas.openxmlformats.org/drawingml/2006/main">
              <a:ext uri="{FF2B5EF4-FFF2-40B4-BE49-F238E27FC236}">
                <a16:creationId xmlns:a16="http://schemas.microsoft.com/office/drawing/2014/main" id="{1B4EE345-D212-4B15-B985-19BCC467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C3C"/>
                </a:solidFill>
              </a:defRPr>
            </a:pPr>
            <a:r>
              <a:rPr sz="2175" b="1">
                <a:solidFill>
                  <a:srgbClr val="174C3C"/>
                </a:solidFill>
              </a:rPr>
              <a:t>Staff invitation email &gt; Set password &gt; Log in</a:t>
            </a:r>
          </a:p>
        </p:txBody>
      </p:sp>
      <p:sp>
        <p:nvSpPr>
          <p:cNvPr id="29" name="guide-body-6">
            <a:extLst xmlns:a="http://schemas.openxmlformats.org/drawingml/2006/main">
              <a:ext uri="{FF2B5EF4-FFF2-40B4-BE49-F238E27FC236}">
                <a16:creationId xmlns:a16="http://schemas.microsoft.com/office/drawing/2014/main" id="{E46747FC-BF95-4B66-9CE3-3800DEA7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The staff member opens the WordPress invitation email.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They create a strong password that only they know.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They sign in at rebekahspureliving.com/wp-admin and confirm the required menu is visible.</a:t>
            </a:r>
          </a:p>
        </p:txBody>
      </p:sp>
      <p:sp>
        <p:nvSpPr>
          <p:cNvPr id="30" name="guide-warning-6">
            <a:extLst xmlns:a="http://schemas.openxmlformats.org/drawingml/2006/main">
              <a:ext uri="{FF2B5EF4-FFF2-40B4-BE49-F238E27FC236}">
                <a16:creationId xmlns:a16="http://schemas.microsoft.com/office/drawing/2014/main" id="{E0493D27-32DB-4532-B145-D3BBA8DB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14545670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45A71D21-0EF2-4507-993D-4DB38F86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3AC40A-A6CC-491E-9E0B-BB697AA5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Change an existing role carefully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7F7DE6B-AEA3-495C-8875-2DB93408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37D68557-DCCA-4704-9414-561988DE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4EE6A30-5E38-4C0C-B1B5-183B8F06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Staff access v1.1  |  10/13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171564A-9FFE-42A1-837F-141E5D5C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06b7288b44d08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5925F395-3AE0-458F-AC8F-92ECAC02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2324862"/>
            <a:ext cx="6121908" cy="1216533"/>
          </a:xfrm>
          <a:prstGeom xmlns:a="http://schemas.openxmlformats.org/drawingml/2006/main" prst="roundRect">
            <a:avLst>
              <a:gd name="adj" fmla="val 626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11775FA4-9811-4BF9-A4C6-FA75DA40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186766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066C8F92-B295-4084-958B-157EE656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238" y="199148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cache-cue-box">
            <a:extLst xmlns:a="http://schemas.openxmlformats.org/drawingml/2006/main">
              <a:ext uri="{FF2B5EF4-FFF2-40B4-BE49-F238E27FC236}">
                <a16:creationId xmlns:a16="http://schemas.microsoft.com/office/drawing/2014/main" id="{63AE86B5-DAA9-4BC6-B2FB-5231AF08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047875"/>
            <a:ext cx="55721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3E8"/>
          </a:solidFill>
          <a:ln xmlns:a="http://schemas.openxmlformats.org/drawingml/2006/main" w="57150">
            <a:solidFill>
              <a:srgbClr val="D6A33A"/>
            </a:solidFill>
            <a:prstDash val="solid"/>
          </a:ln>
        </p:spPr>
      </p:sp>
      <p:sp>
        <p:nvSpPr>
          <p:cNvPr id="14" name="cache-cue-instruction">
            <a:extLst xmlns:a="http://schemas.openxmlformats.org/drawingml/2006/main">
              <a:ext uri="{FF2B5EF4-FFF2-40B4-BE49-F238E27FC236}">
                <a16:creationId xmlns:a16="http://schemas.microsoft.com/office/drawing/2014/main" id="{CC0FB520-EB88-4FF0-929C-7722B705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209800"/>
            <a:ext cx="500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6342E"/>
                </a:solidFill>
              </a:defRPr>
            </a:pPr>
            <a:r>
              <a:rPr sz="1425" b="1">
                <a:solidFill>
                  <a:srgbClr val="26342E"/>
                </a:solidFill>
              </a:rPr>
              <a:t>1. Return to the practitioner list.</a:t>
            </a:r>
          </a:p>
          <a:p xmlns:a="http://schemas.openxmlformats.org/drawingml/2006/main">
            <a:pPr>
              <a:buNone/>
              <a:defRPr sz="1425" b="1">
                <a:solidFill>
                  <a:srgbClr val="26342E"/>
                </a:solidFill>
              </a:defRPr>
            </a:pPr>
            <a:r>
              <a:rPr sz="1425" b="1">
                <a:solidFill>
                  <a:srgbClr val="26342E"/>
                </a:solidFill>
              </a:rPr>
              <a:t>2. Hover over the same row.</a:t>
            </a:r>
          </a:p>
        </p:txBody>
      </p:sp>
      <p:sp>
        <p:nvSpPr>
          <p:cNvPr id="15" name="cache-cue-action">
            <a:extLst xmlns:a="http://schemas.openxmlformats.org/drawingml/2006/main">
              <a:ext uri="{FF2B5EF4-FFF2-40B4-BE49-F238E27FC236}">
                <a16:creationId xmlns:a16="http://schemas.microsoft.com/office/drawing/2014/main" id="{B6D5F10A-0932-45CB-82F5-1F7B55C9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9337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3. Click Clear Cache.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03DB1B71-F8EF-48E6-80F8-252EE437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433CBD6E-560F-41B6-8F1B-3991E358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f1c5a8e54400b"/>
          <a:stretch xmlns:a="http://schemas.openxmlformats.org/drawingml/2006/main"/>
        </p:blipFill>
        <p:spPr>
          <a:xfrm xmlns:a="http://schemas.openxmlformats.org/drawingml/2006/main">
            <a:off x="552450" y="3647427"/>
            <a:ext cx="11944350" cy="2801646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C6F319E0-D59E-446B-B8B1-2C4383D2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86D0CC1C-6400-4A97-853A-15328015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7DA2E999-8A08-4300-869A-B3575F2A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Match both name and email.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Change only the Role field.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Recheck access after a new login.</a:t>
            </a:r>
          </a:p>
        </p:txBody>
      </p:sp>
      <p:sp>
        <p:nvSpPr>
          <p:cNvPr id="25" name="guide-cover-7">
            <a:extLst xmlns:a="http://schemas.openxmlformats.org/drawingml/2006/main">
              <a:ext uri="{FF2B5EF4-FFF2-40B4-BE49-F238E27FC236}">
                <a16:creationId xmlns:a16="http://schemas.microsoft.com/office/drawing/2014/main" id="{34345C04-728B-4702-A680-BBB13778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guide-label-7">
            <a:extLst xmlns:a="http://schemas.openxmlformats.org/drawingml/2006/main">
              <a:ext uri="{FF2B5EF4-FFF2-40B4-BE49-F238E27FC236}">
                <a16:creationId xmlns:a16="http://schemas.microsoft.com/office/drawing/2014/main" id="{1808362B-3A0A-4AB5-B7D2-33FFEB6D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guide-route-box-7">
            <a:extLst xmlns:a="http://schemas.openxmlformats.org/drawingml/2006/main">
              <a:ext uri="{FF2B5EF4-FFF2-40B4-BE49-F238E27FC236}">
                <a16:creationId xmlns:a16="http://schemas.microsoft.com/office/drawing/2014/main" id="{3EC92B96-2A09-4677-8E30-1591149E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guide-route-7">
            <a:extLst xmlns:a="http://schemas.openxmlformats.org/drawingml/2006/main">
              <a:ext uri="{FF2B5EF4-FFF2-40B4-BE49-F238E27FC236}">
                <a16:creationId xmlns:a16="http://schemas.microsoft.com/office/drawing/2014/main" id="{6CFF3A26-AF9C-43FE-8645-F2ABC108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C3C"/>
                </a:solidFill>
              </a:defRPr>
            </a:pPr>
            <a:r>
              <a:rPr sz="2175" b="1">
                <a:solidFill>
                  <a:srgbClr val="174C3C"/>
                </a:solidFill>
              </a:rPr>
              <a:t>Users &gt; All Users &gt; Edit</a:t>
            </a:r>
          </a:p>
        </p:txBody>
      </p:sp>
      <p:sp>
        <p:nvSpPr>
          <p:cNvPr id="29" name="guide-body-7">
            <a:extLst xmlns:a="http://schemas.openxmlformats.org/drawingml/2006/main">
              <a:ext uri="{FF2B5EF4-FFF2-40B4-BE49-F238E27FC236}">
                <a16:creationId xmlns:a16="http://schemas.microsoft.com/office/drawing/2014/main" id="{0CEADDCB-A8C5-447E-80C4-DF3D1699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Find the exact staff name and email.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Open Edit and choose the newly approved role.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Save once, then ask the staff member to sign out and sign back in.</a:t>
            </a:r>
          </a:p>
        </p:txBody>
      </p:sp>
      <p:sp>
        <p:nvSpPr>
          <p:cNvPr id="30" name="guide-warning-7">
            <a:extLst xmlns:a="http://schemas.openxmlformats.org/drawingml/2006/main">
              <a:ext uri="{FF2B5EF4-FFF2-40B4-BE49-F238E27FC236}">
                <a16:creationId xmlns:a16="http://schemas.microsoft.com/office/drawing/2014/main" id="{082C0755-82B0-476C-B6E7-B6F8D068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18747029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AA533D2-BE24-46A8-A65F-98CE3B46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EDB082-46ED-4422-94D9-1E9547CC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Use password reset instead of sharing passwords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5B8D6E69-0499-4817-BA76-B2F8FB8E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A63A66C6-F41D-4B45-94BB-D40CE5D8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10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354369C-FB52-44DE-B423-2FDFF33D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Staff access v1.1  |  11/13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83A1A526-5618-4E26-AFAC-3CBDE0CC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3de01da2c45e2"/>
          <a:stretch xmlns:a="http://schemas.openxmlformats.org/drawingml/2006/main"/>
        </p:blipFill>
        <p:spPr>
          <a:xfrm xmlns:a="http://schemas.openxmlformats.org/drawingml/2006/main">
            <a:off x="1381735" y="1398630"/>
            <a:ext cx="15524531" cy="801361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A56D7C2D-EF40-4D21-8C26-2465770C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3580638"/>
            <a:ext cx="11301984" cy="5101590"/>
          </a:xfrm>
          <a:prstGeom xmlns:a="http://schemas.openxmlformats.org/drawingml/2006/main" prst="roundRect">
            <a:avLst>
              <a:gd name="adj" fmla="val 149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8E5471D-3B6A-4F1F-8EE8-BCD0EEEC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3123438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B9940694-2672-4251-A044-50B23665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350" y="324726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4-box">
            <a:extLst xmlns:a="http://schemas.openxmlformats.org/drawingml/2006/main">
              <a:ext uri="{FF2B5EF4-FFF2-40B4-BE49-F238E27FC236}">
                <a16:creationId xmlns:a16="http://schemas.microsoft.com/office/drawing/2014/main" id="{6DC89904-0505-4186-A6F9-DE145750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572500"/>
            <a:ext cx="3429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38100">
            <a:solidFill>
              <a:srgbClr val="D6A33A"/>
            </a:solidFill>
            <a:prstDash val="solid"/>
          </a:ln>
        </p:spPr>
      </p:sp>
      <p:sp>
        <p:nvSpPr>
          <p:cNvPr id="14" name="written-steps-s14-heading">
            <a:extLst xmlns:a="http://schemas.openxmlformats.org/drawingml/2006/main">
              <a:ext uri="{FF2B5EF4-FFF2-40B4-BE49-F238E27FC236}">
                <a16:creationId xmlns:a16="http://schemas.microsoft.com/office/drawing/2014/main" id="{E56D5C24-D474-49BD-8D23-ABC67D4B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864870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4C3C"/>
                </a:solidFill>
              </a:defRPr>
            </a:pPr>
            <a:r>
              <a:rPr sz="1125" b="1">
                <a:solidFill>
                  <a:srgbClr val="174C3C"/>
                </a:solidFill>
              </a:rPr>
              <a:t>WRITTEN CHECK</a:t>
            </a:r>
          </a:p>
        </p:txBody>
      </p:sp>
      <p:sp>
        <p:nvSpPr>
          <p:cNvPr id="15" name="written-steps-s14-body">
            <a:extLst xmlns:a="http://schemas.openxmlformats.org/drawingml/2006/main">
              <a:ext uri="{FF2B5EF4-FFF2-40B4-BE49-F238E27FC236}">
                <a16:creationId xmlns:a16="http://schemas.microsoft.com/office/drawing/2014/main" id="{8D41BF83-9913-4A25-8265-FF672CFA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8896350"/>
            <a:ext cx="3181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1. Search the name.</a:t>
            </a:r>
          </a:p>
          <a:p xmlns:a="http://schemas.openxmlformats.org/drawingml/2006/main">
            <a:pPr>
              <a:buNone/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2. Confirm the public details.</a:t>
            </a:r>
          </a:p>
          <a:p xmlns:a="http://schemas.openxmlformats.org/drawingml/2006/main">
            <a:pPr>
              <a:buNone/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3. Check the links.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685ADFEC-1406-4119-9691-4EAA8AEF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54EA2403-617E-4E45-8B9E-8F3CAE3A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e28d3cee14020"/>
          <a:stretch xmlns:a="http://schemas.openxmlformats.org/drawingml/2006/main"/>
        </p:blipFill>
        <p:spPr>
          <a:xfrm xmlns:a="http://schemas.openxmlformats.org/drawingml/2006/main">
            <a:off x="607906" y="1314450"/>
            <a:ext cx="11833437" cy="7467600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4BC032DF-E857-4FCD-8E03-6D1D9492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7C8D4D63-68C3-448B-826C-667E0EF4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4128F2A5-EFEC-45FE-9C77-58AB5F76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Send the reset link.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Staff creates the new password.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Passwords stay private.</a:t>
            </a:r>
          </a:p>
        </p:txBody>
      </p:sp>
      <p:sp>
        <p:nvSpPr>
          <p:cNvPr id="25" name="guide-cover-8">
            <a:extLst xmlns:a="http://schemas.openxmlformats.org/drawingml/2006/main">
              <a:ext uri="{FF2B5EF4-FFF2-40B4-BE49-F238E27FC236}">
                <a16:creationId xmlns:a16="http://schemas.microsoft.com/office/drawing/2014/main" id="{E772D995-857B-45F2-8CAC-72B4EBF7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guide-label-8">
            <a:extLst xmlns:a="http://schemas.openxmlformats.org/drawingml/2006/main">
              <a:ext uri="{FF2B5EF4-FFF2-40B4-BE49-F238E27FC236}">
                <a16:creationId xmlns:a16="http://schemas.microsoft.com/office/drawing/2014/main" id="{568CBAEB-F846-46F7-BCAB-5142F942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guide-route-box-8">
            <a:extLst xmlns:a="http://schemas.openxmlformats.org/drawingml/2006/main">
              <a:ext uri="{FF2B5EF4-FFF2-40B4-BE49-F238E27FC236}">
                <a16:creationId xmlns:a16="http://schemas.microsoft.com/office/drawing/2014/main" id="{EA019381-58F2-499C-8FD7-D3F5A2A4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guide-route-8">
            <a:extLst xmlns:a="http://schemas.openxmlformats.org/drawingml/2006/main">
              <a:ext uri="{FF2B5EF4-FFF2-40B4-BE49-F238E27FC236}">
                <a16:creationId xmlns:a16="http://schemas.microsoft.com/office/drawing/2014/main" id="{FDBFAA14-1926-40BD-BA06-8AE85BAD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C3C"/>
                </a:solidFill>
              </a:defRPr>
            </a:pPr>
            <a:r>
              <a:rPr sz="2175" b="1">
                <a:solidFill>
                  <a:srgbClr val="174C3C"/>
                </a:solidFill>
              </a:rPr>
              <a:t>Users &gt; All Users &gt; Send password reset</a:t>
            </a:r>
          </a:p>
        </p:txBody>
      </p:sp>
      <p:sp>
        <p:nvSpPr>
          <p:cNvPr id="29" name="guide-body-8">
            <a:extLst xmlns:a="http://schemas.openxmlformats.org/drawingml/2006/main">
              <a:ext uri="{FF2B5EF4-FFF2-40B4-BE49-F238E27FC236}">
                <a16:creationId xmlns:a16="http://schemas.microsoft.com/office/drawing/2014/main" id="{70BDC74D-0B32-43AA-B702-B0DFCD19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Use Send password reset when the person cannot sign in.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The staff member follows the private reset email.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Never ask them to send you their password, and never send a password by text or ordinary email.</a:t>
            </a:r>
          </a:p>
        </p:txBody>
      </p:sp>
      <p:sp>
        <p:nvSpPr>
          <p:cNvPr id="30" name="guide-warning-8">
            <a:extLst xmlns:a="http://schemas.openxmlformats.org/drawingml/2006/main">
              <a:ext uri="{FF2B5EF4-FFF2-40B4-BE49-F238E27FC236}">
                <a16:creationId xmlns:a16="http://schemas.microsoft.com/office/drawing/2014/main" id="{296B630F-9114-43D4-B664-BD9E06CA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4634348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7C4EE00-7D04-4B85-AE44-397B9384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1FEAAAD-0656-4343-A284-DD5066DE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Remove access without deleting website content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97CEDD81-6C44-49B3-B6BE-F0D0EDE2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A0604F83-8D73-4185-83C0-01685C9A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012E193-791F-4DAA-8DE2-0991E865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Staff access v1.1  |  12/13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E640E1B-D4D1-4291-A802-A4751BDA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00be0cc964245"/>
          <a:stretch xmlns:a="http://schemas.openxmlformats.org/drawingml/2006/main"/>
        </p:blipFill>
        <p:spPr>
          <a:xfrm xmlns:a="http://schemas.openxmlformats.org/drawingml/2006/main">
            <a:off x="1381735" y="990600"/>
            <a:ext cx="15524531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6F05081D-1D84-41B2-AD2E-2381274E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586" y="990600"/>
            <a:ext cx="4473702" cy="7220712"/>
          </a:xfrm>
          <a:prstGeom xmlns:a="http://schemas.openxmlformats.org/drawingml/2006/main" prst="roundRect">
            <a:avLst>
              <a:gd name="adj" fmla="val 1703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EE2F574-CD98-424B-8C85-2E177CA3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586" y="10096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43E433C4-7BE3-4567-A7D4-BAC17E8A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836" y="1133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5-box">
            <a:extLst xmlns:a="http://schemas.openxmlformats.org/drawingml/2006/main">
              <a:ext uri="{FF2B5EF4-FFF2-40B4-BE49-F238E27FC236}">
                <a16:creationId xmlns:a16="http://schemas.microsoft.com/office/drawing/2014/main" id="{95F7E925-0EF7-4F1A-9828-BF8ECBF0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71750"/>
            <a:ext cx="6191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5-heading">
            <a:extLst xmlns:a="http://schemas.openxmlformats.org/drawingml/2006/main">
              <a:ext uri="{FF2B5EF4-FFF2-40B4-BE49-F238E27FC236}">
                <a16:creationId xmlns:a16="http://schemas.microsoft.com/office/drawing/2014/main" id="{14D4D90E-89F6-47C7-9D04-00F10433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43200"/>
            <a:ext cx="577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5-body">
            <a:extLst xmlns:a="http://schemas.openxmlformats.org/drawingml/2006/main">
              <a:ext uri="{FF2B5EF4-FFF2-40B4-BE49-F238E27FC236}">
                <a16:creationId xmlns:a16="http://schemas.microsoft.com/office/drawing/2014/main" id="{CC6F111D-F8F6-4BF7-B6D2-F9566B6C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00400"/>
            <a:ext cx="57340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1. Click View full listing.</a:t>
            </a:r>
          </a:p>
          <a:p xmlns:a="http://schemas.openxmlformats.org/drawingml/2006/main">
            <a:pPr>
              <a:buNone/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2. Check the full details and links.</a:t>
            </a:r>
          </a:p>
          <a:p xmlns:a="http://schemas.openxmlformats.org/drawingml/2006/main">
            <a:pPr>
              <a:buNone/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3. Repeat the check on a phone.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369E89C9-3A59-4222-A997-61749010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BFCDEE92-C609-4F75-ADE1-A9AB60AC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e210b07b245db"/>
          <a:stretch xmlns:a="http://schemas.openxmlformats.org/drawingml/2006/main"/>
        </p:blipFill>
        <p:spPr>
          <a:xfrm xmlns:a="http://schemas.openxmlformats.org/drawingml/2006/main">
            <a:off x="4865787" y="1314450"/>
            <a:ext cx="3317675" cy="7467600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22E99F6B-EA7E-4805-9028-F006086E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9B904E64-2079-40F9-849E-796F8F41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980D85CD-E8AA-4F48-989D-52F3AA31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Verify the exact account.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Reassign all content.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Confirm the old login no longer works.</a:t>
            </a:r>
          </a:p>
        </p:txBody>
      </p:sp>
      <p:sp>
        <p:nvSpPr>
          <p:cNvPr id="25" name="guide-cover-9">
            <a:extLst xmlns:a="http://schemas.openxmlformats.org/drawingml/2006/main">
              <a:ext uri="{FF2B5EF4-FFF2-40B4-BE49-F238E27FC236}">
                <a16:creationId xmlns:a16="http://schemas.microsoft.com/office/drawing/2014/main" id="{D71E8B52-649B-4F17-8EC0-F67ED0A8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sp>
        <p:nvSpPr>
          <p:cNvPr id="26" name="guide-label-9">
            <a:extLst xmlns:a="http://schemas.openxmlformats.org/drawingml/2006/main">
              <a:ext uri="{FF2B5EF4-FFF2-40B4-BE49-F238E27FC236}">
                <a16:creationId xmlns:a16="http://schemas.microsoft.com/office/drawing/2014/main" id="{E761B630-DF13-4144-8888-900BF1EC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D4961"/>
                </a:solidFill>
              </a:defRPr>
            </a:pPr>
            <a:r>
              <a:rPr sz="1650" b="1">
                <a:solidFill>
                  <a:srgbClr val="8D4961"/>
                </a:solidFill>
              </a:rPr>
              <a:t>WHERE TO GO</a:t>
            </a:r>
          </a:p>
        </p:txBody>
      </p:sp>
      <p:sp>
        <p:nvSpPr>
          <p:cNvPr id="27" name="guide-route-box-9">
            <a:extLst xmlns:a="http://schemas.openxmlformats.org/drawingml/2006/main">
              <a:ext uri="{FF2B5EF4-FFF2-40B4-BE49-F238E27FC236}">
                <a16:creationId xmlns:a16="http://schemas.microsoft.com/office/drawing/2014/main" id="{68800BDB-BB32-483F-8297-3A2ACFA3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0858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guide-route-9">
            <a:extLst xmlns:a="http://schemas.openxmlformats.org/drawingml/2006/main">
              <a:ext uri="{FF2B5EF4-FFF2-40B4-BE49-F238E27FC236}">
                <a16:creationId xmlns:a16="http://schemas.microsoft.com/office/drawing/2014/main" id="{A7B824AF-D160-4FEF-95CA-72D23C4F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C3C"/>
                </a:solidFill>
              </a:defRPr>
            </a:pPr>
            <a:r>
              <a:rPr sz="2175" b="1">
                <a:solidFill>
                  <a:srgbClr val="174C3C"/>
                </a:solidFill>
              </a:rPr>
              <a:t>Users &gt; All Users &gt; Delete</a:t>
            </a:r>
          </a:p>
        </p:txBody>
      </p:sp>
      <p:sp>
        <p:nvSpPr>
          <p:cNvPr id="29" name="guide-body-9">
            <a:extLst xmlns:a="http://schemas.openxmlformats.org/drawingml/2006/main">
              <a:ext uri="{FF2B5EF4-FFF2-40B4-BE49-F238E27FC236}">
                <a16:creationId xmlns:a16="http://schemas.microsoft.com/office/drawing/2014/main" id="{F67B1A4F-87AF-4F15-ACEC-D8BC9578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1. Confirm the exact departing staff account before selecting Delete.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2. Choose Attribute all content to an approved continuing Administrator, such as Rebekah.</a:t>
            </a:r>
          </a:p>
          <a:p xmlns:a="http://schemas.openxmlformats.org/drawingml/2006/main">
            <a:pPr>
              <a:defRPr sz="1800">
                <a:solidFill>
                  <a:srgbClr val="26342E"/>
                </a:solidFill>
              </a:defRPr>
            </a:pPr>
            <a:r>
              <a:rPr sz="1800">
                <a:solidFill>
                  <a:srgbClr val="26342E"/>
                </a:solidFill>
              </a:rPr>
              <a:t>3. Never choose Delete all content unless Blue Nova has reviewed the account and approved it.</a:t>
            </a:r>
          </a:p>
        </p:txBody>
      </p:sp>
      <p:sp>
        <p:nvSpPr>
          <p:cNvPr id="30" name="guide-warning-9">
            <a:extLst xmlns:a="http://schemas.openxmlformats.org/drawingml/2006/main">
              <a:ext uri="{FF2B5EF4-FFF2-40B4-BE49-F238E27FC236}">
                <a16:creationId xmlns:a16="http://schemas.microsoft.com/office/drawing/2014/main" id="{B0BACE84-DB2A-4C67-8256-DADBFB7F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53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D4961"/>
                </a:solidFill>
              </a:defRPr>
            </a:pPr>
            <a:r>
              <a:rPr sz="1350" b="1">
                <a:solidFill>
                  <a:srgbClr val="8D4961"/>
                </a:solidFill>
              </a:rPr>
              <a:t>Follow the steps in order. Stop when the screen does not match.</a:t>
            </a:r>
          </a:p>
        </p:txBody>
      </p:sp>
    </p:spTree>
    <p:extLst>
      <p:ext uri="{BB962C8B-B14F-4D97-AF65-F5344CB8AC3E}">
        <p14:creationId xmlns:p14="http://schemas.microsoft.com/office/powerpoint/2010/main" val="17724168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56D56CF1-CB42-43F8-A171-CAD658D5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F12736A-3237-432B-A27F-95B5DF3A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Finish by confirming the correct access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96965DEC-E8BD-4604-B486-4FCC9370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261E1EE3-6C69-493C-8A0E-3A5F5D27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6342E"/>
                </a:solidFill>
              </a:defRPr>
            </a:pPr>
            <a:r>
              <a:rPr sz="1500" b="1">
                <a:solidFill>
                  <a:srgbClr val="26342E"/>
                </a:solidFill>
              </a:rPr>
              <a:t>DONE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770A9C1-8828-4AC2-BAB6-54F4919F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Staff access v1.1  |  13/13</a:t>
            </a:r>
          </a:p>
        </p:txBody>
      </p:sp>
      <p:sp>
        <p:nvSpPr>
          <p:cNvPr id="6" name="closing">
            <a:extLst xmlns:a="http://schemas.openxmlformats.org/drawingml/2006/main">
              <a:ext uri="{FF2B5EF4-FFF2-40B4-BE49-F238E27FC236}">
                <a16:creationId xmlns:a16="http://schemas.microsoft.com/office/drawing/2014/main" id="{C20E6F55-B1B6-4049-95D7-58D9DF00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4125"/>
            <a:ext cx="154305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74C3C"/>
          </a:solidFill>
          <a:ln xmlns:a="http://schemas.openxmlformats.org/drawingml/2006/main" w="9525">
            <a:solidFill>
              <a:srgbClr val="174C3C"/>
            </a:solidFill>
            <a:prstDash val="solid"/>
          </a:ln>
        </p:spPr>
      </p:sp>
      <p:sp>
        <p:nvSpPr>
          <p:cNvPr id="7" name="closing-main">
            <a:extLst xmlns:a="http://schemas.openxmlformats.org/drawingml/2006/main">
              <a:ext uri="{FF2B5EF4-FFF2-40B4-BE49-F238E27FC236}">
                <a16:creationId xmlns:a16="http://schemas.microsoft.com/office/drawing/2014/main" id="{B82384AB-1979-489F-BB04-85435FC7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24250"/>
            <a:ext cx="1343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CONFIRM PERSON  &gt;  MINIMUM ROLE  &gt;  VERIFY ACCESS</a:t>
            </a:r>
          </a:p>
        </p:txBody>
      </p:sp>
      <p:sp>
        <p:nvSpPr>
          <p:cNvPr id="8" name="closing-sub">
            <a:extLst xmlns:a="http://schemas.openxmlformats.org/drawingml/2006/main">
              <a:ext uri="{FF2B5EF4-FFF2-40B4-BE49-F238E27FC236}">
                <a16:creationId xmlns:a16="http://schemas.microsoft.com/office/drawing/2014/main" id="{D717D01D-A1BB-48AE-AF6E-28C4FB58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91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Every staff member keeps a separate login. Remove access promptly when employment or duties change.</a:t>
            </a:r>
          </a:p>
        </p:txBody>
      </p:sp>
      <p:sp>
        <p:nvSpPr>
          <p:cNvPr id="9" name="closing-help">
            <a:extLst xmlns:a="http://schemas.openxmlformats.org/drawingml/2006/main">
              <a:ext uri="{FF2B5EF4-FFF2-40B4-BE49-F238E27FC236}">
                <a16:creationId xmlns:a16="http://schemas.microsoft.com/office/drawing/2014/main" id="{01968A25-814D-43CE-B680-CB35891D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143750"/>
            <a:ext cx="1219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8E4B61"/>
                </a:solidFill>
              </a:defRPr>
            </a:pPr>
            <a:r>
              <a:rPr sz="2025">
                <a:solidFill>
                  <a:srgbClr val="8E4B61"/>
                </a:solidFill>
              </a:rPr>
              <a:t>If you are unsure about a role, an Administrator, or content reassignment, stop and contact Blue Nova.</a:t>
            </a:r>
          </a:p>
        </p:txBody>
      </p:sp>
    </p:spTree>
    <p:extLst>
      <p:ext uri="{BB962C8B-B14F-4D97-AF65-F5344CB8AC3E}">
        <p14:creationId xmlns:p14="http://schemas.microsoft.com/office/powerpoint/2010/main" val="773685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2026-09-01T16:43:39.1820000Z</dcterms:created>
  <dcterms:modified xsi:type="dcterms:W3CDTF">2026-09-01T16:43:39.1820000Z</dcterms:modified>
</coreProperties>
</file>