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757d30a86444a2" /><Relationship Type="http://schemas.openxmlformats.org/officeDocument/2006/relationships/extended-properties" Target="/docProps/app.xml" Id="R9005dc231c794d9b" /><Relationship Type="http://schemas.openxmlformats.org/officeDocument/2006/relationships/officeDocument" Target="/ppt/presentation.xml" Id="Rd6c333fe51f94c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de405af4fb448b"/>
  </p:sldMasterIdLst>
  <p:notesMasterIdLst>
    <p:notesMasterId xmlns:r="http://schemas.openxmlformats.org/officeDocument/2006/relationships" r:id="R5569b7a7e7044afe"/>
  </p:notesMasterIdLst>
  <p:sldIdLst>
    <p:sldId xmlns:r="http://schemas.openxmlformats.org/officeDocument/2006/relationships" id="256" r:id="R2369b89ad57c4576"/>
    <p:sldId xmlns:r="http://schemas.openxmlformats.org/officeDocument/2006/relationships" id="257" r:id="Ra33ae24d155a45f8"/>
    <p:sldId xmlns:r="http://schemas.openxmlformats.org/officeDocument/2006/relationships" id="258" r:id="R83e989562d2f4a85"/>
    <p:sldId xmlns:r="http://schemas.openxmlformats.org/officeDocument/2006/relationships" id="259" r:id="R2cbed0a08b724457"/>
    <p:sldId xmlns:r="http://schemas.openxmlformats.org/officeDocument/2006/relationships" id="260" r:id="R492c67d0ea9544ee"/>
    <p:sldId xmlns:r="http://schemas.openxmlformats.org/officeDocument/2006/relationships" id="261" r:id="R60903b03a67d49ad"/>
    <p:sldId xmlns:r="http://schemas.openxmlformats.org/officeDocument/2006/relationships" id="262" r:id="Rc523f47b333b4c38"/>
    <p:sldId xmlns:r="http://schemas.openxmlformats.org/officeDocument/2006/relationships" id="263" r:id="R2f64c824e90e4425"/>
    <p:sldId xmlns:r="http://schemas.openxmlformats.org/officeDocument/2006/relationships" id="264" r:id="Re1ab0bbc927542b9"/>
    <p:sldId xmlns:r="http://schemas.openxmlformats.org/officeDocument/2006/relationships" id="265" r:id="R86fed5813d234b3f"/>
    <p:sldId xmlns:r="http://schemas.openxmlformats.org/officeDocument/2006/relationships" id="266" r:id="Rabb5166fc03e4962"/>
    <p:sldId xmlns:r="http://schemas.openxmlformats.org/officeDocument/2006/relationships" id="267" r:id="Rced90d64957d429a"/>
    <p:sldId xmlns:r="http://schemas.openxmlformats.org/officeDocument/2006/relationships" id="268" r:id="R8cb05691574448c4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22b8afb8364da9" /><Relationship Type="http://schemas.openxmlformats.org/officeDocument/2006/relationships/slideMaster" Target="/ppt/slideMasters/slideMaster1.xml" Id="R2ade405af4fb448b" /><Relationship Type="http://schemas.openxmlformats.org/officeDocument/2006/relationships/notesMaster" Target="/ppt/notesMasters/notesMaster1.xml" Id="R5569b7a7e7044afe" /><Relationship Type="http://schemas.openxmlformats.org/officeDocument/2006/relationships/presProps" Target="/ppt/presProps.xml" Id="R9798737051f54dde" /><Relationship Type="http://schemas.openxmlformats.org/officeDocument/2006/relationships/tableStyles" Target="/ppt/tableStyles.xml" Id="R8b13f1b166124886" /><Relationship Type="http://schemas.openxmlformats.org/officeDocument/2006/relationships/slide" Target="/ppt/slides/slide1.xml" Id="R2369b89ad57c4576" /><Relationship Type="http://schemas.openxmlformats.org/officeDocument/2006/relationships/slide" Target="/ppt/slides/slide2.xml" Id="Ra33ae24d155a45f8" /><Relationship Type="http://schemas.openxmlformats.org/officeDocument/2006/relationships/slide" Target="/ppt/slides/slide3.xml" Id="R83e989562d2f4a85" /><Relationship Type="http://schemas.openxmlformats.org/officeDocument/2006/relationships/slide" Target="/ppt/slides/slide4.xml" Id="R2cbed0a08b724457" /><Relationship Type="http://schemas.openxmlformats.org/officeDocument/2006/relationships/slide" Target="/ppt/slides/slide5.xml" Id="R492c67d0ea9544ee" /><Relationship Type="http://schemas.openxmlformats.org/officeDocument/2006/relationships/slide" Target="/ppt/slides/slide6.xml" Id="R60903b03a67d49ad" /><Relationship Type="http://schemas.openxmlformats.org/officeDocument/2006/relationships/slide" Target="/ppt/slides/slide7.xml" Id="Rc523f47b333b4c38" /><Relationship Type="http://schemas.openxmlformats.org/officeDocument/2006/relationships/slide" Target="/ppt/slides/slide8.xml" Id="R2f64c824e90e4425" /><Relationship Type="http://schemas.openxmlformats.org/officeDocument/2006/relationships/slide" Target="/ppt/slides/slide9.xml" Id="Re1ab0bbc927542b9" /><Relationship Type="http://schemas.openxmlformats.org/officeDocument/2006/relationships/slide" Target="/ppt/slides/slide10.xml" Id="R86fed5813d234b3f" /><Relationship Type="http://schemas.openxmlformats.org/officeDocument/2006/relationships/slide" Target="/ppt/slides/slide11.xml" Id="Rabb5166fc03e4962" /><Relationship Type="http://schemas.openxmlformats.org/officeDocument/2006/relationships/slide" Target="/ppt/slides/slide12.xml" Id="Rced90d64957d429a" /><Relationship Type="http://schemas.openxmlformats.org/officeDocument/2006/relationships/slide" Target="/ppt/slides/slide13.xml" Id="R8cb05691574448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c58083216a4a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b3357c0526455f" /><Relationship Type="http://schemas.openxmlformats.org/officeDocument/2006/relationships/notesMaster" Target="/ppt/notesMasters/notesMaster1.xml" Id="Rb9b6e78c37c34b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c93e16b67f43d5" /><Relationship Type="http://schemas.openxmlformats.org/officeDocument/2006/relationships/notesMaster" Target="/ppt/notesMasters/notesMaster1.xml" Id="R9497c9ca70aa48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b0c264dee349b1" /><Relationship Type="http://schemas.openxmlformats.org/officeDocument/2006/relationships/notesMaster" Target="/ppt/notesMasters/notesMaster1.xml" Id="Ra1c08def18334e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359e4c5f8649d2" /><Relationship Type="http://schemas.openxmlformats.org/officeDocument/2006/relationships/notesMaster" Target="/ppt/notesMasters/notesMaster1.xml" Id="Rf03324ab8e2145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4e27cbab364c3a" /><Relationship Type="http://schemas.openxmlformats.org/officeDocument/2006/relationships/notesMaster" Target="/ppt/notesMasters/notesMaster1.xml" Id="R607b0ca4c5d045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031cb1a2ab4bd4" /><Relationship Type="http://schemas.openxmlformats.org/officeDocument/2006/relationships/notesMaster" Target="/ppt/notesMasters/notesMaster1.xml" Id="Reeda0a1a83714c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05946faff7469b" /><Relationship Type="http://schemas.openxmlformats.org/officeDocument/2006/relationships/notesMaster" Target="/ppt/notesMasters/notesMaster1.xml" Id="R22d96178a21442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af2cfc80a84667" /><Relationship Type="http://schemas.openxmlformats.org/officeDocument/2006/relationships/notesMaster" Target="/ppt/notesMasters/notesMaster1.xml" Id="R4313f35351ce4a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68e4c994106470e" /><Relationship Type="http://schemas.openxmlformats.org/officeDocument/2006/relationships/notesMaster" Target="/ppt/notesMasters/notesMaster1.xml" Id="R568d302554744bf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f39155a5df7476e" /><Relationship Type="http://schemas.openxmlformats.org/officeDocument/2006/relationships/notesMaster" Target="/ppt/notesMasters/notesMaster1.xml" Id="R01017a9dcd154e2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60ba15bb4b44639" /><Relationship Type="http://schemas.openxmlformats.org/officeDocument/2006/relationships/notesMaster" Target="/ppt/notesMasters/notesMaster1.xml" Id="Rc3660268a44b4de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19b5c2ddee6469b" /><Relationship Type="http://schemas.openxmlformats.org/officeDocument/2006/relationships/notesMaster" Target="/ppt/notesMasters/notesMaster1.xml" Id="Rcbbc0bd669da4a2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b862b8f5a794084" /><Relationship Type="http://schemas.openxmlformats.org/officeDocument/2006/relationships/notesMaster" Target="/ppt/notesMasters/notesMaster1.xml" Id="R1da122f502e041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Existing first-party WordPress captures and approved workflow records.</a:t>
            </a:r>
          </a:p>
          <a:p xmlns:a="http://schemas.openxmlformats.org/drawingml/2006/main">
            <a:r>
              <a:t>- No test blog post, live content change, cache purge, media upload, or setting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Existing first-party WordPress captures and approved workflow records.</a:t>
            </a:r>
          </a:p>
          <a:p xmlns:a="http://schemas.openxmlformats.org/drawingml/2006/main">
            <a:r>
              <a:t>- No test blog post, live content change, cache purge, media upload, or setting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Existing first-party WordPress captures and approved workflow records.</a:t>
            </a:r>
          </a:p>
          <a:p xmlns:a="http://schemas.openxmlformats.org/drawingml/2006/main">
            <a:r>
              <a:t>- No test blog post, live content change, cache purge, media upload, or setting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Existing first-party WordPress captures and approved workflow records.</a:t>
            </a:r>
          </a:p>
          <a:p xmlns:a="http://schemas.openxmlformats.org/drawingml/2006/main">
            <a:r>
              <a:t>- No test blog post, live content change, cache purge, media upload, or setting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Existing first-party WordPress captures and approved workflow records.</a:t>
            </a:r>
          </a:p>
          <a:p xmlns:a="http://schemas.openxmlformats.org/drawingml/2006/main">
            <a:r>
              <a:t>- No test blog post, live content change, cache purge, media upload, or setting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Existing first-party WordPress captures and approved workflow records.</a:t>
            </a:r>
          </a:p>
          <a:p xmlns:a="http://schemas.openxmlformats.org/drawingml/2006/main">
            <a:r>
              <a:t>- No test blog post, live content change, cache purge, media upload, or setting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Existing first-party WordPress captures and approved workflow records.</a:t>
            </a:r>
          </a:p>
          <a:p xmlns:a="http://schemas.openxmlformats.org/drawingml/2006/main">
            <a:r>
              <a:t>- No test blog post, live content change, cache purge, media upload, or setting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Existing first-party WordPress captures and approved workflow records.</a:t>
            </a:r>
          </a:p>
          <a:p xmlns:a="http://schemas.openxmlformats.org/drawingml/2006/main">
            <a:r>
              <a:t>- No test blog post, live content change, cache purge, media upload, or setting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Existing first-party WordPress captures and approved workflow records.</a:t>
            </a:r>
          </a:p>
          <a:p xmlns:a="http://schemas.openxmlformats.org/drawingml/2006/main">
            <a:r>
              <a:t>- No test blog post, live content change, cache purge, media upload, or setting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Existing first-party WordPress captures and approved workflow records.</a:t>
            </a:r>
          </a:p>
          <a:p xmlns:a="http://schemas.openxmlformats.org/drawingml/2006/main">
            <a:r>
              <a:t>- No test blog post, live content change, cache purge, media upload, or setting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Existing first-party WordPress captures and approved workflow records.</a:t>
            </a:r>
          </a:p>
          <a:p xmlns:a="http://schemas.openxmlformats.org/drawingml/2006/main">
            <a:r>
              <a:t>- No test blog post, live content change, cache purge, media upload, or setting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Existing first-party WordPress captures and approved workflow records.</a:t>
            </a:r>
          </a:p>
          <a:p xmlns:a="http://schemas.openxmlformats.org/drawingml/2006/main">
            <a:r>
              <a:t>- No test blog post, live content change, cache purge, media upload, or setting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Rebekah project training standard and client records in CLIENT-NOTES.md.</a:t>
            </a:r>
          </a:p>
          <a:p xmlns:a="http://schemas.openxmlformats.org/drawingml/2006/main">
            <a:r>
              <a:t>- Existing first-party WordPress captures and approved workflow records.</a:t>
            </a:r>
          </a:p>
          <a:p xmlns:a="http://schemas.openxmlformats.org/drawingml/2006/main">
            <a:r>
              <a:t>- No test blog post, live content change, cache purge, media upload, or setting change was used to create this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98e6a32e184c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7ff9243a6c4ea5" /><Relationship Type="http://schemas.openxmlformats.org/officeDocument/2006/relationships/slideLayout" Target="/ppt/slideLayouts/slideLayout1.xml" Id="Rb5216bec739b4a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216bec739b4a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4d6da978694a56" /><Relationship Type="http://schemas.openxmlformats.org/officeDocument/2006/relationships/image" Target="/ppt/media/image.png" Id="Red8a9986f25f499d" /><Relationship Type="http://schemas.openxmlformats.org/officeDocument/2006/relationships/notesSlide" Target="/ppt/notesSlides/notesSlide1.xml" Id="Rb3a48716c78541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edea987e641c4" /><Relationship Type="http://schemas.openxmlformats.org/officeDocument/2006/relationships/notesSlide" Target="/ppt/notesSlides/notesSlide2.xml" Id="R3dc86902735b4d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59c8c5b224068" /><Relationship Type="http://schemas.openxmlformats.org/officeDocument/2006/relationships/notesSlide" Target="/ppt/notesSlides/notesSlide3.xml" Id="R18bd9ff0d2894f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af72f9761143cb" /><Relationship Type="http://schemas.openxmlformats.org/officeDocument/2006/relationships/image" Target="/ppt/media/image.jpeg" Id="Rfab68862090e4964" /><Relationship Type="http://schemas.openxmlformats.org/officeDocument/2006/relationships/image" Target="/ppt/media/image2.jpeg" Id="R3a79b2c61c7546ae" /><Relationship Type="http://schemas.openxmlformats.org/officeDocument/2006/relationships/image" Target="/ppt/media/image3.jpeg" Id="R8dd8fb36eb7b4e4e" /><Relationship Type="http://schemas.openxmlformats.org/officeDocument/2006/relationships/notesSlide" Target="/ppt/notesSlides/notesSlide4.xml" Id="Re7626995f22a45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b9c4e195ef48bd" /><Relationship Type="http://schemas.openxmlformats.org/officeDocument/2006/relationships/image" Target="/ppt/media/image4.jpeg" Id="R19bb4c5c4faa4e88" /><Relationship Type="http://schemas.openxmlformats.org/officeDocument/2006/relationships/image" Target="/ppt/media/image5.jpeg" Id="R6408d2837e7b4c3f" /><Relationship Type="http://schemas.openxmlformats.org/officeDocument/2006/relationships/image" Target="/ppt/media/image6.jpeg" Id="R5898499d4f89453c" /><Relationship Type="http://schemas.openxmlformats.org/officeDocument/2006/relationships/notesSlide" Target="/ppt/notesSlides/notesSlide5.xml" Id="R6e1d514b076b4c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7bc4496eae42d4" /><Relationship Type="http://schemas.openxmlformats.org/officeDocument/2006/relationships/image" Target="/ppt/media/image7.jpeg" Id="Rc2b08a6ee0e54309" /><Relationship Type="http://schemas.openxmlformats.org/officeDocument/2006/relationships/image" Target="/ppt/media/image8.jpeg" Id="Rb28ec5e9473548ed" /><Relationship Type="http://schemas.openxmlformats.org/officeDocument/2006/relationships/image" Target="/ppt/media/image9.jpeg" Id="R518e4bde6df94747" /><Relationship Type="http://schemas.openxmlformats.org/officeDocument/2006/relationships/notesSlide" Target="/ppt/notesSlides/notesSlide6.xml" Id="R3f603673f82e4e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d89c4673c74779" /><Relationship Type="http://schemas.openxmlformats.org/officeDocument/2006/relationships/image" Target="/ppt/media/image10.jpeg" Id="Ra31029b5a55847b3" /><Relationship Type="http://schemas.openxmlformats.org/officeDocument/2006/relationships/image" Target="/ppt/media/image11.jpeg" Id="R0d0f158db2c9428b" /><Relationship Type="http://schemas.openxmlformats.org/officeDocument/2006/relationships/image" Target="/ppt/media/image12.jpeg" Id="R1b6cb3e96cfa4fdd" /><Relationship Type="http://schemas.openxmlformats.org/officeDocument/2006/relationships/notesSlide" Target="/ppt/notesSlides/notesSlide7.xml" Id="Ra5df6b02d96241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e3999790ac469f" /><Relationship Type="http://schemas.openxmlformats.org/officeDocument/2006/relationships/image" Target="/ppt/media/image13.jpeg" Id="Rc75007e62d114e74" /><Relationship Type="http://schemas.openxmlformats.org/officeDocument/2006/relationships/image" Target="/ppt/media/image14.jpeg" Id="Rd4d0185d1d70460b" /><Relationship Type="http://schemas.openxmlformats.org/officeDocument/2006/relationships/image" Target="/ppt/media/image15.jpeg" Id="R607a6558a18b4e8f" /><Relationship Type="http://schemas.openxmlformats.org/officeDocument/2006/relationships/notesSlide" Target="/ppt/notesSlides/notesSlide8.xml" Id="R1f6e7a913bde48b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c50c9728c4ed3" /><Relationship Type="http://schemas.openxmlformats.org/officeDocument/2006/relationships/image" Target="/ppt/media/image16.jpeg" Id="R0f36d015b0c4475f" /><Relationship Type="http://schemas.openxmlformats.org/officeDocument/2006/relationships/image" Target="/ppt/media/image17.jpeg" Id="R6fbcbf3994524c8c" /><Relationship Type="http://schemas.openxmlformats.org/officeDocument/2006/relationships/image" Target="/ppt/media/image18.jpeg" Id="Rae7353a830484b74" /><Relationship Type="http://schemas.openxmlformats.org/officeDocument/2006/relationships/notesSlide" Target="/ppt/notesSlides/notesSlide9.xml" Id="Rb4e729a1c8e94ac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9174175b04617" /><Relationship Type="http://schemas.openxmlformats.org/officeDocument/2006/relationships/image" Target="/ppt/media/image19.jpeg" Id="R6c5807990fca4654" /><Relationship Type="http://schemas.openxmlformats.org/officeDocument/2006/relationships/image" Target="/ppt/media/image20.jpeg" Id="R2529e56805434b6d" /><Relationship Type="http://schemas.openxmlformats.org/officeDocument/2006/relationships/image" Target="/ppt/media/image21.jpeg" Id="R4ddf783f025141f8" /><Relationship Type="http://schemas.openxmlformats.org/officeDocument/2006/relationships/notesSlide" Target="/ppt/notesSlides/notesSlide10.xml" Id="R9aa5ea5c1787470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ed40dbb3cc4c0e" /><Relationship Type="http://schemas.openxmlformats.org/officeDocument/2006/relationships/image" Target="/ppt/media/image22.jpeg" Id="R5a8b3960b4f7432a" /><Relationship Type="http://schemas.openxmlformats.org/officeDocument/2006/relationships/image" Target="/ppt/media/image23.jpeg" Id="Rfcec870176404488" /><Relationship Type="http://schemas.openxmlformats.org/officeDocument/2006/relationships/image" Target="/ppt/media/image24.jpeg" Id="R68fdc7be0014400a" /><Relationship Type="http://schemas.openxmlformats.org/officeDocument/2006/relationships/notesSlide" Target="/ppt/notesSlides/notesSlide11.xml" Id="R594eddaf0e634a2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fcdd4131174411" /><Relationship Type="http://schemas.openxmlformats.org/officeDocument/2006/relationships/image" Target="/ppt/media/image25.jpeg" Id="Rc00ce59bf2c14a26" /><Relationship Type="http://schemas.openxmlformats.org/officeDocument/2006/relationships/image" Target="/ppt/media/image26.jpeg" Id="R7a068f4b617b4c10" /><Relationship Type="http://schemas.openxmlformats.org/officeDocument/2006/relationships/image" Target="/ppt/media/image27.jpeg" Id="R602c503e8cea4335" /><Relationship Type="http://schemas.openxmlformats.org/officeDocument/2006/relationships/notesSlide" Target="/ppt/notesSlides/notesSlide12.xml" Id="R11b08202f0f644c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45a55c234444c" /><Relationship Type="http://schemas.openxmlformats.org/officeDocument/2006/relationships/notesSlide" Target="/ppt/notesSlides/notesSlide13.xml" Id="R836f8bcada3947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eader-band">
            <a:extLst xmlns:a="http://schemas.openxmlformats.org/drawingml/2006/main">
              <a:ext uri="{FF2B5EF4-FFF2-40B4-BE49-F238E27FC236}">
                <a16:creationId xmlns:a16="http://schemas.microsoft.com/office/drawing/2014/main" id="{6BABED52-1D76-4E02-B163-D57F8FB9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013CFB2-C687-4590-B3A8-D1B8DA4B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Create or update a blog post safely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12E3B8FC-D92C-4A0B-99D8-38345304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3EB80B92-E07A-4756-9C00-CE0EB157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6342E"/>
                </a:solidFill>
              </a:defRPr>
            </a:pPr>
            <a:r>
              <a:rPr sz="1500" b="1">
                <a:solidFill>
                  <a:srgbClr val="26342E"/>
                </a:solidFill>
              </a:rPr>
              <a:t>START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184619A-C0FA-4E3E-B352-B352FEB3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Blog editing v1.1  |  1/13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8a9986f25f499d"/>
          <a:stretch xmlns:a="http://schemas.openxmlformats.org/drawingml/2006/main"/>
        </p:blipFill>
        <p:spPr>
          <a:xfrm xmlns:a="http://schemas.openxmlformats.org/drawingml/2006/main">
            <a:off x="1476375" y="3078769"/>
            <a:ext cx="6191250" cy="1843462"/>
          </a:xfrm>
          <a:prstGeom xmlns:a="http://schemas.openxmlformats.org/drawingml/2006/main" prst="rect">
            <a:avLst/>
          </a:prstGeom>
        </p:spPr>
      </p:pic>
      <p:sp>
        <p:nvSpPr>
          <p:cNvPr id="7" name="start-copy">
            <a:extLst xmlns:a="http://schemas.openxmlformats.org/drawingml/2006/main">
              <a:ext uri="{FF2B5EF4-FFF2-40B4-BE49-F238E27FC236}">
                <a16:creationId xmlns:a16="http://schemas.microsoft.com/office/drawing/2014/main" id="{FD0B0792-5661-4247-8D82-0A0B7C3B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62250"/>
            <a:ext cx="7334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>
                <a:solidFill>
                  <a:srgbClr val="26342E"/>
                </a:solidFill>
              </a:defRPr>
            </a:pPr>
            <a:r>
              <a:rPr sz="3150">
                <a:solidFill>
                  <a:srgbClr val="26342E"/>
                </a:solidFill>
              </a:rPr>
              <a:t>Build an approved post as a draft, complete its category, image, links, and SEO, then preview and verify it publicly.</a:t>
            </a:r>
          </a:p>
        </p:txBody>
      </p:sp>
      <p:sp>
        <p:nvSpPr>
          <p:cNvPr id="8" name="start-note">
            <a:extLst xmlns:a="http://schemas.openxmlformats.org/drawingml/2006/main">
              <a:ext uri="{FF2B5EF4-FFF2-40B4-BE49-F238E27FC236}">
                <a16:creationId xmlns:a16="http://schemas.microsoft.com/office/drawing/2014/main" id="{19647DDE-5E81-4CD6-B0A6-D4BB56BB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715000"/>
            <a:ext cx="714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8E4B61"/>
                </a:solidFill>
              </a:defRPr>
            </a:pPr>
            <a:r>
              <a:rPr sz="1875" b="1">
                <a:solidFill>
                  <a:srgbClr val="8E4B61"/>
                </a:solidFill>
              </a:rPr>
              <a:t>Beginner lesson  |  Editor is sufficient  |  No test post created</a:t>
            </a:r>
          </a:p>
        </p:txBody>
      </p:sp>
    </p:spTree>
    <p:extLst>
      <p:ext uri="{BB962C8B-B14F-4D97-AF65-F5344CB8AC3E}">
        <p14:creationId xmlns:p14="http://schemas.microsoft.com/office/powerpoint/2010/main" val="1072115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FAAAC990-8D1E-4DAB-997A-EDFDEDF0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110642C-D403-4382-B182-DA2B80CE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Required WordPress access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DFD6EF21-F493-4E3D-BCA0-F34B881E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EE5A1D67-2C2D-449B-837A-5758D3F2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07D1B88-CE90-4A2F-8E7F-E71C9070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Blog editing v1.1  |  2/13</a:t>
            </a:r>
          </a:p>
        </p:txBody>
      </p:sp>
      <p:sp>
        <p:nvSpPr>
          <p:cNvPr id="6" name="role-label">
            <a:extLst xmlns:a="http://schemas.openxmlformats.org/drawingml/2006/main">
              <a:ext uri="{FF2B5EF4-FFF2-40B4-BE49-F238E27FC236}">
                <a16:creationId xmlns:a16="http://schemas.microsoft.com/office/drawing/2014/main" id="{21CEF488-6E4F-44E8-8F05-6AA6704D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28875"/>
            <a:ext cx="1333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F7D50"/>
                </a:solidFill>
              </a:defRPr>
            </a:pPr>
            <a:r>
              <a:rPr sz="2100" b="1">
                <a:solidFill>
                  <a:srgbClr val="3F7D50"/>
                </a:solidFill>
              </a:rPr>
              <a:t>WORDPRESS ROLE REQUIRED</a:t>
            </a:r>
          </a:p>
        </p:txBody>
      </p:sp>
      <p:sp>
        <p:nvSpPr>
          <p:cNvPr id="7" name="role-value">
            <a:extLst xmlns:a="http://schemas.openxmlformats.org/drawingml/2006/main">
              <a:ext uri="{FF2B5EF4-FFF2-40B4-BE49-F238E27FC236}">
                <a16:creationId xmlns:a16="http://schemas.microsoft.com/office/drawing/2014/main" id="{46264B56-1318-4C06-BC7F-797EDD1C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86125"/>
            <a:ext cx="15240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950" b="1">
                <a:solidFill>
                  <a:srgbClr val="174C3C"/>
                </a:solidFill>
              </a:defRPr>
            </a:pPr>
            <a:r>
              <a:rPr sz="4950" b="1">
                <a:solidFill>
                  <a:srgbClr val="174C3C"/>
                </a:solidFill>
              </a:rPr>
              <a:t>Editor or Administrator</a:t>
            </a:r>
          </a:p>
        </p:txBody>
      </p:sp>
      <p:sp>
        <p:nvSpPr>
          <p:cNvPr id="8" name="enough-box">
            <a:extLst xmlns:a="http://schemas.openxmlformats.org/drawingml/2006/main">
              <a:ext uri="{FF2B5EF4-FFF2-40B4-BE49-F238E27FC236}">
                <a16:creationId xmlns:a16="http://schemas.microsoft.com/office/drawing/2014/main" id="{ADA83475-428E-40B9-B5D2-8A74D03A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05375"/>
            <a:ext cx="83820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sp>
        <p:nvSpPr>
          <p:cNvPr id="9" name="enough">
            <a:extLst xmlns:a="http://schemas.openxmlformats.org/drawingml/2006/main">
              <a:ext uri="{FF2B5EF4-FFF2-40B4-BE49-F238E27FC236}">
                <a16:creationId xmlns:a16="http://schemas.microsoft.com/office/drawing/2014/main" id="{EC6E3E80-72EC-4E67-B118-552C8EFB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38750"/>
            <a:ext cx="742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6342E"/>
                </a:solidFill>
              </a:defRPr>
            </a:pPr>
            <a:r>
              <a:rPr sz="2700" b="1">
                <a:solidFill>
                  <a:srgbClr val="26342E"/>
                </a:solidFill>
              </a:rPr>
              <a:t>Editor access is enough for blog posts.</a:t>
            </a:r>
          </a:p>
        </p:txBody>
      </p:sp>
      <p:sp>
        <p:nvSpPr>
          <p:cNvPr id="10" name="role-stop">
            <a:extLst xmlns:a="http://schemas.openxmlformats.org/drawingml/2006/main">
              <a:ext uri="{FF2B5EF4-FFF2-40B4-BE49-F238E27FC236}">
                <a16:creationId xmlns:a16="http://schemas.microsoft.com/office/drawing/2014/main" id="{D2811582-6E8C-41B2-BFE0-81BE3B23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6953250"/>
            <a:ext cx="1133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8E4B61"/>
                </a:solidFill>
              </a:defRPr>
            </a:pPr>
            <a:r>
              <a:rPr sz="2025">
                <a:solidFill>
                  <a:srgbClr val="8E4B61"/>
                </a:solidFill>
              </a:rPr>
              <a:t>Do not use Administrator for routine writing. If Posts is missing, stop and ask the website administrator.</a:t>
            </a:r>
          </a:p>
        </p:txBody>
      </p:sp>
    </p:spTree>
    <p:extLst>
      <p:ext uri="{BB962C8B-B14F-4D97-AF65-F5344CB8AC3E}">
        <p14:creationId xmlns:p14="http://schemas.microsoft.com/office/powerpoint/2010/main" val="20542082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eader-band">
            <a:extLst xmlns:a="http://schemas.openxmlformats.org/drawingml/2006/main">
              <a:ext uri="{FF2B5EF4-FFF2-40B4-BE49-F238E27FC236}">
                <a16:creationId xmlns:a16="http://schemas.microsoft.com/office/drawing/2014/main" id="{2B7229F9-12EB-49C1-BA2F-1EBD7566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84242D1-95A4-4875-8EFC-38843ACC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Prepare the approved article materials first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4482FD05-761F-49C3-ACA9-8030C49E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D1A4DEB5-1AD2-490C-AE6C-62F09632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2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0E01E7C-6E97-4CF2-99D3-70E0A378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Blog editing v1.1  |  3/13</a:t>
            </a:r>
          </a:p>
        </p:txBody>
      </p:sp>
      <p:sp>
        <p:nvSpPr>
          <p:cNvPr id="6" name="login-label">
            <a:extLst xmlns:a="http://schemas.openxmlformats.org/drawingml/2006/main">
              <a:ext uri="{FF2B5EF4-FFF2-40B4-BE49-F238E27FC236}">
                <a16:creationId xmlns:a16="http://schemas.microsoft.com/office/drawing/2014/main" id="{78C377A7-C011-4BCE-9725-1E6D1FCD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14625"/>
            <a:ext cx="1352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F7D50"/>
                </a:solidFill>
              </a:defRPr>
            </a:pPr>
            <a:r>
              <a:rPr sz="2100" b="1">
                <a:solidFill>
                  <a:srgbClr val="3F7D50"/>
                </a:solidFill>
              </a:rPr>
              <a:t>BEFORE OPENING POSTS</a:t>
            </a:r>
          </a:p>
        </p:txBody>
      </p:sp>
      <p:sp>
        <p:nvSpPr>
          <p:cNvPr id="7" name="url-box">
            <a:extLst xmlns:a="http://schemas.openxmlformats.org/drawingml/2006/main">
              <a:ext uri="{FF2B5EF4-FFF2-40B4-BE49-F238E27FC236}">
                <a16:creationId xmlns:a16="http://schemas.microsoft.com/office/drawing/2014/main" id="{676B7AB7-D045-4FD8-A8ED-29D78FDD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76625"/>
            <a:ext cx="14668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sp>
        <p:nvSpPr>
          <p:cNvPr id="8" name="login-url">
            <a:extLst xmlns:a="http://schemas.openxmlformats.org/drawingml/2006/main">
              <a:ext uri="{FF2B5EF4-FFF2-40B4-BE49-F238E27FC236}">
                <a16:creationId xmlns:a16="http://schemas.microsoft.com/office/drawing/2014/main" id="{DAB01ED3-B55B-44DD-90E8-1EA47BA4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00500"/>
            <a:ext cx="1333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174C3C"/>
                </a:solidFill>
              </a:defRPr>
            </a:pPr>
            <a:r>
              <a:rPr sz="3900" b="1">
                <a:solidFill>
                  <a:srgbClr val="174C3C"/>
                </a:solidFill>
              </a:rPr>
              <a:t>final copy  |  approved category  |  featured image  |  links</a:t>
            </a:r>
          </a:p>
        </p:txBody>
      </p:sp>
      <p:sp>
        <p:nvSpPr>
          <p:cNvPr id="9" name="login-note">
            <a:extLst xmlns:a="http://schemas.openxmlformats.org/drawingml/2006/main">
              <a:ext uri="{FF2B5EF4-FFF2-40B4-BE49-F238E27FC236}">
                <a16:creationId xmlns:a16="http://schemas.microsoft.com/office/drawing/2014/main" id="{823C3F0D-DF47-464F-AAC9-2EC9A4A3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191250"/>
            <a:ext cx="1257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8E4B61"/>
                </a:solidFill>
              </a:defRPr>
            </a:pPr>
            <a:r>
              <a:rPr sz="2250">
                <a:solidFill>
                  <a:srgbClr val="8E4B61"/>
                </a:solidFill>
              </a:rPr>
              <a:t>Do not invent health claims, prices, dates, author details, or image rights.</a:t>
            </a:r>
          </a:p>
        </p:txBody>
      </p:sp>
    </p:spTree>
    <p:extLst>
      <p:ext uri="{BB962C8B-B14F-4D97-AF65-F5344CB8AC3E}">
        <p14:creationId xmlns:p14="http://schemas.microsoft.com/office/powerpoint/2010/main" val="8364025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3F343D95-AE8C-4643-9299-156D56A3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1C60F5D-5F4D-45D1-8EDD-73316956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Open Posts and choose the correct action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F909A626-4E05-4DAC-91C0-595BB386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CBC08ABB-9DD7-45BB-8B1A-A43284DE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3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ECC1960-09CB-4064-9742-4AA050AA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Blog editing v1.1  |  4/13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F13372F0-B4C6-4533-885B-028729CC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b68862090e4964"/>
          <a:stretch xmlns:a="http://schemas.openxmlformats.org/drawingml/2006/main"/>
        </p:blipFill>
        <p:spPr>
          <a:xfrm xmlns:a="http://schemas.openxmlformats.org/drawingml/2006/main">
            <a:off x="1809483" y="990600"/>
            <a:ext cx="14669033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BC8955B9-8D63-40B6-AD88-D80B9B33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3227451"/>
            <a:ext cx="1334262" cy="1491234"/>
          </a:xfrm>
          <a:prstGeom xmlns:a="http://schemas.openxmlformats.org/drawingml/2006/main" prst="roundRect">
            <a:avLst>
              <a:gd name="adj" fmla="val 5711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F52115E4-E015-493B-932F-F18FDE7A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2770251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ED2AAB70-0013-472B-84D6-E07BC2C6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2894076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04-box">
            <a:extLst xmlns:a="http://schemas.openxmlformats.org/drawingml/2006/main">
              <a:ext uri="{FF2B5EF4-FFF2-40B4-BE49-F238E27FC236}">
                <a16:creationId xmlns:a16="http://schemas.microsoft.com/office/drawing/2014/main" id="{749CC583-2ADA-4B0C-B07C-A70D3941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61937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04-heading">
            <a:extLst xmlns:a="http://schemas.openxmlformats.org/drawingml/2006/main">
              <a:ext uri="{FF2B5EF4-FFF2-40B4-BE49-F238E27FC236}">
                <a16:creationId xmlns:a16="http://schemas.microsoft.com/office/drawing/2014/main" id="{7F25953F-4AE7-4F02-A289-F98AEE3D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790825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04-body">
            <a:extLst xmlns:a="http://schemas.openxmlformats.org/drawingml/2006/main">
              <a:ext uri="{FF2B5EF4-FFF2-40B4-BE49-F238E27FC236}">
                <a16:creationId xmlns:a16="http://schemas.microsoft.com/office/drawing/2014/main" id="{10B576F1-08BF-4DE2-87D4-C0B5EEA2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248025"/>
            <a:ext cx="28765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1. Click Medical Practicioners.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2. Click All Medical Practicioners.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3. Search by name if needed.</a:t>
            </a:r>
          </a:p>
        </p:txBody>
      </p:sp>
      <p:sp>
        <p:nvSpPr>
          <p:cNvPr id="17" name="body-cover">
            <a:extLst xmlns:a="http://schemas.openxmlformats.org/drawingml/2006/main">
              <a:ext uri="{FF2B5EF4-FFF2-40B4-BE49-F238E27FC236}">
                <a16:creationId xmlns:a16="http://schemas.microsoft.com/office/drawing/2014/main" id="{7E47C0BD-FEE9-422F-B0A0-1673A9F4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04875"/>
            <a:ext cx="17754600" cy="8810625"/>
          </a:xfrm>
          <a:prstGeom xmlns:a="http://schemas.openxmlformats.org/drawingml/2006/main" prst="roundRect">
            <a:avLst>
              <a:gd name="adj" fmla="val 129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8" name="event-screen-frame">
            <a:extLst xmlns:a="http://schemas.openxmlformats.org/drawingml/2006/main">
              <a:ext uri="{FF2B5EF4-FFF2-40B4-BE49-F238E27FC236}">
                <a16:creationId xmlns:a16="http://schemas.microsoft.com/office/drawing/2014/main" id="{1662BBA2-2371-44E1-82C1-F0F3C6C4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12192000" cy="771525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9C6A0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79b2c61c7546ae"/>
          <a:stretch xmlns:a="http://schemas.openxmlformats.org/drawingml/2006/main"/>
        </p:blipFill>
        <p:spPr>
          <a:xfrm xmlns:a="http://schemas.openxmlformats.org/drawingml/2006/main">
            <a:off x="552450" y="3647427"/>
            <a:ext cx="11944350" cy="2801646"/>
          </a:xfrm>
          <a:prstGeom xmlns:a="http://schemas.openxmlformats.org/drawingml/2006/main" prst="rect">
            <a:avLst/>
          </a:prstGeom>
        </p:spPr>
      </p:pic>
      <p:sp>
        <p:nvSpPr>
          <p:cNvPr id="20" name="written-panel">
            <a:extLst xmlns:a="http://schemas.openxmlformats.org/drawingml/2006/main">
              <a:ext uri="{FF2B5EF4-FFF2-40B4-BE49-F238E27FC236}">
                <a16:creationId xmlns:a16="http://schemas.microsoft.com/office/drawing/2014/main" id="{5088EA59-FC69-4DFD-AEB9-8557CE66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238375"/>
            <a:ext cx="4524375" cy="476250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21" name="written-heading">
            <a:extLst xmlns:a="http://schemas.openxmlformats.org/drawingml/2006/main">
              <a:ext uri="{FF2B5EF4-FFF2-40B4-BE49-F238E27FC236}">
                <a16:creationId xmlns:a16="http://schemas.microsoft.com/office/drawing/2014/main" id="{24ADEDD5-A0F0-40F7-B877-2DC03B5A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590800"/>
            <a:ext cx="3914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DO THIS</a:t>
            </a:r>
          </a:p>
        </p:txBody>
      </p:sp>
      <p:sp>
        <p:nvSpPr>
          <p:cNvPr id="22" name="written-body">
            <a:extLst xmlns:a="http://schemas.openxmlformats.org/drawingml/2006/main">
              <a:ext uri="{FF2B5EF4-FFF2-40B4-BE49-F238E27FC236}">
                <a16:creationId xmlns:a16="http://schemas.microsoft.com/office/drawing/2014/main" id="{39EE0F66-5A60-4390-B158-F13B6C37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238500"/>
            <a:ext cx="3762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1. Choose new or existing.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2. Match the exact title.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3. Keep new work in Draft.</a:t>
            </a:r>
          </a:p>
        </p:txBody>
      </p:sp>
      <p:sp>
        <p:nvSpPr>
          <p:cNvPr id="25" name="lesson-cover-0">
            <a:extLst xmlns:a="http://schemas.openxmlformats.org/drawingml/2006/main">
              <a:ext uri="{FF2B5EF4-FFF2-40B4-BE49-F238E27FC236}">
                <a16:creationId xmlns:a16="http://schemas.microsoft.com/office/drawing/2014/main" id="{DE90062F-B029-44BF-B72C-07BF05E6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944350" cy="7467600"/>
          </a:xfrm>
          <a:prstGeom xmlns:a="http://schemas.openxmlformats.org/drawingml/2006/main" prst="roundRect">
            <a:avLst>
              <a:gd name="adj" fmla="val 1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6A0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d8fb36eb7b4e4e"/>
          <a:stretch xmlns:a="http://schemas.openxmlformats.org/drawingml/2006/main"/>
        </p:blipFill>
        <p:spPr>
          <a:xfrm xmlns:a="http://schemas.openxmlformats.org/drawingml/2006/main">
            <a:off x="809625" y="2707625"/>
            <a:ext cx="11430000" cy="2681001"/>
          </a:xfrm>
          <a:prstGeom xmlns:a="http://schemas.openxmlformats.org/drawingml/2006/main" prst="rect">
            <a:avLst/>
          </a:prstGeom>
        </p:spPr>
      </p:pic>
      <p:sp>
        <p:nvSpPr>
          <p:cNvPr id="27" name="route-box-0">
            <a:extLst xmlns:a="http://schemas.openxmlformats.org/drawingml/2006/main">
              <a:ext uri="{FF2B5EF4-FFF2-40B4-BE49-F238E27FC236}">
                <a16:creationId xmlns:a16="http://schemas.microsoft.com/office/drawing/2014/main" id="{B383D08F-DD11-49AD-8BC7-4589B30A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715125"/>
            <a:ext cx="11430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28575">
            <a:solidFill>
              <a:srgbClr val="D6A33A"/>
            </a:solidFill>
            <a:prstDash val="solid"/>
          </a:ln>
        </p:spPr>
      </p:sp>
      <p:sp>
        <p:nvSpPr>
          <p:cNvPr id="28" name="route-0">
            <a:extLst xmlns:a="http://schemas.openxmlformats.org/drawingml/2006/main">
              <a:ext uri="{FF2B5EF4-FFF2-40B4-BE49-F238E27FC236}">
                <a16:creationId xmlns:a16="http://schemas.microsoft.com/office/drawing/2014/main" id="{0F745499-D2F7-4F01-913B-309B2D0C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00087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4C3C"/>
                </a:solidFill>
              </a:defRPr>
            </a:pPr>
            <a:r>
              <a:rPr sz="1875" b="1">
                <a:solidFill>
                  <a:srgbClr val="174C3C"/>
                </a:solidFill>
              </a:rPr>
              <a:t>Posts &gt; Add New Post or Posts &gt; All Posts &gt; Edit</a:t>
            </a:r>
          </a:p>
        </p:txBody>
      </p:sp>
      <p:sp>
        <p:nvSpPr>
          <p:cNvPr id="29" name="safe-0">
            <a:extLst xmlns:a="http://schemas.openxmlformats.org/drawingml/2006/main">
              <a:ext uri="{FF2B5EF4-FFF2-40B4-BE49-F238E27FC236}">
                <a16:creationId xmlns:a16="http://schemas.microsoft.com/office/drawing/2014/main" id="{CA9BAFBA-6DF8-4D52-89F8-98F75D9A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9533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6342E"/>
                </a:solidFill>
              </a:defRPr>
            </a:pPr>
            <a:r>
              <a:rPr sz="1200">
                <a:solidFill>
                  <a:srgbClr val="26342E"/>
                </a:solidFill>
              </a:rPr>
              <a:t>1. Use Add New Post only for an approved new article.</a:t>
            </a:r>
          </a:p>
          <a:p xmlns:a="http://schemas.openxmlformats.org/drawingml/2006/main">
            <a:pPr>
              <a:defRPr sz="1200">
                <a:solidFill>
                  <a:srgbClr val="26342E"/>
                </a:solidFill>
              </a:defRPr>
            </a:pPr>
            <a:r>
              <a:rPr sz="1200">
                <a:solidFill>
                  <a:srgbClr val="26342E"/>
                </a:solidFill>
              </a:rPr>
              <a:t>2. For an update, match the exact title and author before selecting Edit.</a:t>
            </a:r>
          </a:p>
          <a:p xmlns:a="http://schemas.openxmlformats.org/drawingml/2006/main">
            <a:pPr>
              <a:defRPr sz="1200">
                <a:solidFill>
                  <a:srgbClr val="26342E"/>
                </a:solidFill>
              </a:defRPr>
            </a:pPr>
            <a:r>
              <a:rPr sz="1200">
                <a:solidFill>
                  <a:srgbClr val="26342E"/>
                </a:solidFill>
              </a:rPr>
              <a:t>3. Never overwrite another article because its title looks similar.</a:t>
            </a:r>
          </a:p>
        </p:txBody>
      </p:sp>
    </p:spTree>
    <p:extLst>
      <p:ext uri="{BB962C8B-B14F-4D97-AF65-F5344CB8AC3E}">
        <p14:creationId xmlns:p14="http://schemas.microsoft.com/office/powerpoint/2010/main" val="4230552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82829DCF-8334-4A11-92AA-AA873026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09BE32B-C955-439D-AA0F-C0D75D05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Enter the title and article in the main editor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1B7654F2-011D-472C-9567-1F4120A0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7C30ABE2-3453-4749-9378-30981C94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4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E321EEB-9D33-44CE-8749-CE76C91D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Blog editing v1.1  |  5/13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3A46D963-A8F0-44D9-8034-67C6AA1D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bb4c5c4faa4e88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43B94B79-7019-4BCB-BA54-2ED5D3BB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365498"/>
            <a:ext cx="9261348" cy="5101590"/>
          </a:xfrm>
          <a:prstGeom xmlns:a="http://schemas.openxmlformats.org/drawingml/2006/main" prst="roundRect">
            <a:avLst>
              <a:gd name="adj" fmla="val 1494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ED741AFC-ED9D-4B41-A2E1-063C3C0E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3908298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CEEB048B-20E4-418B-A596-BA8ACDE1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4032123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07-box">
            <a:extLst xmlns:a="http://schemas.openxmlformats.org/drawingml/2006/main">
              <a:ext uri="{FF2B5EF4-FFF2-40B4-BE49-F238E27FC236}">
                <a16:creationId xmlns:a16="http://schemas.microsoft.com/office/drawing/2014/main" id="{0F19B1DB-3B3B-49C1-80BC-96FCE752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76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07-heading">
            <a:extLst xmlns:a="http://schemas.openxmlformats.org/drawingml/2006/main">
              <a:ext uri="{FF2B5EF4-FFF2-40B4-BE49-F238E27FC236}">
                <a16:creationId xmlns:a16="http://schemas.microsoft.com/office/drawing/2014/main" id="{82F39FEE-796F-4780-ABB1-8EFCF569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647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07-body">
            <a:extLst xmlns:a="http://schemas.openxmlformats.org/drawingml/2006/main">
              <a:ext uri="{FF2B5EF4-FFF2-40B4-BE49-F238E27FC236}">
                <a16:creationId xmlns:a16="http://schemas.microsoft.com/office/drawing/2014/main" id="{7B905C5E-FC7C-4CAF-A6DE-D492D9B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05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1. Find Medical Service.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2. Check the approved category.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3. Uncheck incorrect categories.</a:t>
            </a:r>
          </a:p>
        </p:txBody>
      </p:sp>
      <p:sp>
        <p:nvSpPr>
          <p:cNvPr id="17" name="body-cover">
            <a:extLst xmlns:a="http://schemas.openxmlformats.org/drawingml/2006/main">
              <a:ext uri="{FF2B5EF4-FFF2-40B4-BE49-F238E27FC236}">
                <a16:creationId xmlns:a16="http://schemas.microsoft.com/office/drawing/2014/main" id="{B43882D0-03D2-4BCD-84DB-F9E4DEF7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04875"/>
            <a:ext cx="17754600" cy="8810625"/>
          </a:xfrm>
          <a:prstGeom xmlns:a="http://schemas.openxmlformats.org/drawingml/2006/main" prst="roundRect">
            <a:avLst>
              <a:gd name="adj" fmla="val 129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8" name="event-screen-frame">
            <a:extLst xmlns:a="http://schemas.openxmlformats.org/drawingml/2006/main">
              <a:ext uri="{FF2B5EF4-FFF2-40B4-BE49-F238E27FC236}">
                <a16:creationId xmlns:a16="http://schemas.microsoft.com/office/drawing/2014/main" id="{7DA31449-9DAA-427A-93C8-37B9E364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12192000" cy="771525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9C6A0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08d2837e7b4c3f"/>
          <a:stretch xmlns:a="http://schemas.openxmlformats.org/drawingml/2006/main"/>
        </p:blipFill>
        <p:spPr>
          <a:xfrm xmlns:a="http://schemas.openxmlformats.org/drawingml/2006/main">
            <a:off x="552450" y="1684774"/>
            <a:ext cx="11944350" cy="6726952"/>
          </a:xfrm>
          <a:prstGeom xmlns:a="http://schemas.openxmlformats.org/drawingml/2006/main" prst="rect">
            <a:avLst/>
          </a:prstGeom>
        </p:spPr>
      </p:pic>
      <p:sp>
        <p:nvSpPr>
          <p:cNvPr id="20" name="written-panel">
            <a:extLst xmlns:a="http://schemas.openxmlformats.org/drawingml/2006/main">
              <a:ext uri="{FF2B5EF4-FFF2-40B4-BE49-F238E27FC236}">
                <a16:creationId xmlns:a16="http://schemas.microsoft.com/office/drawing/2014/main" id="{A1E3021B-660E-41BD-93CD-357A265E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238375"/>
            <a:ext cx="4524375" cy="476250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21" name="written-heading">
            <a:extLst xmlns:a="http://schemas.openxmlformats.org/drawingml/2006/main">
              <a:ext uri="{FF2B5EF4-FFF2-40B4-BE49-F238E27FC236}">
                <a16:creationId xmlns:a16="http://schemas.microsoft.com/office/drawing/2014/main" id="{6482EF53-8E6B-49DC-A44A-E4951D70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590800"/>
            <a:ext cx="3914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DO THIS</a:t>
            </a:r>
          </a:p>
        </p:txBody>
      </p:sp>
      <p:sp>
        <p:nvSpPr>
          <p:cNvPr id="22" name="written-body">
            <a:extLst xmlns:a="http://schemas.openxmlformats.org/drawingml/2006/main">
              <a:ext uri="{FF2B5EF4-FFF2-40B4-BE49-F238E27FC236}">
                <a16:creationId xmlns:a16="http://schemas.microsoft.com/office/drawing/2014/main" id="{3DC65744-926C-4842-97D8-28F93924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238500"/>
            <a:ext cx="3762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1. Use the approved title.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2. Format for easy reading.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3. Save Draft while working.</a:t>
            </a:r>
          </a:p>
        </p:txBody>
      </p:sp>
      <p:sp>
        <p:nvSpPr>
          <p:cNvPr id="25" name="lesson-cover-1">
            <a:extLst xmlns:a="http://schemas.openxmlformats.org/drawingml/2006/main">
              <a:ext uri="{FF2B5EF4-FFF2-40B4-BE49-F238E27FC236}">
                <a16:creationId xmlns:a16="http://schemas.microsoft.com/office/drawing/2014/main" id="{F1011A55-6E6C-4270-A51F-DA8E4171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944350" cy="7467600"/>
          </a:xfrm>
          <a:prstGeom xmlns:a="http://schemas.openxmlformats.org/drawingml/2006/main" prst="roundRect">
            <a:avLst>
              <a:gd name="adj" fmla="val 1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6A0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98499d4f89453c"/>
          <a:stretch xmlns:a="http://schemas.openxmlformats.org/drawingml/2006/main"/>
        </p:blipFill>
        <p:spPr>
          <a:xfrm xmlns:a="http://schemas.openxmlformats.org/drawingml/2006/main">
            <a:off x="2294599" y="1666875"/>
            <a:ext cx="8460052" cy="4762500"/>
          </a:xfrm>
          <a:prstGeom xmlns:a="http://schemas.openxmlformats.org/drawingml/2006/main" prst="rect">
            <a:avLst/>
          </a:prstGeom>
        </p:spPr>
      </p:pic>
      <p:sp>
        <p:nvSpPr>
          <p:cNvPr id="27" name="route-box-1">
            <a:extLst xmlns:a="http://schemas.openxmlformats.org/drawingml/2006/main">
              <a:ext uri="{FF2B5EF4-FFF2-40B4-BE49-F238E27FC236}">
                <a16:creationId xmlns:a16="http://schemas.microsoft.com/office/drawing/2014/main" id="{D0291982-B2C1-42F5-800E-CEBFEE96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715125"/>
            <a:ext cx="11430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28575">
            <a:solidFill>
              <a:srgbClr val="D6A33A"/>
            </a:solidFill>
            <a:prstDash val="solid"/>
          </a:ln>
        </p:spPr>
      </p:sp>
      <p:sp>
        <p:nvSpPr>
          <p:cNvPr id="28" name="route-1">
            <a:extLst xmlns:a="http://schemas.openxmlformats.org/drawingml/2006/main">
              <a:ext uri="{FF2B5EF4-FFF2-40B4-BE49-F238E27FC236}">
                <a16:creationId xmlns:a16="http://schemas.microsoft.com/office/drawing/2014/main" id="{E05AB9BB-6378-45D6-953A-DE4F8B40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00087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4C3C"/>
                </a:solidFill>
              </a:defRPr>
            </a:pPr>
            <a:r>
              <a:rPr sz="1875" b="1">
                <a:solidFill>
                  <a:srgbClr val="174C3C"/>
                </a:solidFill>
              </a:rPr>
              <a:t>Post editor &gt; title and Visual content area</a:t>
            </a:r>
          </a:p>
        </p:txBody>
      </p:sp>
      <p:sp>
        <p:nvSpPr>
          <p:cNvPr id="29" name="safe-1">
            <a:extLst xmlns:a="http://schemas.openxmlformats.org/drawingml/2006/main">
              <a:ext uri="{FF2B5EF4-FFF2-40B4-BE49-F238E27FC236}">
                <a16:creationId xmlns:a16="http://schemas.microsoft.com/office/drawing/2014/main" id="{F95DA515-3D50-4E0B-9EFD-29FDA485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9533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6342E"/>
                </a:solidFill>
              </a:defRPr>
            </a:pPr>
            <a:r>
              <a:rPr sz="1200">
                <a:solidFill>
                  <a:srgbClr val="26342E"/>
                </a:solidFill>
              </a:rPr>
              <a:t>1. Paste the approved title exactly.</a:t>
            </a:r>
          </a:p>
          <a:p xmlns:a="http://schemas.openxmlformats.org/drawingml/2006/main">
            <a:pPr>
              <a:defRPr sz="1200">
                <a:solidFill>
                  <a:srgbClr val="26342E"/>
                </a:solidFill>
              </a:defRPr>
            </a:pPr>
            <a:r>
              <a:rPr sz="1200">
                <a:solidFill>
                  <a:srgbClr val="26342E"/>
                </a:solidFill>
              </a:rPr>
              <a:t>2. Add the article in the main Visual editor using headings and short paragraphs.</a:t>
            </a:r>
          </a:p>
          <a:p xmlns:a="http://schemas.openxmlformats.org/drawingml/2006/main">
            <a:pPr>
              <a:defRPr sz="1200">
                <a:solidFill>
                  <a:srgbClr val="26342E"/>
                </a:solidFill>
              </a:defRPr>
            </a:pPr>
            <a:r>
              <a:rPr sz="1200">
                <a:solidFill>
                  <a:srgbClr val="26342E"/>
                </a:solidFill>
              </a:rPr>
              <a:t>3. Select Save Draft while working; do not publish incomplete copy.</a:t>
            </a:r>
          </a:p>
        </p:txBody>
      </p:sp>
    </p:spTree>
    <p:extLst>
      <p:ext uri="{BB962C8B-B14F-4D97-AF65-F5344CB8AC3E}">
        <p14:creationId xmlns:p14="http://schemas.microsoft.com/office/powerpoint/2010/main" val="10092640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A27D9FC1-5260-4252-BB51-89A72D4D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EFE1540-B34E-4F3E-A3F5-5AEF9AE8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Choose the correct existing category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EBCAA534-4276-4EC9-962E-85E50B92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CDD1637E-34F1-44FD-B840-90B49880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5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54D989C-85DA-4E82-B69E-E4B1A363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Blog editing v1.1  |  6/13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6567CD9E-A9C3-4700-90A4-15F36698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b08a6ee0e54309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F86AD51D-C12E-4956-A090-E4292618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483227"/>
            <a:ext cx="11890629" cy="4709160"/>
          </a:xfrm>
          <a:prstGeom xmlns:a="http://schemas.openxmlformats.org/drawingml/2006/main" prst="roundRect">
            <a:avLst>
              <a:gd name="adj" fmla="val 1618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BEA5DB97-AED1-49C8-BF20-A7B6FD7A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026027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DB60F1F2-6E74-4006-B59B-D0276328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4149852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09-box">
            <a:extLst xmlns:a="http://schemas.openxmlformats.org/drawingml/2006/main">
              <a:ext uri="{FF2B5EF4-FFF2-40B4-BE49-F238E27FC236}">
                <a16:creationId xmlns:a16="http://schemas.microsoft.com/office/drawing/2014/main" id="{4ABC69C6-DAD4-4F33-9D0B-71C0042F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76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09-heading">
            <a:extLst xmlns:a="http://schemas.openxmlformats.org/drawingml/2006/main">
              <a:ext uri="{FF2B5EF4-FFF2-40B4-BE49-F238E27FC236}">
                <a16:creationId xmlns:a16="http://schemas.microsoft.com/office/drawing/2014/main" id="{A67D71E3-0150-41E7-8E63-2A3F7782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647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09-body">
            <a:extLst xmlns:a="http://schemas.openxmlformats.org/drawingml/2006/main">
              <a:ext uri="{FF2B5EF4-FFF2-40B4-BE49-F238E27FC236}">
                <a16:creationId xmlns:a16="http://schemas.microsoft.com/office/drawing/2014/main" id="{7902B29C-2B93-41ED-ABA6-92C8BE4A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05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1. Select Visual.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2. Replace the approved description.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3. Keep the paragraph breaks.</a:t>
            </a:r>
          </a:p>
        </p:txBody>
      </p:sp>
      <p:sp>
        <p:nvSpPr>
          <p:cNvPr id="17" name="body-cover">
            <a:extLst xmlns:a="http://schemas.openxmlformats.org/drawingml/2006/main">
              <a:ext uri="{FF2B5EF4-FFF2-40B4-BE49-F238E27FC236}">
                <a16:creationId xmlns:a16="http://schemas.microsoft.com/office/drawing/2014/main" id="{21417551-7971-46A0-A134-410189F4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04875"/>
            <a:ext cx="17754600" cy="8810625"/>
          </a:xfrm>
          <a:prstGeom xmlns:a="http://schemas.openxmlformats.org/drawingml/2006/main" prst="roundRect">
            <a:avLst>
              <a:gd name="adj" fmla="val 129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8" name="event-screen-frame">
            <a:extLst xmlns:a="http://schemas.openxmlformats.org/drawingml/2006/main">
              <a:ext uri="{FF2B5EF4-FFF2-40B4-BE49-F238E27FC236}">
                <a16:creationId xmlns:a16="http://schemas.microsoft.com/office/drawing/2014/main" id="{4A34A1B5-BC25-4C72-98C7-8779AB7D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12192000" cy="771525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9C6A0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8ec5e9473548ed"/>
          <a:stretch xmlns:a="http://schemas.openxmlformats.org/drawingml/2006/main"/>
        </p:blipFill>
        <p:spPr>
          <a:xfrm xmlns:a="http://schemas.openxmlformats.org/drawingml/2006/main">
            <a:off x="552450" y="1684774"/>
            <a:ext cx="11944350" cy="6726952"/>
          </a:xfrm>
          <a:prstGeom xmlns:a="http://schemas.openxmlformats.org/drawingml/2006/main" prst="rect">
            <a:avLst/>
          </a:prstGeom>
        </p:spPr>
      </p:pic>
      <p:sp>
        <p:nvSpPr>
          <p:cNvPr id="20" name="written-panel">
            <a:extLst xmlns:a="http://schemas.openxmlformats.org/drawingml/2006/main">
              <a:ext uri="{FF2B5EF4-FFF2-40B4-BE49-F238E27FC236}">
                <a16:creationId xmlns:a16="http://schemas.microsoft.com/office/drawing/2014/main" id="{D4D104B4-9A79-4C09-A56B-1E62579D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238375"/>
            <a:ext cx="4524375" cy="476250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21" name="written-heading">
            <a:extLst xmlns:a="http://schemas.openxmlformats.org/drawingml/2006/main">
              <a:ext uri="{FF2B5EF4-FFF2-40B4-BE49-F238E27FC236}">
                <a16:creationId xmlns:a16="http://schemas.microsoft.com/office/drawing/2014/main" id="{BC430E73-5DD1-42E7-9CE8-17998325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590800"/>
            <a:ext cx="3914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DO THIS</a:t>
            </a:r>
          </a:p>
        </p:txBody>
      </p:sp>
      <p:sp>
        <p:nvSpPr>
          <p:cNvPr id="22" name="written-body">
            <a:extLst xmlns:a="http://schemas.openxmlformats.org/drawingml/2006/main">
              <a:ext uri="{FF2B5EF4-FFF2-40B4-BE49-F238E27FC236}">
                <a16:creationId xmlns:a16="http://schemas.microsoft.com/office/drawing/2014/main" id="{6D25D61B-2C29-460D-9FB7-FE4040D8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238500"/>
            <a:ext cx="3762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1. Choose an existing category.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2. Do not create categories.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3. Avoid unnecessary tags.</a:t>
            </a:r>
          </a:p>
        </p:txBody>
      </p:sp>
      <p:sp>
        <p:nvSpPr>
          <p:cNvPr id="25" name="lesson-cover-2">
            <a:extLst xmlns:a="http://schemas.openxmlformats.org/drawingml/2006/main">
              <a:ext uri="{FF2B5EF4-FFF2-40B4-BE49-F238E27FC236}">
                <a16:creationId xmlns:a16="http://schemas.microsoft.com/office/drawing/2014/main" id="{45B91EF1-57AB-49EF-A7FD-267307FF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944350" cy="7467600"/>
          </a:xfrm>
          <a:prstGeom xmlns:a="http://schemas.openxmlformats.org/drawingml/2006/main" prst="roundRect">
            <a:avLst>
              <a:gd name="adj" fmla="val 1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6A0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8e4bde6df94747"/>
          <a:stretch xmlns:a="http://schemas.openxmlformats.org/drawingml/2006/main"/>
        </p:blipFill>
        <p:spPr>
          <a:xfrm xmlns:a="http://schemas.openxmlformats.org/drawingml/2006/main">
            <a:off x="2294599" y="1666875"/>
            <a:ext cx="8460052" cy="4762500"/>
          </a:xfrm>
          <a:prstGeom xmlns:a="http://schemas.openxmlformats.org/drawingml/2006/main" prst="rect">
            <a:avLst/>
          </a:prstGeom>
        </p:spPr>
      </p:pic>
      <p:sp>
        <p:nvSpPr>
          <p:cNvPr id="27" name="route-box-2">
            <a:extLst xmlns:a="http://schemas.openxmlformats.org/drawingml/2006/main">
              <a:ext uri="{FF2B5EF4-FFF2-40B4-BE49-F238E27FC236}">
                <a16:creationId xmlns:a16="http://schemas.microsoft.com/office/drawing/2014/main" id="{756CD752-D2FE-4490-8D0D-2A8255B6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715125"/>
            <a:ext cx="11430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28575">
            <a:solidFill>
              <a:srgbClr val="D6A33A"/>
            </a:solidFill>
            <a:prstDash val="solid"/>
          </a:ln>
        </p:spPr>
      </p:sp>
      <p:sp>
        <p:nvSpPr>
          <p:cNvPr id="28" name="route-2">
            <a:extLst xmlns:a="http://schemas.openxmlformats.org/drawingml/2006/main">
              <a:ext uri="{FF2B5EF4-FFF2-40B4-BE49-F238E27FC236}">
                <a16:creationId xmlns:a16="http://schemas.microsoft.com/office/drawing/2014/main" id="{D4CD5B36-B1FB-4063-85F4-CC856967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00087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4C3C"/>
                </a:solidFill>
              </a:defRPr>
            </a:pPr>
            <a:r>
              <a:rPr sz="1875" b="1">
                <a:solidFill>
                  <a:srgbClr val="174C3C"/>
                </a:solidFill>
              </a:rPr>
              <a:t>Post settings &gt; Categories</a:t>
            </a:r>
          </a:p>
        </p:txBody>
      </p:sp>
      <p:sp>
        <p:nvSpPr>
          <p:cNvPr id="29" name="safe-2">
            <a:extLst xmlns:a="http://schemas.openxmlformats.org/drawingml/2006/main">
              <a:ext uri="{FF2B5EF4-FFF2-40B4-BE49-F238E27FC236}">
                <a16:creationId xmlns:a16="http://schemas.microsoft.com/office/drawing/2014/main" id="{7279CAC3-E89C-424B-B9BB-1F998049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9533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6342E"/>
                </a:solidFill>
              </a:defRPr>
            </a:pPr>
            <a:r>
              <a:rPr sz="1200">
                <a:solidFill>
                  <a:srgbClr val="26342E"/>
                </a:solidFill>
              </a:rPr>
              <a:t>1. Select the one approved category that best fits the article.</a:t>
            </a:r>
          </a:p>
          <a:p xmlns:a="http://schemas.openxmlformats.org/drawingml/2006/main">
            <a:pPr>
              <a:defRPr sz="1200">
                <a:solidFill>
                  <a:srgbClr val="26342E"/>
                </a:solidFill>
              </a:defRPr>
            </a:pPr>
            <a:r>
              <a:rPr sz="1200">
                <a:solidFill>
                  <a:srgbClr val="26342E"/>
                </a:solidFill>
              </a:rPr>
              <a:t>2. Do not create a new category or guess between categories.</a:t>
            </a:r>
          </a:p>
          <a:p xmlns:a="http://schemas.openxmlformats.org/drawingml/2006/main">
            <a:pPr>
              <a:defRPr sz="1200">
                <a:solidFill>
                  <a:srgbClr val="26342E"/>
                </a:solidFill>
              </a:defRPr>
            </a:pPr>
            <a:r>
              <a:rPr sz="1200">
                <a:solidFill>
                  <a:srgbClr val="26342E"/>
                </a:solidFill>
              </a:rPr>
              <a:t>3. Use tags only when the approved process specifically calls for them.</a:t>
            </a:r>
          </a:p>
        </p:txBody>
      </p:sp>
    </p:spTree>
    <p:extLst>
      <p:ext uri="{BB962C8B-B14F-4D97-AF65-F5344CB8AC3E}">
        <p14:creationId xmlns:p14="http://schemas.microsoft.com/office/powerpoint/2010/main" val="21327768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2DA7032F-7E6B-4CE3-B00F-4B702D6A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6057A19-5377-4D1E-B250-2E5DE94F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Add the featured image and accurate alt text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61719648-24DD-438D-94E8-5301BE01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0978755A-D9CA-48B6-9573-E10438ED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6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2A2A232-1E7D-4AD4-B07A-DD9F5827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Blog editing v1.1  |  7/13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C19091F1-2EB5-4DCE-8FD4-4EA769B5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1029b5a55847b3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AE6F87FC-1C92-4486-A3E2-1B7B12C8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287012"/>
            <a:ext cx="11890629" cy="5180076"/>
          </a:xfrm>
          <a:prstGeom xmlns:a="http://schemas.openxmlformats.org/drawingml/2006/main" prst="roundRect">
            <a:avLst>
              <a:gd name="adj" fmla="val 1471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8793BAAC-B320-4576-845D-79F558EE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3829812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6DA7D80F-A0B2-4384-A92A-9B553EF5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3953637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10-box">
            <a:extLst xmlns:a="http://schemas.openxmlformats.org/drawingml/2006/main">
              <a:ext uri="{FF2B5EF4-FFF2-40B4-BE49-F238E27FC236}">
                <a16:creationId xmlns:a16="http://schemas.microsoft.com/office/drawing/2014/main" id="{47D5217A-E42C-4ADF-9103-30D51165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76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10-heading">
            <a:extLst xmlns:a="http://schemas.openxmlformats.org/drawingml/2006/main">
              <a:ext uri="{FF2B5EF4-FFF2-40B4-BE49-F238E27FC236}">
                <a16:creationId xmlns:a16="http://schemas.microsoft.com/office/drawing/2014/main" id="{780B9F1D-0BB3-4C1A-B929-5C80B4BF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647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10-body">
            <a:extLst xmlns:a="http://schemas.openxmlformats.org/drawingml/2006/main">
              <a:ext uri="{FF2B5EF4-FFF2-40B4-BE49-F238E27FC236}">
                <a16:creationId xmlns:a16="http://schemas.microsoft.com/office/drawing/2014/main" id="{59DF0A13-2632-4088-9ED5-479F2E0A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05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1. Add only approved public details.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2. Test every link.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3. Remove outdated contact information.</a:t>
            </a:r>
          </a:p>
        </p:txBody>
      </p:sp>
      <p:sp>
        <p:nvSpPr>
          <p:cNvPr id="17" name="body-cover">
            <a:extLst xmlns:a="http://schemas.openxmlformats.org/drawingml/2006/main">
              <a:ext uri="{FF2B5EF4-FFF2-40B4-BE49-F238E27FC236}">
                <a16:creationId xmlns:a16="http://schemas.microsoft.com/office/drawing/2014/main" id="{8EDCC9F3-24DA-4049-8181-72DAAAAA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04875"/>
            <a:ext cx="17754600" cy="8810625"/>
          </a:xfrm>
          <a:prstGeom xmlns:a="http://schemas.openxmlformats.org/drawingml/2006/main" prst="roundRect">
            <a:avLst>
              <a:gd name="adj" fmla="val 129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8" name="event-screen-frame">
            <a:extLst xmlns:a="http://schemas.openxmlformats.org/drawingml/2006/main">
              <a:ext uri="{FF2B5EF4-FFF2-40B4-BE49-F238E27FC236}">
                <a16:creationId xmlns:a16="http://schemas.microsoft.com/office/drawing/2014/main" id="{1ED9BDE7-F1E3-4F14-940C-2D1C20F1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12192000" cy="771525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9C6A0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0f158db2c9428b"/>
          <a:stretch xmlns:a="http://schemas.openxmlformats.org/drawingml/2006/main"/>
        </p:blipFill>
        <p:spPr>
          <a:xfrm xmlns:a="http://schemas.openxmlformats.org/drawingml/2006/main">
            <a:off x="552450" y="1684774"/>
            <a:ext cx="11944350" cy="6726952"/>
          </a:xfrm>
          <a:prstGeom xmlns:a="http://schemas.openxmlformats.org/drawingml/2006/main" prst="rect">
            <a:avLst/>
          </a:prstGeom>
        </p:spPr>
      </p:pic>
      <p:sp>
        <p:nvSpPr>
          <p:cNvPr id="20" name="written-panel">
            <a:extLst xmlns:a="http://schemas.openxmlformats.org/drawingml/2006/main">
              <a:ext uri="{FF2B5EF4-FFF2-40B4-BE49-F238E27FC236}">
                <a16:creationId xmlns:a16="http://schemas.microsoft.com/office/drawing/2014/main" id="{FA2E18A6-C808-472C-BDCB-82142D8A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238375"/>
            <a:ext cx="4524375" cy="476250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21" name="written-heading">
            <a:extLst xmlns:a="http://schemas.openxmlformats.org/drawingml/2006/main">
              <a:ext uri="{FF2B5EF4-FFF2-40B4-BE49-F238E27FC236}">
                <a16:creationId xmlns:a16="http://schemas.microsoft.com/office/drawing/2014/main" id="{47108EF7-53C2-4EA4-B9A6-EC578D4D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590800"/>
            <a:ext cx="3914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DO THIS</a:t>
            </a:r>
          </a:p>
        </p:txBody>
      </p:sp>
      <p:sp>
        <p:nvSpPr>
          <p:cNvPr id="22" name="written-body">
            <a:extLst xmlns:a="http://schemas.openxmlformats.org/drawingml/2006/main">
              <a:ext uri="{FF2B5EF4-FFF2-40B4-BE49-F238E27FC236}">
                <a16:creationId xmlns:a16="http://schemas.microsoft.com/office/drawing/2014/main" id="{9C69C03C-3655-4E3F-A07D-5C4DB96B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238500"/>
            <a:ext cx="3762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1. Use the approved image.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2. Write useful alt text.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3. Check the crop.</a:t>
            </a:r>
          </a:p>
        </p:txBody>
      </p:sp>
      <p:sp>
        <p:nvSpPr>
          <p:cNvPr id="25" name="lesson-cover-3">
            <a:extLst xmlns:a="http://schemas.openxmlformats.org/drawingml/2006/main">
              <a:ext uri="{FF2B5EF4-FFF2-40B4-BE49-F238E27FC236}">
                <a16:creationId xmlns:a16="http://schemas.microsoft.com/office/drawing/2014/main" id="{5C0C7456-A94E-4558-B08E-C2F24B7E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944350" cy="7467600"/>
          </a:xfrm>
          <a:prstGeom xmlns:a="http://schemas.openxmlformats.org/drawingml/2006/main" prst="roundRect">
            <a:avLst>
              <a:gd name="adj" fmla="val 1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6A0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6cb3e96cfa4fdd"/>
          <a:stretch xmlns:a="http://schemas.openxmlformats.org/drawingml/2006/main"/>
        </p:blipFill>
        <p:spPr>
          <a:xfrm xmlns:a="http://schemas.openxmlformats.org/drawingml/2006/main">
            <a:off x="2294599" y="1666875"/>
            <a:ext cx="8460052" cy="4762500"/>
          </a:xfrm>
          <a:prstGeom xmlns:a="http://schemas.openxmlformats.org/drawingml/2006/main" prst="rect">
            <a:avLst/>
          </a:prstGeom>
        </p:spPr>
      </p:pic>
      <p:sp>
        <p:nvSpPr>
          <p:cNvPr id="27" name="route-box-3">
            <a:extLst xmlns:a="http://schemas.openxmlformats.org/drawingml/2006/main">
              <a:ext uri="{FF2B5EF4-FFF2-40B4-BE49-F238E27FC236}">
                <a16:creationId xmlns:a16="http://schemas.microsoft.com/office/drawing/2014/main" id="{C8BF08F2-F4B5-46E3-91C8-6DD0AF2F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715125"/>
            <a:ext cx="11430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28575">
            <a:solidFill>
              <a:srgbClr val="D6A33A"/>
            </a:solidFill>
            <a:prstDash val="solid"/>
          </a:ln>
        </p:spPr>
      </p:sp>
      <p:sp>
        <p:nvSpPr>
          <p:cNvPr id="28" name="route-3">
            <a:extLst xmlns:a="http://schemas.openxmlformats.org/drawingml/2006/main">
              <a:ext uri="{FF2B5EF4-FFF2-40B4-BE49-F238E27FC236}">
                <a16:creationId xmlns:a16="http://schemas.microsoft.com/office/drawing/2014/main" id="{11CA9172-D4AE-4B73-A911-79A5029C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00087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4C3C"/>
                </a:solidFill>
              </a:defRPr>
            </a:pPr>
            <a:r>
              <a:rPr sz="1875" b="1">
                <a:solidFill>
                  <a:srgbClr val="174C3C"/>
                </a:solidFill>
              </a:rPr>
              <a:t>Post settings &gt; Featured image</a:t>
            </a:r>
          </a:p>
        </p:txBody>
      </p:sp>
      <p:sp>
        <p:nvSpPr>
          <p:cNvPr id="29" name="safe-3">
            <a:extLst xmlns:a="http://schemas.openxmlformats.org/drawingml/2006/main">
              <a:ext uri="{FF2B5EF4-FFF2-40B4-BE49-F238E27FC236}">
                <a16:creationId xmlns:a16="http://schemas.microsoft.com/office/drawing/2014/main" id="{35E05273-18FE-41CE-9358-961694B1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9533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6342E"/>
                </a:solidFill>
              </a:defRPr>
            </a:pPr>
            <a:r>
              <a:rPr sz="1200">
                <a:solidFill>
                  <a:srgbClr val="26342E"/>
                </a:solidFill>
              </a:rPr>
              <a:t>1. Choose an approved landscape image that belongs to this article.</a:t>
            </a:r>
          </a:p>
          <a:p xmlns:a="http://schemas.openxmlformats.org/drawingml/2006/main">
            <a:pPr>
              <a:defRPr sz="1200">
                <a:solidFill>
                  <a:srgbClr val="26342E"/>
                </a:solidFill>
              </a:defRPr>
            </a:pPr>
            <a:r>
              <a:rPr sz="1200">
                <a:solidFill>
                  <a:srgbClr val="26342E"/>
                </a:solidFill>
              </a:rPr>
              <a:t>2. Use a clear filename and descriptive alt text for the image's purpose.</a:t>
            </a:r>
          </a:p>
          <a:p xmlns:a="http://schemas.openxmlformats.org/drawingml/2006/main">
            <a:pPr>
              <a:defRPr sz="1200">
                <a:solidFill>
                  <a:srgbClr val="26342E"/>
                </a:solidFill>
              </a:defRPr>
            </a:pPr>
            <a:r>
              <a:rPr sz="1200">
                <a:solidFill>
                  <a:srgbClr val="26342E"/>
                </a:solidFill>
              </a:rPr>
              <a:t>3. Do not use copyrighted, private, blurry, stretched, or unrelated imagery.</a:t>
            </a:r>
          </a:p>
        </p:txBody>
      </p:sp>
    </p:spTree>
    <p:extLst>
      <p:ext uri="{BB962C8B-B14F-4D97-AF65-F5344CB8AC3E}">
        <p14:creationId xmlns:p14="http://schemas.microsoft.com/office/powerpoint/2010/main" val="17554256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00204415-C09B-43F4-A516-EEC81F60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B162462-8680-4C8A-9A60-07430884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Add links without breaking the reading flow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24D5385C-E589-4C92-8FC7-FC262FF7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40E3938C-6AC8-45DB-A8ED-156F3232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7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CBE663F-4CB9-43B0-A538-E0A353C7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Blog editing v1.1  |  8/13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A9A4AD72-F189-4B70-82FC-AA50CB14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5007e62d114e74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D016561C-4CDD-4D4B-A3FC-65699913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5111115"/>
            <a:ext cx="11890629" cy="2354580"/>
          </a:xfrm>
          <a:prstGeom xmlns:a="http://schemas.openxmlformats.org/drawingml/2006/main" prst="roundRect">
            <a:avLst>
              <a:gd name="adj" fmla="val 3236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F3D2DF43-20BB-42E7-B00E-48996C72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653915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3A18022C-E37F-4BF8-9F20-7B03040C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477774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11-box">
            <a:extLst xmlns:a="http://schemas.openxmlformats.org/drawingml/2006/main">
              <a:ext uri="{FF2B5EF4-FFF2-40B4-BE49-F238E27FC236}">
                <a16:creationId xmlns:a16="http://schemas.microsoft.com/office/drawing/2014/main" id="{675C4915-8EB7-4966-8DF8-3A318ACC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76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11-heading">
            <a:extLst xmlns:a="http://schemas.openxmlformats.org/drawingml/2006/main">
              <a:ext uri="{FF2B5EF4-FFF2-40B4-BE49-F238E27FC236}">
                <a16:creationId xmlns:a16="http://schemas.microsoft.com/office/drawing/2014/main" id="{DB8BA70E-1E1C-42FF-8AD2-9CCC11CA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647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11-body">
            <a:extLst xmlns:a="http://schemas.openxmlformats.org/drawingml/2006/main">
              <a:ext uri="{FF2B5EF4-FFF2-40B4-BE49-F238E27FC236}">
                <a16:creationId xmlns:a16="http://schemas.microsoft.com/office/drawing/2014/main" id="{EF2C2CC5-DFDA-44D3-88A6-EB8D397E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05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1. Re-read every changed field.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2. Compare with the approved information.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3. Fix errors before saving.</a:t>
            </a:r>
          </a:p>
        </p:txBody>
      </p:sp>
      <p:sp>
        <p:nvSpPr>
          <p:cNvPr id="17" name="body-cover">
            <a:extLst xmlns:a="http://schemas.openxmlformats.org/drawingml/2006/main">
              <a:ext uri="{FF2B5EF4-FFF2-40B4-BE49-F238E27FC236}">
                <a16:creationId xmlns:a16="http://schemas.microsoft.com/office/drawing/2014/main" id="{744FCE74-0862-4A7B-A39A-F93F670B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04875"/>
            <a:ext cx="17754600" cy="8810625"/>
          </a:xfrm>
          <a:prstGeom xmlns:a="http://schemas.openxmlformats.org/drawingml/2006/main" prst="roundRect">
            <a:avLst>
              <a:gd name="adj" fmla="val 129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8" name="event-screen-frame">
            <a:extLst xmlns:a="http://schemas.openxmlformats.org/drawingml/2006/main">
              <a:ext uri="{FF2B5EF4-FFF2-40B4-BE49-F238E27FC236}">
                <a16:creationId xmlns:a16="http://schemas.microsoft.com/office/drawing/2014/main" id="{6AF0294B-41F2-4246-9143-7C4DF9DD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12192000" cy="771525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9C6A0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d0185d1d70460b"/>
          <a:stretch xmlns:a="http://schemas.openxmlformats.org/drawingml/2006/main"/>
        </p:blipFill>
        <p:spPr>
          <a:xfrm xmlns:a="http://schemas.openxmlformats.org/drawingml/2006/main">
            <a:off x="552450" y="1684774"/>
            <a:ext cx="11944350" cy="6726952"/>
          </a:xfrm>
          <a:prstGeom xmlns:a="http://schemas.openxmlformats.org/drawingml/2006/main" prst="rect">
            <a:avLst/>
          </a:prstGeom>
        </p:spPr>
      </p:pic>
      <p:sp>
        <p:nvSpPr>
          <p:cNvPr id="20" name="written-panel">
            <a:extLst xmlns:a="http://schemas.openxmlformats.org/drawingml/2006/main">
              <a:ext uri="{FF2B5EF4-FFF2-40B4-BE49-F238E27FC236}">
                <a16:creationId xmlns:a16="http://schemas.microsoft.com/office/drawing/2014/main" id="{D795B593-E452-4062-AE49-1B9A2D63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238375"/>
            <a:ext cx="4524375" cy="476250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21" name="written-heading">
            <a:extLst xmlns:a="http://schemas.openxmlformats.org/drawingml/2006/main">
              <a:ext uri="{FF2B5EF4-FFF2-40B4-BE49-F238E27FC236}">
                <a16:creationId xmlns:a16="http://schemas.microsoft.com/office/drawing/2014/main" id="{39B2A4BB-FCCD-423A-BE74-451B21D7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590800"/>
            <a:ext cx="3914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DO THIS</a:t>
            </a:r>
          </a:p>
        </p:txBody>
      </p:sp>
      <p:sp>
        <p:nvSpPr>
          <p:cNvPr id="22" name="written-body">
            <a:extLst xmlns:a="http://schemas.openxmlformats.org/drawingml/2006/main">
              <a:ext uri="{FF2B5EF4-FFF2-40B4-BE49-F238E27FC236}">
                <a16:creationId xmlns:a16="http://schemas.microsoft.com/office/drawing/2014/main" id="{E3219AB5-C174-4CF7-A13C-AED13EB0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238500"/>
            <a:ext cx="3762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1. Select descriptive text.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2. Paste the correct URL.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3. Test every link.</a:t>
            </a:r>
          </a:p>
        </p:txBody>
      </p:sp>
      <p:sp>
        <p:nvSpPr>
          <p:cNvPr id="25" name="lesson-cover-4">
            <a:extLst xmlns:a="http://schemas.openxmlformats.org/drawingml/2006/main">
              <a:ext uri="{FF2B5EF4-FFF2-40B4-BE49-F238E27FC236}">
                <a16:creationId xmlns:a16="http://schemas.microsoft.com/office/drawing/2014/main" id="{7C2B0387-ACFB-40A0-8725-1B89C189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944350" cy="7467600"/>
          </a:xfrm>
          <a:prstGeom xmlns:a="http://schemas.openxmlformats.org/drawingml/2006/main" prst="roundRect">
            <a:avLst>
              <a:gd name="adj" fmla="val 1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6A0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7a6558a18b4e8f"/>
          <a:stretch xmlns:a="http://schemas.openxmlformats.org/drawingml/2006/main"/>
        </p:blipFill>
        <p:spPr>
          <a:xfrm xmlns:a="http://schemas.openxmlformats.org/drawingml/2006/main">
            <a:off x="2294599" y="1666875"/>
            <a:ext cx="8460052" cy="4762500"/>
          </a:xfrm>
          <a:prstGeom xmlns:a="http://schemas.openxmlformats.org/drawingml/2006/main" prst="rect">
            <a:avLst/>
          </a:prstGeom>
        </p:spPr>
      </p:pic>
      <p:sp>
        <p:nvSpPr>
          <p:cNvPr id="27" name="route-box-4">
            <a:extLst xmlns:a="http://schemas.openxmlformats.org/drawingml/2006/main">
              <a:ext uri="{FF2B5EF4-FFF2-40B4-BE49-F238E27FC236}">
                <a16:creationId xmlns:a16="http://schemas.microsoft.com/office/drawing/2014/main" id="{31CA13ED-CFA7-498C-852C-8AC94713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715125"/>
            <a:ext cx="11430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28575">
            <a:solidFill>
              <a:srgbClr val="D6A33A"/>
            </a:solidFill>
            <a:prstDash val="solid"/>
          </a:ln>
        </p:spPr>
      </p:sp>
      <p:sp>
        <p:nvSpPr>
          <p:cNvPr id="28" name="route-4">
            <a:extLst xmlns:a="http://schemas.openxmlformats.org/drawingml/2006/main">
              <a:ext uri="{FF2B5EF4-FFF2-40B4-BE49-F238E27FC236}">
                <a16:creationId xmlns:a16="http://schemas.microsoft.com/office/drawing/2014/main" id="{69DDD98D-CEF4-4D4D-ABF1-A8C7F699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00087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4C3C"/>
                </a:solidFill>
              </a:defRPr>
            </a:pPr>
            <a:r>
              <a:rPr sz="1875" b="1">
                <a:solidFill>
                  <a:srgbClr val="174C3C"/>
                </a:solidFill>
              </a:rPr>
              <a:t>Visual editor &gt; select text &gt; Link</a:t>
            </a:r>
          </a:p>
        </p:txBody>
      </p:sp>
      <p:sp>
        <p:nvSpPr>
          <p:cNvPr id="29" name="safe-4">
            <a:extLst xmlns:a="http://schemas.openxmlformats.org/drawingml/2006/main">
              <a:ext uri="{FF2B5EF4-FFF2-40B4-BE49-F238E27FC236}">
                <a16:creationId xmlns:a16="http://schemas.microsoft.com/office/drawing/2014/main" id="{8E52B079-58BE-43EB-A719-275263EA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9533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6342E"/>
                </a:solidFill>
              </a:defRPr>
            </a:pPr>
            <a:r>
              <a:rPr sz="1200">
                <a:solidFill>
                  <a:srgbClr val="26342E"/>
                </a:solidFill>
              </a:rPr>
              <a:t>1. Link descriptive words instead of pasting a long web address into the paragraph.</a:t>
            </a:r>
          </a:p>
          <a:p xmlns:a="http://schemas.openxmlformats.org/drawingml/2006/main">
            <a:pPr>
              <a:defRPr sz="1200">
                <a:solidFill>
                  <a:srgbClr val="26342E"/>
                </a:solidFill>
              </a:defRPr>
            </a:pPr>
            <a:r>
              <a:rPr sz="1200">
                <a:solidFill>
                  <a:srgbClr val="26342E"/>
                </a:solidFill>
              </a:rPr>
              <a:t>2. Use relevant internal links to Rebekah's pages or related articles.</a:t>
            </a:r>
          </a:p>
          <a:p xmlns:a="http://schemas.openxmlformats.org/drawingml/2006/main">
            <a:pPr>
              <a:defRPr sz="1200">
                <a:solidFill>
                  <a:srgbClr val="26342E"/>
                </a:solidFill>
              </a:defRPr>
            </a:pPr>
            <a:r>
              <a:rPr sz="1200">
                <a:solidFill>
                  <a:srgbClr val="26342E"/>
                </a:solidFill>
              </a:rPr>
              <a:t>3. Open an external link in a new tab only when appropriate, then test it.</a:t>
            </a:r>
          </a:p>
        </p:txBody>
      </p:sp>
    </p:spTree>
    <p:extLst>
      <p:ext uri="{BB962C8B-B14F-4D97-AF65-F5344CB8AC3E}">
        <p14:creationId xmlns:p14="http://schemas.microsoft.com/office/powerpoint/2010/main" val="657546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9AC37860-02D0-40F1-AAEC-EE8A9036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03ED3AB-F080-471C-A7DD-3920DCF6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Complete the search title and description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06BFEEE2-6DDB-483C-B2F7-35AE637E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D65A1AD8-730E-4F6A-BC01-73913E23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8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026265E-08BC-472F-BF44-245C92B3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Blog editing v1.1  |  9/13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93542544-2909-447A-A48A-04F41BFA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36d015b0c4475f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D6B35B9E-062E-43EE-BB3A-6607DCC2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5691" y="990600"/>
            <a:ext cx="1922907" cy="981075"/>
          </a:xfrm>
          <a:prstGeom xmlns:a="http://schemas.openxmlformats.org/drawingml/2006/main" prst="roundRect">
            <a:avLst>
              <a:gd name="adj" fmla="val 7767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EA0DD2F0-C3FE-4A82-AAC3-E5C6C3A9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5691" y="10096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58E679B1-3331-4685-A450-09A53661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0941" y="11334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12-box">
            <a:extLst xmlns:a="http://schemas.openxmlformats.org/drawingml/2006/main">
              <a:ext uri="{FF2B5EF4-FFF2-40B4-BE49-F238E27FC236}">
                <a16:creationId xmlns:a16="http://schemas.microsoft.com/office/drawing/2014/main" id="{AE96A1A7-2080-4A02-92EC-C234016C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76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12-heading">
            <a:extLst xmlns:a="http://schemas.openxmlformats.org/drawingml/2006/main">
              <a:ext uri="{FF2B5EF4-FFF2-40B4-BE49-F238E27FC236}">
                <a16:creationId xmlns:a16="http://schemas.microsoft.com/office/drawing/2014/main" id="{8659E305-1C06-41F7-B96B-24B1D38F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647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12-body">
            <a:extLst xmlns:a="http://schemas.openxmlformats.org/drawingml/2006/main">
              <a:ext uri="{FF2B5EF4-FFF2-40B4-BE49-F238E27FC236}">
                <a16:creationId xmlns:a16="http://schemas.microsoft.com/office/drawing/2014/main" id="{85081FAA-0F62-48F5-A83B-901A83C2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05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1. Click Save once.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2. Wait for confirmation.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3. Do not click repeatedly.</a:t>
            </a:r>
          </a:p>
        </p:txBody>
      </p:sp>
      <p:sp>
        <p:nvSpPr>
          <p:cNvPr id="17" name="body-cover">
            <a:extLst xmlns:a="http://schemas.openxmlformats.org/drawingml/2006/main">
              <a:ext uri="{FF2B5EF4-FFF2-40B4-BE49-F238E27FC236}">
                <a16:creationId xmlns:a16="http://schemas.microsoft.com/office/drawing/2014/main" id="{D19E1327-175C-4838-88C5-1268E10D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04875"/>
            <a:ext cx="17754600" cy="8810625"/>
          </a:xfrm>
          <a:prstGeom xmlns:a="http://schemas.openxmlformats.org/drawingml/2006/main" prst="roundRect">
            <a:avLst>
              <a:gd name="adj" fmla="val 129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8" name="event-screen-frame">
            <a:extLst xmlns:a="http://schemas.openxmlformats.org/drawingml/2006/main">
              <a:ext uri="{FF2B5EF4-FFF2-40B4-BE49-F238E27FC236}">
                <a16:creationId xmlns:a16="http://schemas.microsoft.com/office/drawing/2014/main" id="{4D2145F7-66B7-4EC7-A289-70412226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12192000" cy="771525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9C6A0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bcbf3994524c8c"/>
          <a:stretch xmlns:a="http://schemas.openxmlformats.org/drawingml/2006/main"/>
        </p:blipFill>
        <p:spPr>
          <a:xfrm xmlns:a="http://schemas.openxmlformats.org/drawingml/2006/main">
            <a:off x="552450" y="1684774"/>
            <a:ext cx="11944350" cy="6726952"/>
          </a:xfrm>
          <a:prstGeom xmlns:a="http://schemas.openxmlformats.org/drawingml/2006/main" prst="rect">
            <a:avLst/>
          </a:prstGeom>
        </p:spPr>
      </p:pic>
      <p:sp>
        <p:nvSpPr>
          <p:cNvPr id="20" name="written-panel">
            <a:extLst xmlns:a="http://schemas.openxmlformats.org/drawingml/2006/main">
              <a:ext uri="{FF2B5EF4-FFF2-40B4-BE49-F238E27FC236}">
                <a16:creationId xmlns:a16="http://schemas.microsoft.com/office/drawing/2014/main" id="{2FA350BD-A77C-4029-8BB1-2F88B956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238375"/>
            <a:ext cx="4524375" cy="476250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21" name="written-heading">
            <a:extLst xmlns:a="http://schemas.openxmlformats.org/drawingml/2006/main">
              <a:ext uri="{FF2B5EF4-FFF2-40B4-BE49-F238E27FC236}">
                <a16:creationId xmlns:a16="http://schemas.microsoft.com/office/drawing/2014/main" id="{91E2FF1E-AAEB-4631-924A-74DCEFCB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590800"/>
            <a:ext cx="3914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DO THIS</a:t>
            </a:r>
          </a:p>
        </p:txBody>
      </p:sp>
      <p:sp>
        <p:nvSpPr>
          <p:cNvPr id="22" name="written-body">
            <a:extLst xmlns:a="http://schemas.openxmlformats.org/drawingml/2006/main">
              <a:ext uri="{FF2B5EF4-FFF2-40B4-BE49-F238E27FC236}">
                <a16:creationId xmlns:a16="http://schemas.microsoft.com/office/drawing/2014/main" id="{253916D3-73CE-423F-81CD-BB07B517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238500"/>
            <a:ext cx="3762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1. Use accurate wording.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2. Stay within the preview length.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3. Do not keyword-stuff.</a:t>
            </a:r>
          </a:p>
        </p:txBody>
      </p:sp>
      <p:sp>
        <p:nvSpPr>
          <p:cNvPr id="25" name="lesson-cover-5">
            <a:extLst xmlns:a="http://schemas.openxmlformats.org/drawingml/2006/main">
              <a:ext uri="{FF2B5EF4-FFF2-40B4-BE49-F238E27FC236}">
                <a16:creationId xmlns:a16="http://schemas.microsoft.com/office/drawing/2014/main" id="{F8DABE8C-92DB-4B4F-87B9-14057D0F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944350" cy="7467600"/>
          </a:xfrm>
          <a:prstGeom xmlns:a="http://schemas.openxmlformats.org/drawingml/2006/main" prst="roundRect">
            <a:avLst>
              <a:gd name="adj" fmla="val 1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6A0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7353a830484b74"/>
          <a:stretch xmlns:a="http://schemas.openxmlformats.org/drawingml/2006/main"/>
        </p:blipFill>
        <p:spPr>
          <a:xfrm xmlns:a="http://schemas.openxmlformats.org/drawingml/2006/main">
            <a:off x="2294599" y="1666875"/>
            <a:ext cx="8460052" cy="4762500"/>
          </a:xfrm>
          <a:prstGeom xmlns:a="http://schemas.openxmlformats.org/drawingml/2006/main" prst="rect">
            <a:avLst/>
          </a:prstGeom>
        </p:spPr>
      </p:pic>
      <p:sp>
        <p:nvSpPr>
          <p:cNvPr id="27" name="route-box-5">
            <a:extLst xmlns:a="http://schemas.openxmlformats.org/drawingml/2006/main">
              <a:ext uri="{FF2B5EF4-FFF2-40B4-BE49-F238E27FC236}">
                <a16:creationId xmlns:a16="http://schemas.microsoft.com/office/drawing/2014/main" id="{72957AE1-92F8-49C5-ABD9-93DEECA6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715125"/>
            <a:ext cx="11430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28575">
            <a:solidFill>
              <a:srgbClr val="D6A33A"/>
            </a:solidFill>
            <a:prstDash val="solid"/>
          </a:ln>
        </p:spPr>
      </p:sp>
      <p:sp>
        <p:nvSpPr>
          <p:cNvPr id="28" name="route-5">
            <a:extLst xmlns:a="http://schemas.openxmlformats.org/drawingml/2006/main">
              <a:ext uri="{FF2B5EF4-FFF2-40B4-BE49-F238E27FC236}">
                <a16:creationId xmlns:a16="http://schemas.microsoft.com/office/drawing/2014/main" id="{F4E3FDBA-9E4E-4BC6-96C0-479A4F70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00087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4C3C"/>
                </a:solidFill>
              </a:defRPr>
            </a:pPr>
            <a:r>
              <a:rPr sz="1875" b="1">
                <a:solidFill>
                  <a:srgbClr val="174C3C"/>
                </a:solidFill>
              </a:rPr>
              <a:t>SEOPress section &gt; title and meta description</a:t>
            </a:r>
          </a:p>
        </p:txBody>
      </p:sp>
      <p:sp>
        <p:nvSpPr>
          <p:cNvPr id="29" name="safe-5">
            <a:extLst xmlns:a="http://schemas.openxmlformats.org/drawingml/2006/main">
              <a:ext uri="{FF2B5EF4-FFF2-40B4-BE49-F238E27FC236}">
                <a16:creationId xmlns:a16="http://schemas.microsoft.com/office/drawing/2014/main" id="{78CF3946-0A21-42DF-AAD8-E3757134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9533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6342E"/>
                </a:solidFill>
              </a:defRPr>
            </a:pPr>
            <a:r>
              <a:rPr sz="1200">
                <a:solidFill>
                  <a:srgbClr val="26342E"/>
                </a:solidFill>
              </a:rPr>
              <a:t>1. Use the approved search title and keep it natural.</a:t>
            </a:r>
          </a:p>
          <a:p xmlns:a="http://schemas.openxmlformats.org/drawingml/2006/main">
            <a:pPr>
              <a:defRPr sz="1200">
                <a:solidFill>
                  <a:srgbClr val="26342E"/>
                </a:solidFill>
              </a:defRPr>
            </a:pPr>
            <a:r>
              <a:rPr sz="1200">
                <a:solidFill>
                  <a:srgbClr val="26342E"/>
                </a:solidFill>
              </a:rPr>
              <a:t>2. Write a clear description that accurately summarizes the article.</a:t>
            </a:r>
          </a:p>
          <a:p xmlns:a="http://schemas.openxmlformats.org/drawingml/2006/main">
            <a:pPr>
              <a:defRPr sz="1200">
                <a:solidFill>
                  <a:srgbClr val="26342E"/>
                </a:solidFill>
              </a:defRPr>
            </a:pPr>
            <a:r>
              <a:rPr sz="1200">
                <a:solidFill>
                  <a:srgbClr val="26342E"/>
                </a:solidFill>
              </a:rPr>
              <a:t>3. Do not stuff locations, services, or repeated keywords into either field.</a:t>
            </a:r>
          </a:p>
        </p:txBody>
      </p:sp>
    </p:spTree>
    <p:extLst>
      <p:ext uri="{BB962C8B-B14F-4D97-AF65-F5344CB8AC3E}">
        <p14:creationId xmlns:p14="http://schemas.microsoft.com/office/powerpoint/2010/main" val="14545670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45A71D21-0EF2-4507-993D-4DB38F86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C3AC40A-A6CC-491E-9E0B-BB697AA5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74C3C"/>
                </a:solidFill>
              </a:defRPr>
            </a:pPr>
            <a:r>
              <a:rPr sz="2550" b="1">
                <a:solidFill>
                  <a:srgbClr val="174C3C"/>
                </a:solidFill>
              </a:rPr>
              <a:t>Preview the full article before publishing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47F7DE6B-AEA3-495C-8875-2DB93408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37D68557-DCCA-4704-9414-561988DE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9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4EE6A30-5E38-4C0C-B1B5-183B8F06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Blog editing v1.1  |  10/13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C171564A-9FFE-42A1-837F-141E5D5C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5807990fca4654"/>
          <a:stretch xmlns:a="http://schemas.openxmlformats.org/drawingml/2006/main"/>
        </p:blipFill>
        <p:spPr>
          <a:xfrm xmlns:a="http://schemas.openxmlformats.org/drawingml/2006/main">
            <a:off x="1809483" y="990600"/>
            <a:ext cx="14669033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5925F395-3AE0-458F-AC8F-92ECAC02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988" y="2324862"/>
            <a:ext cx="6121908" cy="1216533"/>
          </a:xfrm>
          <a:prstGeom xmlns:a="http://schemas.openxmlformats.org/drawingml/2006/main" prst="roundRect">
            <a:avLst>
              <a:gd name="adj" fmla="val 6264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11775FA4-9811-4BF9-A4C6-FA75DA40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988" y="1867662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066C8F92-B295-4084-958B-157EE656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8238" y="1991487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cache-cue-box">
            <a:extLst xmlns:a="http://schemas.openxmlformats.org/drawingml/2006/main">
              <a:ext uri="{FF2B5EF4-FFF2-40B4-BE49-F238E27FC236}">
                <a16:creationId xmlns:a16="http://schemas.microsoft.com/office/drawing/2014/main" id="{63AE86B5-DAA9-4BC6-B2FB-5231AF08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047875"/>
            <a:ext cx="557212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7F3E8"/>
          </a:solidFill>
          <a:ln xmlns:a="http://schemas.openxmlformats.org/drawingml/2006/main" w="57150">
            <a:solidFill>
              <a:srgbClr val="D6A33A"/>
            </a:solidFill>
            <a:prstDash val="solid"/>
          </a:ln>
        </p:spPr>
      </p:sp>
      <p:sp>
        <p:nvSpPr>
          <p:cNvPr id="14" name="cache-cue-instruction">
            <a:extLst xmlns:a="http://schemas.openxmlformats.org/drawingml/2006/main">
              <a:ext uri="{FF2B5EF4-FFF2-40B4-BE49-F238E27FC236}">
                <a16:creationId xmlns:a16="http://schemas.microsoft.com/office/drawing/2014/main" id="{CC0FB520-EB88-4FF0-929C-7722B705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209800"/>
            <a:ext cx="5000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6342E"/>
                </a:solidFill>
              </a:defRPr>
            </a:pPr>
            <a:r>
              <a:rPr sz="1425" b="1">
                <a:solidFill>
                  <a:srgbClr val="26342E"/>
                </a:solidFill>
              </a:rPr>
              <a:t>1. Return to the practitioner list.</a:t>
            </a:r>
          </a:p>
          <a:p xmlns:a="http://schemas.openxmlformats.org/drawingml/2006/main">
            <a:pPr>
              <a:buNone/>
              <a:defRPr sz="1425" b="1">
                <a:solidFill>
                  <a:srgbClr val="26342E"/>
                </a:solidFill>
              </a:defRPr>
            </a:pPr>
            <a:r>
              <a:rPr sz="1425" b="1">
                <a:solidFill>
                  <a:srgbClr val="26342E"/>
                </a:solidFill>
              </a:rPr>
              <a:t>2. Hover over the same row.</a:t>
            </a:r>
          </a:p>
        </p:txBody>
      </p:sp>
      <p:sp>
        <p:nvSpPr>
          <p:cNvPr id="15" name="cache-cue-action">
            <a:extLst xmlns:a="http://schemas.openxmlformats.org/drawingml/2006/main">
              <a:ext uri="{FF2B5EF4-FFF2-40B4-BE49-F238E27FC236}">
                <a16:creationId xmlns:a16="http://schemas.microsoft.com/office/drawing/2014/main" id="{B6D5F10A-0932-45CB-82F5-1F7B55C9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93370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74C3C"/>
                </a:solidFill>
              </a:defRPr>
            </a:pPr>
            <a:r>
              <a:rPr sz="2025" b="1">
                <a:solidFill>
                  <a:srgbClr val="174C3C"/>
                </a:solidFill>
              </a:rPr>
              <a:t>3. Click Clear Cache.</a:t>
            </a:r>
          </a:p>
        </p:txBody>
      </p:sp>
      <p:sp>
        <p:nvSpPr>
          <p:cNvPr id="17" name="body-cover">
            <a:extLst xmlns:a="http://schemas.openxmlformats.org/drawingml/2006/main">
              <a:ext uri="{FF2B5EF4-FFF2-40B4-BE49-F238E27FC236}">
                <a16:creationId xmlns:a16="http://schemas.microsoft.com/office/drawing/2014/main" id="{03DB1B71-F8EF-48E6-80F8-252EE437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04875"/>
            <a:ext cx="17754600" cy="8810625"/>
          </a:xfrm>
          <a:prstGeom xmlns:a="http://schemas.openxmlformats.org/drawingml/2006/main" prst="roundRect">
            <a:avLst>
              <a:gd name="adj" fmla="val 129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8" name="event-screen-frame">
            <a:extLst xmlns:a="http://schemas.openxmlformats.org/drawingml/2006/main">
              <a:ext uri="{FF2B5EF4-FFF2-40B4-BE49-F238E27FC236}">
                <a16:creationId xmlns:a16="http://schemas.microsoft.com/office/drawing/2014/main" id="{433CBD6E-560F-41B6-8F1B-3991E358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12192000" cy="771525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9C6A0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29e56805434b6d"/>
          <a:stretch xmlns:a="http://schemas.openxmlformats.org/drawingml/2006/main"/>
        </p:blipFill>
        <p:spPr>
          <a:xfrm xmlns:a="http://schemas.openxmlformats.org/drawingml/2006/main">
            <a:off x="552450" y="3647427"/>
            <a:ext cx="11944350" cy="2801646"/>
          </a:xfrm>
          <a:prstGeom xmlns:a="http://schemas.openxmlformats.org/drawingml/2006/main" prst="rect">
            <a:avLst/>
          </a:prstGeom>
        </p:spPr>
      </p:pic>
      <p:sp>
        <p:nvSpPr>
          <p:cNvPr id="20" name="written-panel">
            <a:extLst xmlns:a="http://schemas.openxmlformats.org/drawingml/2006/main">
              <a:ext uri="{FF2B5EF4-FFF2-40B4-BE49-F238E27FC236}">
                <a16:creationId xmlns:a16="http://schemas.microsoft.com/office/drawing/2014/main" id="{C6F319E0-D59E-446B-B8B1-2C4383D2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238375"/>
            <a:ext cx="4524375" cy="476250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21" name="written-heading">
            <a:extLst xmlns:a="http://schemas.openxmlformats.org/drawingml/2006/main">
              <a:ext uri="{FF2B5EF4-FFF2-40B4-BE49-F238E27FC236}">
                <a16:creationId xmlns:a16="http://schemas.microsoft.com/office/drawing/2014/main" id="{86D0CC1C-6400-4A97-853A-15328015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590800"/>
            <a:ext cx="3914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DO THIS</a:t>
            </a:r>
          </a:p>
        </p:txBody>
      </p:sp>
      <p:sp>
        <p:nvSpPr>
          <p:cNvPr id="22" name="written-body">
            <a:extLst xmlns:a="http://schemas.openxmlformats.org/drawingml/2006/main">
              <a:ext uri="{FF2B5EF4-FFF2-40B4-BE49-F238E27FC236}">
                <a16:creationId xmlns:a16="http://schemas.microsoft.com/office/drawing/2014/main" id="{7DA2E999-8A08-4300-869A-B3575F2A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238500"/>
            <a:ext cx="3762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1. Preview before publishing.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2. Check desktop and phone.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3. Fix problems in Draft.</a:t>
            </a:r>
          </a:p>
        </p:txBody>
      </p:sp>
      <p:sp>
        <p:nvSpPr>
          <p:cNvPr id="25" name="lesson-cover-6">
            <a:extLst xmlns:a="http://schemas.openxmlformats.org/drawingml/2006/main">
              <a:ext uri="{FF2B5EF4-FFF2-40B4-BE49-F238E27FC236}">
                <a16:creationId xmlns:a16="http://schemas.microsoft.com/office/drawing/2014/main" id="{642FCAA2-8801-4399-817F-113D083E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944350" cy="7467600"/>
          </a:xfrm>
          <a:prstGeom xmlns:a="http://schemas.openxmlformats.org/drawingml/2006/main" prst="roundRect">
            <a:avLst>
              <a:gd name="adj" fmla="val 1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6A0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df783f025141f8"/>
          <a:stretch xmlns:a="http://schemas.openxmlformats.org/drawingml/2006/main"/>
        </p:blipFill>
        <p:spPr>
          <a:xfrm xmlns:a="http://schemas.openxmlformats.org/drawingml/2006/main">
            <a:off x="2294599" y="1666875"/>
            <a:ext cx="8460052" cy="4762500"/>
          </a:xfrm>
          <a:prstGeom xmlns:a="http://schemas.openxmlformats.org/drawingml/2006/main" prst="rect">
            <a:avLst/>
          </a:prstGeom>
        </p:spPr>
      </p:pic>
      <p:sp>
        <p:nvSpPr>
          <p:cNvPr id="27" name="route-box-6">
            <a:extLst xmlns:a="http://schemas.openxmlformats.org/drawingml/2006/main">
              <a:ext uri="{FF2B5EF4-FFF2-40B4-BE49-F238E27FC236}">
                <a16:creationId xmlns:a16="http://schemas.microsoft.com/office/drawing/2014/main" id="{6E1360A8-A681-44EA-86AF-B906E4E6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715125"/>
            <a:ext cx="11430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28575">
            <a:solidFill>
              <a:srgbClr val="D6A33A"/>
            </a:solidFill>
            <a:prstDash val="solid"/>
          </a:ln>
        </p:spPr>
      </p:sp>
      <p:sp>
        <p:nvSpPr>
          <p:cNvPr id="28" name="route-6">
            <a:extLst xmlns:a="http://schemas.openxmlformats.org/drawingml/2006/main">
              <a:ext uri="{FF2B5EF4-FFF2-40B4-BE49-F238E27FC236}">
                <a16:creationId xmlns:a16="http://schemas.microsoft.com/office/drawing/2014/main" id="{15DF410D-303D-4805-B57E-913A2158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00087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4C3C"/>
                </a:solidFill>
              </a:defRPr>
            </a:pPr>
            <a:r>
              <a:rPr sz="1875" b="1">
                <a:solidFill>
                  <a:srgbClr val="174C3C"/>
                </a:solidFill>
              </a:rPr>
              <a:t>Post settings &gt; Preview</a:t>
            </a:r>
          </a:p>
        </p:txBody>
      </p:sp>
      <p:sp>
        <p:nvSpPr>
          <p:cNvPr id="29" name="safe-6">
            <a:extLst xmlns:a="http://schemas.openxmlformats.org/drawingml/2006/main">
              <a:ext uri="{FF2B5EF4-FFF2-40B4-BE49-F238E27FC236}">
                <a16:creationId xmlns:a16="http://schemas.microsoft.com/office/drawing/2014/main" id="{391BD418-1B21-4B2F-8480-4C047FC9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9533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6342E"/>
                </a:solidFill>
              </a:defRPr>
            </a:pPr>
            <a:r>
              <a:rPr sz="1200">
                <a:solidFill>
                  <a:srgbClr val="26342E"/>
                </a:solidFill>
              </a:rPr>
              <a:t>1. Check the title, headings, spacing, image, category, links, and author.</a:t>
            </a:r>
          </a:p>
          <a:p xmlns:a="http://schemas.openxmlformats.org/drawingml/2006/main">
            <a:pPr>
              <a:defRPr sz="1200">
                <a:solidFill>
                  <a:srgbClr val="26342E"/>
                </a:solidFill>
              </a:defRPr>
            </a:pPr>
            <a:r>
              <a:rPr sz="1200">
                <a:solidFill>
                  <a:srgbClr val="26342E"/>
                </a:solidFill>
              </a:rPr>
              <a:t>2. Preview at desktop and phone size.</a:t>
            </a:r>
          </a:p>
          <a:p xmlns:a="http://schemas.openxmlformats.org/drawingml/2006/main">
            <a:pPr>
              <a:defRPr sz="1200">
                <a:solidFill>
                  <a:srgbClr val="26342E"/>
                </a:solidFill>
              </a:defRPr>
            </a:pPr>
            <a:r>
              <a:rPr sz="1200">
                <a:solidFill>
                  <a:srgbClr val="26342E"/>
                </a:solidFill>
              </a:rPr>
              <a:t>3. Return to the editor and correct anything uncertain while the post remains a draft.</a:t>
            </a:r>
          </a:p>
        </p:txBody>
      </p:sp>
    </p:spTree>
    <p:extLst>
      <p:ext uri="{BB962C8B-B14F-4D97-AF65-F5344CB8AC3E}">
        <p14:creationId xmlns:p14="http://schemas.microsoft.com/office/powerpoint/2010/main" val="18747029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0AA533D2-BE24-46A8-A65F-98CE3B46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4EDB082-46ED-4422-94D9-1E9547CC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Publish or update once, then wait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5B8D6E69-0499-4817-BA76-B2F8FB8E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A63A66C6-F41D-4B45-94BB-D40CE5D8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10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354369C-FB52-44DE-B423-2FDFF33D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Blog editing v1.1  |  11/13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83A1A526-5618-4E26-AFAC-3CBDE0CC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8b3960b4f7432a"/>
          <a:stretch xmlns:a="http://schemas.openxmlformats.org/drawingml/2006/main"/>
        </p:blipFill>
        <p:spPr>
          <a:xfrm xmlns:a="http://schemas.openxmlformats.org/drawingml/2006/main">
            <a:off x="1381735" y="1398630"/>
            <a:ext cx="15524531" cy="801361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A56D7C2D-EF40-4D21-8C26-2465770C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100" y="3580638"/>
            <a:ext cx="11301984" cy="5101590"/>
          </a:xfrm>
          <a:prstGeom xmlns:a="http://schemas.openxmlformats.org/drawingml/2006/main" prst="roundRect">
            <a:avLst>
              <a:gd name="adj" fmla="val 1494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88E5471D-3B6A-4F1F-8EE8-BCD0EEEC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100" y="3123438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B9940694-2672-4251-A044-50B23665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0350" y="3247263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14-box">
            <a:extLst xmlns:a="http://schemas.openxmlformats.org/drawingml/2006/main">
              <a:ext uri="{FF2B5EF4-FFF2-40B4-BE49-F238E27FC236}">
                <a16:creationId xmlns:a16="http://schemas.microsoft.com/office/drawing/2014/main" id="{6DC89904-0505-4186-A6F9-DE145750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572500"/>
            <a:ext cx="3429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38100">
            <a:solidFill>
              <a:srgbClr val="D6A33A"/>
            </a:solidFill>
            <a:prstDash val="solid"/>
          </a:ln>
        </p:spPr>
      </p:sp>
      <p:sp>
        <p:nvSpPr>
          <p:cNvPr id="14" name="written-steps-s14-heading">
            <a:extLst xmlns:a="http://schemas.openxmlformats.org/drawingml/2006/main">
              <a:ext uri="{FF2B5EF4-FFF2-40B4-BE49-F238E27FC236}">
                <a16:creationId xmlns:a16="http://schemas.microsoft.com/office/drawing/2014/main" id="{E56D5C24-D474-49BD-8D23-ABC67D4B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8648700"/>
            <a:ext cx="316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4C3C"/>
                </a:solidFill>
              </a:defRPr>
            </a:pPr>
            <a:r>
              <a:rPr sz="1125" b="1">
                <a:solidFill>
                  <a:srgbClr val="174C3C"/>
                </a:solidFill>
              </a:rPr>
              <a:t>WRITTEN CHECK</a:t>
            </a:r>
          </a:p>
        </p:txBody>
      </p:sp>
      <p:sp>
        <p:nvSpPr>
          <p:cNvPr id="15" name="written-steps-s14-body">
            <a:extLst xmlns:a="http://schemas.openxmlformats.org/drawingml/2006/main">
              <a:ext uri="{FF2B5EF4-FFF2-40B4-BE49-F238E27FC236}">
                <a16:creationId xmlns:a16="http://schemas.microsoft.com/office/drawing/2014/main" id="{8D41BF83-9913-4A25-8265-FF672CFA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9825" y="8896350"/>
            <a:ext cx="3181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26342E"/>
                </a:solidFill>
              </a:defRPr>
            </a:pPr>
            <a:r>
              <a:rPr sz="1050">
                <a:solidFill>
                  <a:srgbClr val="26342E"/>
                </a:solidFill>
              </a:rPr>
              <a:t>1. Search the name.</a:t>
            </a:r>
          </a:p>
          <a:p xmlns:a="http://schemas.openxmlformats.org/drawingml/2006/main">
            <a:pPr>
              <a:buNone/>
              <a:defRPr sz="1050">
                <a:solidFill>
                  <a:srgbClr val="26342E"/>
                </a:solidFill>
              </a:defRPr>
            </a:pPr>
            <a:r>
              <a:rPr sz="1050">
                <a:solidFill>
                  <a:srgbClr val="26342E"/>
                </a:solidFill>
              </a:rPr>
              <a:t>2. Confirm the public details.</a:t>
            </a:r>
          </a:p>
          <a:p xmlns:a="http://schemas.openxmlformats.org/drawingml/2006/main">
            <a:pPr>
              <a:buNone/>
              <a:defRPr sz="1050">
                <a:solidFill>
                  <a:srgbClr val="26342E"/>
                </a:solidFill>
              </a:defRPr>
            </a:pPr>
            <a:r>
              <a:rPr sz="1050">
                <a:solidFill>
                  <a:srgbClr val="26342E"/>
                </a:solidFill>
              </a:rPr>
              <a:t>3. Check the links.</a:t>
            </a:r>
          </a:p>
        </p:txBody>
      </p:sp>
      <p:sp>
        <p:nvSpPr>
          <p:cNvPr id="17" name="body-cover">
            <a:extLst xmlns:a="http://schemas.openxmlformats.org/drawingml/2006/main">
              <a:ext uri="{FF2B5EF4-FFF2-40B4-BE49-F238E27FC236}">
                <a16:creationId xmlns:a16="http://schemas.microsoft.com/office/drawing/2014/main" id="{685ADFEC-1406-4119-9691-4EAA8AEF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04875"/>
            <a:ext cx="17754600" cy="8810625"/>
          </a:xfrm>
          <a:prstGeom xmlns:a="http://schemas.openxmlformats.org/drawingml/2006/main" prst="roundRect">
            <a:avLst>
              <a:gd name="adj" fmla="val 129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8" name="event-screen-frame">
            <a:extLst xmlns:a="http://schemas.openxmlformats.org/drawingml/2006/main">
              <a:ext uri="{FF2B5EF4-FFF2-40B4-BE49-F238E27FC236}">
                <a16:creationId xmlns:a16="http://schemas.microsoft.com/office/drawing/2014/main" id="{54EA2403-617E-4E45-8B9E-8F3CAE3A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12192000" cy="771525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9C6A0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ec870176404488"/>
          <a:stretch xmlns:a="http://schemas.openxmlformats.org/drawingml/2006/main"/>
        </p:blipFill>
        <p:spPr>
          <a:xfrm xmlns:a="http://schemas.openxmlformats.org/drawingml/2006/main">
            <a:off x="607906" y="1314450"/>
            <a:ext cx="11833437" cy="7467600"/>
          </a:xfrm>
          <a:prstGeom xmlns:a="http://schemas.openxmlformats.org/drawingml/2006/main" prst="rect">
            <a:avLst/>
          </a:prstGeom>
        </p:spPr>
      </p:pic>
      <p:sp>
        <p:nvSpPr>
          <p:cNvPr id="20" name="written-panel">
            <a:extLst xmlns:a="http://schemas.openxmlformats.org/drawingml/2006/main">
              <a:ext uri="{FF2B5EF4-FFF2-40B4-BE49-F238E27FC236}">
                <a16:creationId xmlns:a16="http://schemas.microsoft.com/office/drawing/2014/main" id="{4BC032DF-E857-4FCD-8E03-6D1D9492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238375"/>
            <a:ext cx="4524375" cy="476250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21" name="written-heading">
            <a:extLst xmlns:a="http://schemas.openxmlformats.org/drawingml/2006/main">
              <a:ext uri="{FF2B5EF4-FFF2-40B4-BE49-F238E27FC236}">
                <a16:creationId xmlns:a16="http://schemas.microsoft.com/office/drawing/2014/main" id="{7C8D4D63-68C3-448B-826C-667E0EF4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590800"/>
            <a:ext cx="3914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DO THIS</a:t>
            </a:r>
          </a:p>
        </p:txBody>
      </p:sp>
      <p:sp>
        <p:nvSpPr>
          <p:cNvPr id="22" name="written-body">
            <a:extLst xmlns:a="http://schemas.openxmlformats.org/drawingml/2006/main">
              <a:ext uri="{FF2B5EF4-FFF2-40B4-BE49-F238E27FC236}">
                <a16:creationId xmlns:a16="http://schemas.microsoft.com/office/drawing/2014/main" id="{4128F2A5-EFEC-45FE-9C77-58AB5F76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238500"/>
            <a:ext cx="3762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1. Confirm approval.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2. Click once and wait.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3. Do not create a duplicate.</a:t>
            </a:r>
          </a:p>
        </p:txBody>
      </p:sp>
      <p:sp>
        <p:nvSpPr>
          <p:cNvPr id="25" name="lesson-cover-7">
            <a:extLst xmlns:a="http://schemas.openxmlformats.org/drawingml/2006/main">
              <a:ext uri="{FF2B5EF4-FFF2-40B4-BE49-F238E27FC236}">
                <a16:creationId xmlns:a16="http://schemas.microsoft.com/office/drawing/2014/main" id="{A73C5AC7-1BD6-4251-BD87-67F7084A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944350" cy="7467600"/>
          </a:xfrm>
          <a:prstGeom xmlns:a="http://schemas.openxmlformats.org/drawingml/2006/main" prst="roundRect">
            <a:avLst>
              <a:gd name="adj" fmla="val 1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6A0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fdc7be0014400a"/>
          <a:stretch xmlns:a="http://schemas.openxmlformats.org/drawingml/2006/main"/>
        </p:blipFill>
        <p:spPr>
          <a:xfrm xmlns:a="http://schemas.openxmlformats.org/drawingml/2006/main">
            <a:off x="2296487" y="1666875"/>
            <a:ext cx="8456276" cy="4762500"/>
          </a:xfrm>
          <a:prstGeom xmlns:a="http://schemas.openxmlformats.org/drawingml/2006/main" prst="rect">
            <a:avLst/>
          </a:prstGeom>
        </p:spPr>
      </p:pic>
      <p:sp>
        <p:nvSpPr>
          <p:cNvPr id="27" name="route-box-7">
            <a:extLst xmlns:a="http://schemas.openxmlformats.org/drawingml/2006/main">
              <a:ext uri="{FF2B5EF4-FFF2-40B4-BE49-F238E27FC236}">
                <a16:creationId xmlns:a16="http://schemas.microsoft.com/office/drawing/2014/main" id="{CD136E92-6D30-4D74-A366-A7759C9B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715125"/>
            <a:ext cx="11430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28575">
            <a:solidFill>
              <a:srgbClr val="D6A33A"/>
            </a:solidFill>
            <a:prstDash val="solid"/>
          </a:ln>
        </p:spPr>
      </p:sp>
      <p:sp>
        <p:nvSpPr>
          <p:cNvPr id="28" name="route-7">
            <a:extLst xmlns:a="http://schemas.openxmlformats.org/drawingml/2006/main">
              <a:ext uri="{FF2B5EF4-FFF2-40B4-BE49-F238E27FC236}">
                <a16:creationId xmlns:a16="http://schemas.microsoft.com/office/drawing/2014/main" id="{D99E2DE7-2682-4E5D-ADA5-A5E516BB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00087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4C3C"/>
                </a:solidFill>
              </a:defRPr>
            </a:pPr>
            <a:r>
              <a:rPr sz="1875" b="1">
                <a:solidFill>
                  <a:srgbClr val="174C3C"/>
                </a:solidFill>
              </a:rPr>
              <a:t>Post settings &gt; Publish or Update</a:t>
            </a:r>
          </a:p>
        </p:txBody>
      </p:sp>
      <p:sp>
        <p:nvSpPr>
          <p:cNvPr id="29" name="safe-7">
            <a:extLst xmlns:a="http://schemas.openxmlformats.org/drawingml/2006/main">
              <a:ext uri="{FF2B5EF4-FFF2-40B4-BE49-F238E27FC236}">
                <a16:creationId xmlns:a16="http://schemas.microsoft.com/office/drawing/2014/main" id="{16720551-D2EA-4D53-AC36-423541FF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9533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6342E"/>
                </a:solidFill>
              </a:defRPr>
            </a:pPr>
            <a:r>
              <a:rPr sz="1200">
                <a:solidFill>
                  <a:srgbClr val="26342E"/>
                </a:solidFill>
              </a:rPr>
              <a:t>1. Use Publish only when the new article is complete and approved.</a:t>
            </a:r>
          </a:p>
          <a:p xmlns:a="http://schemas.openxmlformats.org/drawingml/2006/main">
            <a:pPr>
              <a:defRPr sz="1200">
                <a:solidFill>
                  <a:srgbClr val="26342E"/>
                </a:solidFill>
              </a:defRPr>
            </a:pPr>
            <a:r>
              <a:rPr sz="1200">
                <a:solidFill>
                  <a:srgbClr val="26342E"/>
                </a:solidFill>
              </a:rPr>
              <a:t>2. Use Update for an approved change to an existing post.</a:t>
            </a:r>
          </a:p>
          <a:p xmlns:a="http://schemas.openxmlformats.org/drawingml/2006/main">
            <a:pPr>
              <a:defRPr sz="1200">
                <a:solidFill>
                  <a:srgbClr val="26342E"/>
                </a:solidFill>
              </a:defRPr>
            </a:pPr>
            <a:r>
              <a:rPr sz="1200">
                <a:solidFill>
                  <a:srgbClr val="26342E"/>
                </a:solidFill>
              </a:rPr>
              <a:t>3. Select the button one time and wait for WordPress confirmation.</a:t>
            </a:r>
          </a:p>
        </p:txBody>
      </p:sp>
    </p:spTree>
    <p:extLst>
      <p:ext uri="{BB962C8B-B14F-4D97-AF65-F5344CB8AC3E}">
        <p14:creationId xmlns:p14="http://schemas.microsoft.com/office/powerpoint/2010/main" val="4634348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F7C4EE00-7D04-4B85-AE44-397B9384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1FEAAAD-0656-4343-A284-DD5066DE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Clear the applicable cache and verify publicly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97CEDD81-6C44-49B3-B6BE-F0D0EDE2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A0604F83-8D73-4185-83C0-01685C9A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012E193-791F-4DAA-8DE2-0991E865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Blog editing v1.1  |  12/13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AE640E1B-D4D1-4291-A802-A4751BDA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0ce59bf2c14a26"/>
          <a:stretch xmlns:a="http://schemas.openxmlformats.org/drawingml/2006/main"/>
        </p:blipFill>
        <p:spPr>
          <a:xfrm xmlns:a="http://schemas.openxmlformats.org/drawingml/2006/main">
            <a:off x="1381735" y="990600"/>
            <a:ext cx="15524531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6F05081D-1D84-41B2-AD2E-2381274E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586" y="990600"/>
            <a:ext cx="4473702" cy="7220712"/>
          </a:xfrm>
          <a:prstGeom xmlns:a="http://schemas.openxmlformats.org/drawingml/2006/main" prst="roundRect">
            <a:avLst>
              <a:gd name="adj" fmla="val 1703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8EE2F574-CD98-424B-8C85-2E177CA3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586" y="10096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43E433C4-7BE3-4567-A7D4-BAC17E8A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8836" y="11334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15-box">
            <a:extLst xmlns:a="http://schemas.openxmlformats.org/drawingml/2006/main">
              <a:ext uri="{FF2B5EF4-FFF2-40B4-BE49-F238E27FC236}">
                <a16:creationId xmlns:a16="http://schemas.microsoft.com/office/drawing/2014/main" id="{95F7E925-0EF7-4F1A-9828-BF8ECBF0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71750"/>
            <a:ext cx="61912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15-heading">
            <a:extLst xmlns:a="http://schemas.openxmlformats.org/drawingml/2006/main">
              <a:ext uri="{FF2B5EF4-FFF2-40B4-BE49-F238E27FC236}">
                <a16:creationId xmlns:a16="http://schemas.microsoft.com/office/drawing/2014/main" id="{14D4D90E-89F6-47C7-9D04-00F10433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743200"/>
            <a:ext cx="577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15-body">
            <a:extLst xmlns:a="http://schemas.openxmlformats.org/drawingml/2006/main">
              <a:ext uri="{FF2B5EF4-FFF2-40B4-BE49-F238E27FC236}">
                <a16:creationId xmlns:a16="http://schemas.microsoft.com/office/drawing/2014/main" id="{CC6F111D-F8F6-4BF7-B6D2-F9566B6C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200400"/>
            <a:ext cx="573405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725">
                <a:solidFill>
                  <a:srgbClr val="26342E"/>
                </a:solidFill>
              </a:defRPr>
            </a:pPr>
            <a:r>
              <a:rPr sz="1725">
                <a:solidFill>
                  <a:srgbClr val="26342E"/>
                </a:solidFill>
              </a:rPr>
              <a:t>1. Click View full listing.</a:t>
            </a:r>
          </a:p>
          <a:p xmlns:a="http://schemas.openxmlformats.org/drawingml/2006/main">
            <a:pPr>
              <a:buNone/>
              <a:defRPr sz="1725">
                <a:solidFill>
                  <a:srgbClr val="26342E"/>
                </a:solidFill>
              </a:defRPr>
            </a:pPr>
            <a:r>
              <a:rPr sz="1725">
                <a:solidFill>
                  <a:srgbClr val="26342E"/>
                </a:solidFill>
              </a:rPr>
              <a:t>2. Check the full details and links.</a:t>
            </a:r>
          </a:p>
          <a:p xmlns:a="http://schemas.openxmlformats.org/drawingml/2006/main">
            <a:pPr>
              <a:buNone/>
              <a:defRPr sz="1725">
                <a:solidFill>
                  <a:srgbClr val="26342E"/>
                </a:solidFill>
              </a:defRPr>
            </a:pPr>
            <a:r>
              <a:rPr sz="1725">
                <a:solidFill>
                  <a:srgbClr val="26342E"/>
                </a:solidFill>
              </a:rPr>
              <a:t>3. Repeat the check on a phone.</a:t>
            </a:r>
          </a:p>
        </p:txBody>
      </p:sp>
      <p:sp>
        <p:nvSpPr>
          <p:cNvPr id="17" name="body-cover">
            <a:extLst xmlns:a="http://schemas.openxmlformats.org/drawingml/2006/main">
              <a:ext uri="{FF2B5EF4-FFF2-40B4-BE49-F238E27FC236}">
                <a16:creationId xmlns:a16="http://schemas.microsoft.com/office/drawing/2014/main" id="{369E89C9-3A59-4222-A997-61749010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04875"/>
            <a:ext cx="17754600" cy="8810625"/>
          </a:xfrm>
          <a:prstGeom xmlns:a="http://schemas.openxmlformats.org/drawingml/2006/main" prst="roundRect">
            <a:avLst>
              <a:gd name="adj" fmla="val 129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8" name="event-screen-frame">
            <a:extLst xmlns:a="http://schemas.openxmlformats.org/drawingml/2006/main">
              <a:ext uri="{FF2B5EF4-FFF2-40B4-BE49-F238E27FC236}">
                <a16:creationId xmlns:a16="http://schemas.microsoft.com/office/drawing/2014/main" id="{BFCDEE92-C609-4F75-ADE1-A9AB60AC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12192000" cy="771525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9C6A0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068f4b617b4c10"/>
          <a:stretch xmlns:a="http://schemas.openxmlformats.org/drawingml/2006/main"/>
        </p:blipFill>
        <p:spPr>
          <a:xfrm xmlns:a="http://schemas.openxmlformats.org/drawingml/2006/main">
            <a:off x="4865787" y="1314450"/>
            <a:ext cx="3317675" cy="7467600"/>
          </a:xfrm>
          <a:prstGeom xmlns:a="http://schemas.openxmlformats.org/drawingml/2006/main" prst="rect">
            <a:avLst/>
          </a:prstGeom>
        </p:spPr>
      </p:pic>
      <p:sp>
        <p:nvSpPr>
          <p:cNvPr id="20" name="written-panel">
            <a:extLst xmlns:a="http://schemas.openxmlformats.org/drawingml/2006/main">
              <a:ext uri="{FF2B5EF4-FFF2-40B4-BE49-F238E27FC236}">
                <a16:creationId xmlns:a16="http://schemas.microsoft.com/office/drawing/2014/main" id="{22E99F6B-EA7E-4805-9028-F006086E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238375"/>
            <a:ext cx="4524375" cy="476250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21" name="written-heading">
            <a:extLst xmlns:a="http://schemas.openxmlformats.org/drawingml/2006/main">
              <a:ext uri="{FF2B5EF4-FFF2-40B4-BE49-F238E27FC236}">
                <a16:creationId xmlns:a16="http://schemas.microsoft.com/office/drawing/2014/main" id="{9B904E64-2079-40F9-849E-796F8F41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590800"/>
            <a:ext cx="3914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DO THIS</a:t>
            </a:r>
          </a:p>
        </p:txBody>
      </p:sp>
      <p:sp>
        <p:nvSpPr>
          <p:cNvPr id="22" name="written-body">
            <a:extLst xmlns:a="http://schemas.openxmlformats.org/drawingml/2006/main">
              <a:ext uri="{FF2B5EF4-FFF2-40B4-BE49-F238E27FC236}">
                <a16:creationId xmlns:a16="http://schemas.microsoft.com/office/drawing/2014/main" id="{980D85CD-E8AA-4F48-989D-52F3AA31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238500"/>
            <a:ext cx="3762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1. Clear applicable cache.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2. Open the exact URL.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3. Verify desktop and phone.</a:t>
            </a:r>
          </a:p>
        </p:txBody>
      </p:sp>
      <p:sp>
        <p:nvSpPr>
          <p:cNvPr id="25" name="lesson-cover-8">
            <a:extLst xmlns:a="http://schemas.openxmlformats.org/drawingml/2006/main">
              <a:ext uri="{FF2B5EF4-FFF2-40B4-BE49-F238E27FC236}">
                <a16:creationId xmlns:a16="http://schemas.microsoft.com/office/drawing/2014/main" id="{7DF22F74-A323-4CF4-A6C4-C098F9B4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944350" cy="7467600"/>
          </a:xfrm>
          <a:prstGeom xmlns:a="http://schemas.openxmlformats.org/drawingml/2006/main" prst="roundRect">
            <a:avLst>
              <a:gd name="adj" fmla="val 1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6A0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2c503e8cea4335"/>
          <a:stretch xmlns:a="http://schemas.openxmlformats.org/drawingml/2006/main"/>
        </p:blipFill>
        <p:spPr>
          <a:xfrm xmlns:a="http://schemas.openxmlformats.org/drawingml/2006/main">
            <a:off x="809625" y="2707625"/>
            <a:ext cx="11430000" cy="2681001"/>
          </a:xfrm>
          <a:prstGeom xmlns:a="http://schemas.openxmlformats.org/drawingml/2006/main" prst="rect">
            <a:avLst/>
          </a:prstGeom>
        </p:spPr>
      </p:pic>
      <p:sp>
        <p:nvSpPr>
          <p:cNvPr id="27" name="route-box-8">
            <a:extLst xmlns:a="http://schemas.openxmlformats.org/drawingml/2006/main">
              <a:ext uri="{FF2B5EF4-FFF2-40B4-BE49-F238E27FC236}">
                <a16:creationId xmlns:a16="http://schemas.microsoft.com/office/drawing/2014/main" id="{A4C7DF67-D587-4B53-9482-8BDD7A32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715125"/>
            <a:ext cx="11430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28575">
            <a:solidFill>
              <a:srgbClr val="D6A33A"/>
            </a:solidFill>
            <a:prstDash val="solid"/>
          </a:ln>
        </p:spPr>
      </p:sp>
      <p:sp>
        <p:nvSpPr>
          <p:cNvPr id="28" name="route-8">
            <a:extLst xmlns:a="http://schemas.openxmlformats.org/drawingml/2006/main">
              <a:ext uri="{FF2B5EF4-FFF2-40B4-BE49-F238E27FC236}">
                <a16:creationId xmlns:a16="http://schemas.microsoft.com/office/drawing/2014/main" id="{35817BDB-CD59-4F3C-8CFB-A9CE9A43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00087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4C3C"/>
                </a:solidFill>
              </a:defRPr>
            </a:pPr>
            <a:r>
              <a:rPr sz="1875" b="1">
                <a:solidFill>
                  <a:srgbClr val="174C3C"/>
                </a:solidFill>
              </a:rPr>
              <a:t>Changed post &gt; Clear Cache &gt; exact public article URL</a:t>
            </a:r>
          </a:p>
        </p:txBody>
      </p:sp>
      <p:sp>
        <p:nvSpPr>
          <p:cNvPr id="29" name="safe-8">
            <a:extLst xmlns:a="http://schemas.openxmlformats.org/drawingml/2006/main">
              <a:ext uri="{FF2B5EF4-FFF2-40B4-BE49-F238E27FC236}">
                <a16:creationId xmlns:a16="http://schemas.microsoft.com/office/drawing/2014/main" id="{7B52D6A9-9756-423B-B03B-CBC8FA9F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9533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6342E"/>
                </a:solidFill>
              </a:defRPr>
            </a:pPr>
            <a:r>
              <a:rPr sz="1200">
                <a:solidFill>
                  <a:srgbClr val="26342E"/>
                </a:solidFill>
              </a:rPr>
              <a:t>1. Clear only the applicable post or approved page cache.</a:t>
            </a:r>
          </a:p>
          <a:p xmlns:a="http://schemas.openxmlformats.org/drawingml/2006/main">
            <a:pPr>
              <a:defRPr sz="1200">
                <a:solidFill>
                  <a:srgbClr val="26342E"/>
                </a:solidFill>
              </a:defRPr>
            </a:pPr>
            <a:r>
              <a:rPr sz="1200">
                <a:solidFill>
                  <a:srgbClr val="26342E"/>
                </a:solidFill>
              </a:rPr>
              <a:t>2. Open the exact public article URL with no extra address text.</a:t>
            </a:r>
          </a:p>
          <a:p xmlns:a="http://schemas.openxmlformats.org/drawingml/2006/main">
            <a:pPr>
              <a:defRPr sz="1200">
                <a:solidFill>
                  <a:srgbClr val="26342E"/>
                </a:solidFill>
              </a:defRPr>
            </a:pPr>
            <a:r>
              <a:rPr sz="1200">
                <a:solidFill>
                  <a:srgbClr val="26342E"/>
                </a:solidFill>
              </a:rPr>
              <a:t>3. Verify the visible article and Blog archive on desktop and phone.</a:t>
            </a:r>
          </a:p>
        </p:txBody>
      </p:sp>
    </p:spTree>
    <p:extLst>
      <p:ext uri="{BB962C8B-B14F-4D97-AF65-F5344CB8AC3E}">
        <p14:creationId xmlns:p14="http://schemas.microsoft.com/office/powerpoint/2010/main" val="17724168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eader-band">
            <a:extLst xmlns:a="http://schemas.openxmlformats.org/drawingml/2006/main">
              <a:ext uri="{FF2B5EF4-FFF2-40B4-BE49-F238E27FC236}">
                <a16:creationId xmlns:a16="http://schemas.microsoft.com/office/drawing/2014/main" id="{56D56CF1-CB42-43F8-A171-CAD658D5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F12736A-3237-432B-A27F-95B5DF3A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Always finish with the final verification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96965DEC-E8BD-4604-B486-4FCC9370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261E1EE3-6C69-493C-8A0E-3A5F5D27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6342E"/>
                </a:solidFill>
              </a:defRPr>
            </a:pPr>
            <a:r>
              <a:rPr sz="1500" b="1">
                <a:solidFill>
                  <a:srgbClr val="26342E"/>
                </a:solidFill>
              </a:rPr>
              <a:t>DONE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770A9C1-8828-4AC2-BAB6-54F4919F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Blog editing v1.1  |  13/13</a:t>
            </a:r>
          </a:p>
        </p:txBody>
      </p:sp>
      <p:sp>
        <p:nvSpPr>
          <p:cNvPr id="6" name="closing">
            <a:extLst xmlns:a="http://schemas.openxmlformats.org/drawingml/2006/main">
              <a:ext uri="{FF2B5EF4-FFF2-40B4-BE49-F238E27FC236}">
                <a16:creationId xmlns:a16="http://schemas.microsoft.com/office/drawing/2014/main" id="{C20E6F55-B1B6-4049-95D7-58D9DF00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24125"/>
            <a:ext cx="1543050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174C3C"/>
          </a:solidFill>
          <a:ln xmlns:a="http://schemas.openxmlformats.org/drawingml/2006/main" w="9525">
            <a:solidFill>
              <a:srgbClr val="174C3C"/>
            </a:solidFill>
            <a:prstDash val="solid"/>
          </a:ln>
        </p:spPr>
      </p:sp>
      <p:sp>
        <p:nvSpPr>
          <p:cNvPr id="7" name="closing-main">
            <a:extLst xmlns:a="http://schemas.openxmlformats.org/drawingml/2006/main">
              <a:ext uri="{FF2B5EF4-FFF2-40B4-BE49-F238E27FC236}">
                <a16:creationId xmlns:a16="http://schemas.microsoft.com/office/drawing/2014/main" id="{B82384AB-1979-489F-BB04-85435FC7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524250"/>
            <a:ext cx="1343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DRAFT  &gt;  PREVIEW  &gt;  PUBLISH ONCE  &gt;  VERIFY LIVE</a:t>
            </a:r>
          </a:p>
        </p:txBody>
      </p:sp>
      <p:sp>
        <p:nvSpPr>
          <p:cNvPr id="8" name="closing-sub">
            <a:extLst xmlns:a="http://schemas.openxmlformats.org/drawingml/2006/main">
              <a:ext uri="{FF2B5EF4-FFF2-40B4-BE49-F238E27FC236}">
                <a16:creationId xmlns:a16="http://schemas.microsoft.com/office/drawing/2014/main" id="{D717D01D-A1BB-48AE-AF6E-28C4FB58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9112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FFFFFF"/>
                </a:solidFill>
              </a:defRPr>
            </a:pPr>
            <a:r>
              <a:rPr sz="2250">
                <a:solidFill>
                  <a:srgbClr val="FFFFFF"/>
                </a:solidFill>
              </a:rPr>
              <a:t>Check the exact public article and Blog archive on desktop and phone.</a:t>
            </a:r>
          </a:p>
        </p:txBody>
      </p:sp>
      <p:sp>
        <p:nvSpPr>
          <p:cNvPr id="9" name="closing-help">
            <a:extLst xmlns:a="http://schemas.openxmlformats.org/drawingml/2006/main">
              <a:ext uri="{FF2B5EF4-FFF2-40B4-BE49-F238E27FC236}">
                <a16:creationId xmlns:a16="http://schemas.microsoft.com/office/drawing/2014/main" id="{01968A25-814D-43CE-B680-CB35891D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143750"/>
            <a:ext cx="1219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8E4B61"/>
                </a:solidFill>
              </a:defRPr>
            </a:pPr>
            <a:r>
              <a:rPr sz="2025">
                <a:solidFill>
                  <a:srgbClr val="8E4B61"/>
                </a:solidFill>
              </a:rPr>
              <a:t>If the article, category, image, link, or live result is uncertain, stop and contact Blue Nova.</a:t>
            </a:r>
          </a:p>
        </p:txBody>
      </p:sp>
    </p:spTree>
    <p:extLst>
      <p:ext uri="{BB962C8B-B14F-4D97-AF65-F5344CB8AC3E}">
        <p14:creationId xmlns:p14="http://schemas.microsoft.com/office/powerpoint/2010/main" val="7736851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2026-09-01T16:47:08.2570000Z</dcterms:created>
  <dcterms:modified xsi:type="dcterms:W3CDTF">2026-09-01T16:47:08.2570000Z</dcterms:modified>
</coreProperties>
</file>