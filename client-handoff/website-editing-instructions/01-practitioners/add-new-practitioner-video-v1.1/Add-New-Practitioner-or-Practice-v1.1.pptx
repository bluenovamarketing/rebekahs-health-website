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797c7cd54034ad6" /><Relationship Type="http://schemas.openxmlformats.org/officeDocument/2006/relationships/extended-properties" Target="/docProps/app.xml" Id="R9b2ffc4bcf474390" /><Relationship Type="http://schemas.openxmlformats.org/officeDocument/2006/relationships/officeDocument" Target="/ppt/presentation.xml" Id="Ra0ba34015c9842a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97d000a571d47c0"/>
  </p:sldMasterIdLst>
  <p:notesMasterIdLst>
    <p:notesMasterId xmlns:r="http://schemas.openxmlformats.org/officeDocument/2006/relationships" r:id="Rcd3337c833144407"/>
  </p:notesMasterIdLst>
  <p:sldIdLst>
    <p:sldId xmlns:r="http://schemas.openxmlformats.org/officeDocument/2006/relationships" id="256" r:id="Re8cebefff47746c6"/>
    <p:sldId xmlns:r="http://schemas.openxmlformats.org/officeDocument/2006/relationships" id="257" r:id="Rb5b2617662ad45c9"/>
    <p:sldId xmlns:r="http://schemas.openxmlformats.org/officeDocument/2006/relationships" id="258" r:id="R56580d1b10da4e76"/>
    <p:sldId xmlns:r="http://schemas.openxmlformats.org/officeDocument/2006/relationships" id="259" r:id="R0526335097e5499d"/>
    <p:sldId xmlns:r="http://schemas.openxmlformats.org/officeDocument/2006/relationships" id="260" r:id="R50040b87af09463e"/>
    <p:sldId xmlns:r="http://schemas.openxmlformats.org/officeDocument/2006/relationships" id="261" r:id="Rbb1efc6813204b35"/>
    <p:sldId xmlns:r="http://schemas.openxmlformats.org/officeDocument/2006/relationships" id="262" r:id="Re90ef262e0be48b3"/>
    <p:sldId xmlns:r="http://schemas.openxmlformats.org/officeDocument/2006/relationships" id="263" r:id="R3633abe839be4e47"/>
    <p:sldId xmlns:r="http://schemas.openxmlformats.org/officeDocument/2006/relationships" id="264" r:id="R50a4f31f41dd4968"/>
    <p:sldId xmlns:r="http://schemas.openxmlformats.org/officeDocument/2006/relationships" id="265" r:id="R8eb141c1d2034e0c"/>
    <p:sldId xmlns:r="http://schemas.openxmlformats.org/officeDocument/2006/relationships" id="266" r:id="R5fcae27702714471"/>
    <p:sldId xmlns:r="http://schemas.openxmlformats.org/officeDocument/2006/relationships" id="267" r:id="Ree5288e5977c4be5"/>
    <p:sldId xmlns:r="http://schemas.openxmlformats.org/officeDocument/2006/relationships" id="268" r:id="R13450957509c42a6"/>
    <p:sldId xmlns:r="http://schemas.openxmlformats.org/officeDocument/2006/relationships" id="269" r:id="Radc5db0b29314dac"/>
    <p:sldId xmlns:r="http://schemas.openxmlformats.org/officeDocument/2006/relationships" id="270" r:id="R394e3a1574ee4da9"/>
    <p:sldId xmlns:r="http://schemas.openxmlformats.org/officeDocument/2006/relationships" id="271" r:id="Rf307acfe23544623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e133226f318458e" /><Relationship Type="http://schemas.openxmlformats.org/officeDocument/2006/relationships/slideMaster" Target="/ppt/slideMasters/slideMaster1.xml" Id="Re97d000a571d47c0" /><Relationship Type="http://schemas.openxmlformats.org/officeDocument/2006/relationships/notesMaster" Target="/ppt/notesMasters/notesMaster1.xml" Id="Rcd3337c833144407" /><Relationship Type="http://schemas.openxmlformats.org/officeDocument/2006/relationships/presProps" Target="/ppt/presProps.xml" Id="Rd92052ed5aab4568" /><Relationship Type="http://schemas.openxmlformats.org/officeDocument/2006/relationships/tableStyles" Target="/ppt/tableStyles.xml" Id="R2da8af99825f43ce" /><Relationship Type="http://schemas.openxmlformats.org/officeDocument/2006/relationships/slide" Target="/ppt/slides/slide1.xml" Id="Re8cebefff47746c6" /><Relationship Type="http://schemas.openxmlformats.org/officeDocument/2006/relationships/slide" Target="/ppt/slides/slide2.xml" Id="Rb5b2617662ad45c9" /><Relationship Type="http://schemas.openxmlformats.org/officeDocument/2006/relationships/slide" Target="/ppt/slides/slide3.xml" Id="R56580d1b10da4e76" /><Relationship Type="http://schemas.openxmlformats.org/officeDocument/2006/relationships/slide" Target="/ppt/slides/slide4.xml" Id="R0526335097e5499d" /><Relationship Type="http://schemas.openxmlformats.org/officeDocument/2006/relationships/slide" Target="/ppt/slides/slide5.xml" Id="R50040b87af09463e" /><Relationship Type="http://schemas.openxmlformats.org/officeDocument/2006/relationships/slide" Target="/ppt/slides/slide6.xml" Id="Rbb1efc6813204b35" /><Relationship Type="http://schemas.openxmlformats.org/officeDocument/2006/relationships/slide" Target="/ppt/slides/slide7.xml" Id="Re90ef262e0be48b3" /><Relationship Type="http://schemas.openxmlformats.org/officeDocument/2006/relationships/slide" Target="/ppt/slides/slide8.xml" Id="R3633abe839be4e47" /><Relationship Type="http://schemas.openxmlformats.org/officeDocument/2006/relationships/slide" Target="/ppt/slides/slide9.xml" Id="R50a4f31f41dd4968" /><Relationship Type="http://schemas.openxmlformats.org/officeDocument/2006/relationships/slide" Target="/ppt/slides/slide10.xml" Id="R8eb141c1d2034e0c" /><Relationship Type="http://schemas.openxmlformats.org/officeDocument/2006/relationships/slide" Target="/ppt/slides/slide11.xml" Id="R5fcae27702714471" /><Relationship Type="http://schemas.openxmlformats.org/officeDocument/2006/relationships/slide" Target="/ppt/slides/slide12.xml" Id="Ree5288e5977c4be5" /><Relationship Type="http://schemas.openxmlformats.org/officeDocument/2006/relationships/slide" Target="/ppt/slides/slide13.xml" Id="R13450957509c42a6" /><Relationship Type="http://schemas.openxmlformats.org/officeDocument/2006/relationships/slide" Target="/ppt/slides/slide14.xml" Id="Radc5db0b29314dac" /><Relationship Type="http://schemas.openxmlformats.org/officeDocument/2006/relationships/slide" Target="/ppt/slides/slide15.xml" Id="R394e3a1574ee4da9" /><Relationship Type="http://schemas.openxmlformats.org/officeDocument/2006/relationships/slide" Target="/ppt/slides/slide16.xml" Id="Rf307acfe2354462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6fc3b0702a8419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0a4935a99a3468e" /><Relationship Type="http://schemas.openxmlformats.org/officeDocument/2006/relationships/notesMaster" Target="/ppt/notesMasters/notesMaster1.xml" Id="Re29d85c333574e6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9b310d07d3e4edf" /><Relationship Type="http://schemas.openxmlformats.org/officeDocument/2006/relationships/notesMaster" Target="/ppt/notesMasters/notesMaster1.xml" Id="R1bd9b4f0b13148b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c9bda18699a4f2d" /><Relationship Type="http://schemas.openxmlformats.org/officeDocument/2006/relationships/notesMaster" Target="/ppt/notesMasters/notesMaster1.xml" Id="R6a7ad536d21948c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ecd119bc3e24e8e" /><Relationship Type="http://schemas.openxmlformats.org/officeDocument/2006/relationships/notesMaster" Target="/ppt/notesMasters/notesMaster1.xml" Id="R8021a1cdda37430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d104251709e47dc" /><Relationship Type="http://schemas.openxmlformats.org/officeDocument/2006/relationships/notesMaster" Target="/ppt/notesMasters/notesMaster1.xml" Id="Rc29131a18e9846f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0ee83d291d24b20" /><Relationship Type="http://schemas.openxmlformats.org/officeDocument/2006/relationships/notesMaster" Target="/ppt/notesMasters/notesMaster1.xml" Id="Rf49a1ee6713144d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a7759bfbf884759" /><Relationship Type="http://schemas.openxmlformats.org/officeDocument/2006/relationships/notesMaster" Target="/ppt/notesMasters/notesMaster1.xml" Id="Rea29cb78e40a497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db851ff006f4310" /><Relationship Type="http://schemas.openxmlformats.org/officeDocument/2006/relationships/notesMaster" Target="/ppt/notesMasters/notesMaster1.xml" Id="Raed8226f3ee949c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cff3db29fa647c0" /><Relationship Type="http://schemas.openxmlformats.org/officeDocument/2006/relationships/notesMaster" Target="/ppt/notesMasters/notesMaster1.xml" Id="R68c6e44f409e482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b15b1b35acf4720" /><Relationship Type="http://schemas.openxmlformats.org/officeDocument/2006/relationships/notesMaster" Target="/ppt/notesMasters/notesMaster1.xml" Id="Rdb919b74e02f41d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48c50b1b1dd4645" /><Relationship Type="http://schemas.openxmlformats.org/officeDocument/2006/relationships/notesMaster" Target="/ppt/notesMasters/notesMaster1.xml" Id="Re6a9501540a5487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ab42237db6a4392" /><Relationship Type="http://schemas.openxmlformats.org/officeDocument/2006/relationships/notesMaster" Target="/ppt/notesMasters/notesMaster1.xml" Id="R17bb95883b0d439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5ec85adb31e41f5" /><Relationship Type="http://schemas.openxmlformats.org/officeDocument/2006/relationships/notesMaster" Target="/ppt/notesMasters/notesMaster1.xml" Id="Rbbd1d098349d435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937f307c02c4a11" /><Relationship Type="http://schemas.openxmlformats.org/officeDocument/2006/relationships/notesMaster" Target="/ppt/notesMasters/notesMaster1.xml" Id="R9b4b5fd8e19847d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1f92bdf931b4b86" /><Relationship Type="http://schemas.openxmlformats.org/officeDocument/2006/relationships/notesMaster" Target="/ppt/notesMasters/notesMaster1.xml" Id="R4592d216136e457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aa6d565d9ce40f6" /><Relationship Type="http://schemas.openxmlformats.org/officeDocument/2006/relationships/notesMaster" Target="/ppt/notesMasters/notesMaster1.xml" Id="Rfa9ecf6abe504dd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Live WordPress practitioner-list interface captured August 31,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Live WordPress practitioner-list interface captured August 31,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https://rebekahspureliving.com/practitioners/ (captured September 1, 2026).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fd10908c3c473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fd0b64ce5ea4f2c" /><Relationship Type="http://schemas.openxmlformats.org/officeDocument/2006/relationships/slideLayout" Target="/ppt/slideLayouts/slideLayout1.xml" Id="R6dec4e81173d4c9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dec4e81173d4c9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262fcdce5948ad" /><Relationship Type="http://schemas.openxmlformats.org/officeDocument/2006/relationships/image" Target="/ppt/media/image.png" Id="R219b458cca9f4bac" /><Relationship Type="http://schemas.openxmlformats.org/officeDocument/2006/relationships/notesSlide" Target="/ppt/notesSlides/notesSlide1.xml" Id="R240d4a5b36a04a3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f12c6941314354" /><Relationship Type="http://schemas.openxmlformats.org/officeDocument/2006/relationships/notesSlide" Target="/ppt/notesSlides/notesSlide2.xml" Id="R9e8c5cc5c8d1483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ec89b5df0c494b" /><Relationship Type="http://schemas.openxmlformats.org/officeDocument/2006/relationships/notesSlide" Target="/ppt/notesSlides/notesSlide3.xml" Id="R2f1496eb5c0a439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d693eb24ce4a36" /><Relationship Type="http://schemas.openxmlformats.org/officeDocument/2006/relationships/image" Target="/ppt/media/image.jpeg" Id="R9e9a9dd1124047b1" /><Relationship Type="http://schemas.openxmlformats.org/officeDocument/2006/relationships/notesSlide" Target="/ppt/notesSlides/notesSlide4.xml" Id="R3edf24039ebf45a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b7fb577db04736" /><Relationship Type="http://schemas.openxmlformats.org/officeDocument/2006/relationships/image" Target="/ppt/media/image2.jpeg" Id="Re72c9a882be145d1" /><Relationship Type="http://schemas.openxmlformats.org/officeDocument/2006/relationships/notesSlide" Target="/ppt/notesSlides/notesSlide5.xml" Id="R6a8261a84e5043c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9aa59b4ee74e2b" /><Relationship Type="http://schemas.openxmlformats.org/officeDocument/2006/relationships/image" Target="/ppt/media/image3.jpeg" Id="R549bade80fa049c6" /><Relationship Type="http://schemas.openxmlformats.org/officeDocument/2006/relationships/notesSlide" Target="/ppt/notesSlides/notesSlide6.xml" Id="R686a38188af44d8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0c307f769b4426" /><Relationship Type="http://schemas.openxmlformats.org/officeDocument/2006/relationships/image" Target="/ppt/media/image4.jpeg" Id="Re12257d609624b38" /><Relationship Type="http://schemas.openxmlformats.org/officeDocument/2006/relationships/notesSlide" Target="/ppt/notesSlides/notesSlide7.xml" Id="R907e49b0aa704e1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d024563a0b4d5b" /><Relationship Type="http://schemas.openxmlformats.org/officeDocument/2006/relationships/image" Target="/ppt/media/image5.jpeg" Id="Raa879195e42746c1" /><Relationship Type="http://schemas.openxmlformats.org/officeDocument/2006/relationships/notesSlide" Target="/ppt/notesSlides/notesSlide8.xml" Id="R451cc4fec7944df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9f5bea341147cd" /><Relationship Type="http://schemas.openxmlformats.org/officeDocument/2006/relationships/image" Target="/ppt/media/image6.jpeg" Id="Rcc04bb5c1e424588" /><Relationship Type="http://schemas.openxmlformats.org/officeDocument/2006/relationships/notesSlide" Target="/ppt/notesSlides/notesSlide9.xml" Id="Rcc8aff24c8c346f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9d6d094e8b4a04" /><Relationship Type="http://schemas.openxmlformats.org/officeDocument/2006/relationships/image" Target="/ppt/media/image7.jpeg" Id="R13654886d8ce4110" /><Relationship Type="http://schemas.openxmlformats.org/officeDocument/2006/relationships/notesSlide" Target="/ppt/notesSlides/notesSlide10.xml" Id="R35ee3e50b3bd4d0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eebeaedd7049c4" /><Relationship Type="http://schemas.openxmlformats.org/officeDocument/2006/relationships/image" Target="/ppt/media/image8.jpeg" Id="R7787d918c62c4347" /><Relationship Type="http://schemas.openxmlformats.org/officeDocument/2006/relationships/notesSlide" Target="/ppt/notesSlides/notesSlide11.xml" Id="R08e611a57e9e4d1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d1224278db40b0" /><Relationship Type="http://schemas.openxmlformats.org/officeDocument/2006/relationships/image" Target="/ppt/media/image9.jpeg" Id="R586b54c81ddd4330" /><Relationship Type="http://schemas.openxmlformats.org/officeDocument/2006/relationships/notesSlide" Target="/ppt/notesSlides/notesSlide12.xml" Id="R4f0f6e7049b7423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fc36ad2a0249b1" /><Relationship Type="http://schemas.openxmlformats.org/officeDocument/2006/relationships/image" Target="/ppt/media/image10.jpeg" Id="R609e949c63f24dc9" /><Relationship Type="http://schemas.openxmlformats.org/officeDocument/2006/relationships/notesSlide" Target="/ppt/notesSlides/notesSlide13.xml" Id="Rd0e3c12eca7244b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0ed6a007f44f01" /><Relationship Type="http://schemas.openxmlformats.org/officeDocument/2006/relationships/image" Target="/ppt/media/image11.jpeg" Id="Rb781500593684345" /><Relationship Type="http://schemas.openxmlformats.org/officeDocument/2006/relationships/notesSlide" Target="/ppt/notesSlides/notesSlide14.xml" Id="R40b54900617f4df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2f07657f97424d" /><Relationship Type="http://schemas.openxmlformats.org/officeDocument/2006/relationships/image" Target="/ppt/media/image12.jpeg" Id="R20af392a0e724a39" /><Relationship Type="http://schemas.openxmlformats.org/officeDocument/2006/relationships/notesSlide" Target="/ppt/notesSlides/notesSlide15.xml" Id="Red5ba7fcef84409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1767d9e0f44d1e" /><Relationship Type="http://schemas.openxmlformats.org/officeDocument/2006/relationships/notesSlide" Target="/ppt/notesSlides/notesSlide16.xml" Id="R75bc824806504b4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header-band">
            <a:extLst xmlns:a="http://schemas.openxmlformats.org/drawingml/2006/main">
              <a:ext uri="{FF2B5EF4-FFF2-40B4-BE49-F238E27FC236}">
                <a16:creationId xmlns:a16="http://schemas.microsoft.com/office/drawing/2014/main" id="{6BABED52-1D76-4E02-B163-D57F8FB90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013CFB2-C687-4590-B3A8-D1B8DA4B7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Add a new practitioner or practice listing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12E3B8FC-D92C-4A0B-99D8-383453040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3EB80B92-E07A-4756-9C00-CE0EB157C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26342E"/>
                </a:solidFill>
              </a:defRPr>
            </a:pPr>
            <a:r>
              <a:rPr sz="1500" b="1">
                <a:solidFill>
                  <a:srgbClr val="26342E"/>
                </a:solidFill>
              </a:rPr>
              <a:t>START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8184619A-C0FA-4E3E-B352-B352FEB38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Add practitioner v1.1  •  1/16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9b458cca9f4bac"/>
          <a:stretch xmlns:a="http://schemas.openxmlformats.org/drawingml/2006/main"/>
        </p:blipFill>
        <p:spPr>
          <a:xfrm xmlns:a="http://schemas.openxmlformats.org/drawingml/2006/main">
            <a:off x="1476375" y="3078769"/>
            <a:ext cx="6191250" cy="1843462"/>
          </a:xfrm>
          <a:prstGeom xmlns:a="http://schemas.openxmlformats.org/drawingml/2006/main" prst="rect">
            <a:avLst/>
          </a:prstGeom>
        </p:spPr>
      </p:pic>
      <p:sp>
        <p:nvSpPr>
          <p:cNvPr id="7" name="start-copy">
            <a:extLst xmlns:a="http://schemas.openxmlformats.org/drawingml/2006/main">
              <a:ext uri="{FF2B5EF4-FFF2-40B4-BE49-F238E27FC236}">
                <a16:creationId xmlns:a16="http://schemas.microsoft.com/office/drawing/2014/main" id="{FD0B0792-5661-4247-8D82-0A0B7C3B3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62250"/>
            <a:ext cx="7334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150">
                <a:solidFill>
                  <a:srgbClr val="26342E"/>
                </a:solidFill>
              </a:defRPr>
            </a:pPr>
            <a:r>
              <a:rPr sz="3150">
                <a:solidFill>
                  <a:srgbClr val="26342E"/>
                </a:solidFill>
              </a:rPr>
              <a:t>Create one approved directory listing, keep it as a draft until it is complete, clear the applicable cache, and verify the live result.</a:t>
            </a:r>
          </a:p>
        </p:txBody>
      </p:sp>
      <p:sp>
        <p:nvSpPr>
          <p:cNvPr id="8" name="start-note">
            <a:extLst xmlns:a="http://schemas.openxmlformats.org/drawingml/2006/main">
              <a:ext uri="{FF2B5EF4-FFF2-40B4-BE49-F238E27FC236}">
                <a16:creationId xmlns:a16="http://schemas.microsoft.com/office/drawing/2014/main" id="{19647DDE-5E81-4CD6-B0A6-D4BB56BB8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5715000"/>
            <a:ext cx="714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8E4B61"/>
                </a:solidFill>
              </a:defRPr>
            </a:pPr>
            <a:r>
              <a:rPr sz="1875" b="1">
                <a:solidFill>
                  <a:srgbClr val="8E4B61"/>
                </a:solidFill>
              </a:rPr>
              <a:t>Beginner lesson  •  Live website  •  Full-screen version</a:t>
            </a:r>
          </a:p>
        </p:txBody>
      </p:sp>
    </p:spTree>
    <p:extLst>
      <p:ext uri="{BB962C8B-B14F-4D97-AF65-F5344CB8AC3E}">
        <p14:creationId xmlns:p14="http://schemas.microsoft.com/office/powerpoint/2010/main" val="1072115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FAAAC990-8D1E-4DAB-997A-EDFDEDF00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110642C-D403-4382-B182-DA2B80CEE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Required WordPress access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DFD6EF21-F493-4E3D-BCA0-F34B881E0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EE5A1D67-2C2D-449B-837A-5758D3F2A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1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107D1B88-CE90-4A2F-8E7F-E71C9070D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Add practitioner v1.1  •  2/16</a:t>
            </a:r>
          </a:p>
        </p:txBody>
      </p:sp>
      <p:sp>
        <p:nvSpPr>
          <p:cNvPr id="6" name="role-label">
            <a:extLst xmlns:a="http://schemas.openxmlformats.org/drawingml/2006/main">
              <a:ext uri="{FF2B5EF4-FFF2-40B4-BE49-F238E27FC236}">
                <a16:creationId xmlns:a16="http://schemas.microsoft.com/office/drawing/2014/main" id="{21CEF488-6E4F-44E8-8F05-6AA6704D6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428875"/>
            <a:ext cx="1333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3F7D50"/>
                </a:solidFill>
              </a:defRPr>
            </a:pPr>
            <a:r>
              <a:rPr sz="2100" b="1">
                <a:solidFill>
                  <a:srgbClr val="3F7D50"/>
                </a:solidFill>
              </a:rPr>
              <a:t>WORDPRESS ROLE REQUIRED</a:t>
            </a:r>
          </a:p>
        </p:txBody>
      </p:sp>
      <p:sp>
        <p:nvSpPr>
          <p:cNvPr id="7" name="role-value">
            <a:extLst xmlns:a="http://schemas.openxmlformats.org/drawingml/2006/main">
              <a:ext uri="{FF2B5EF4-FFF2-40B4-BE49-F238E27FC236}">
                <a16:creationId xmlns:a16="http://schemas.microsoft.com/office/drawing/2014/main" id="{46264B56-1318-4C06-BC7F-797EDD1C1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86125"/>
            <a:ext cx="15240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4950" b="1">
                <a:solidFill>
                  <a:srgbClr val="174C3C"/>
                </a:solidFill>
              </a:defRPr>
            </a:pPr>
            <a:r>
              <a:rPr sz="4950" b="1">
                <a:solidFill>
                  <a:srgbClr val="174C3C"/>
                </a:solidFill>
              </a:rPr>
              <a:t>Editor or Administrator</a:t>
            </a:r>
          </a:p>
        </p:txBody>
      </p:sp>
      <p:sp>
        <p:nvSpPr>
          <p:cNvPr id="8" name="enough-box">
            <a:extLst xmlns:a="http://schemas.openxmlformats.org/drawingml/2006/main">
              <a:ext uri="{FF2B5EF4-FFF2-40B4-BE49-F238E27FC236}">
                <a16:creationId xmlns:a16="http://schemas.microsoft.com/office/drawing/2014/main" id="{ADA83475-428E-40B9-B5D2-8A74D03A9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905375"/>
            <a:ext cx="838200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sp>
        <p:nvSpPr>
          <p:cNvPr id="9" name="enough">
            <a:extLst xmlns:a="http://schemas.openxmlformats.org/drawingml/2006/main">
              <a:ext uri="{FF2B5EF4-FFF2-40B4-BE49-F238E27FC236}">
                <a16:creationId xmlns:a16="http://schemas.microsoft.com/office/drawing/2014/main" id="{EC6E3E80-72EC-4E67-B118-552C8EFBE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238750"/>
            <a:ext cx="742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26342E"/>
                </a:solidFill>
              </a:defRPr>
            </a:pPr>
            <a:r>
              <a:rPr sz="2700" b="1">
                <a:solidFill>
                  <a:srgbClr val="26342E"/>
                </a:solidFill>
              </a:rPr>
              <a:t>Editor access is enough for this task.</a:t>
            </a:r>
          </a:p>
        </p:txBody>
      </p:sp>
      <p:sp>
        <p:nvSpPr>
          <p:cNvPr id="10" name="role-stop">
            <a:extLst xmlns:a="http://schemas.openxmlformats.org/drawingml/2006/main">
              <a:ext uri="{FF2B5EF4-FFF2-40B4-BE49-F238E27FC236}">
                <a16:creationId xmlns:a16="http://schemas.microsoft.com/office/drawing/2014/main" id="{D2811582-6E8C-41B2-BFE0-81BE3B23B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6953250"/>
            <a:ext cx="1133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025">
                <a:solidFill>
                  <a:srgbClr val="8E4B61"/>
                </a:solidFill>
              </a:defRPr>
            </a:pPr>
            <a:r>
              <a:rPr sz="2025">
                <a:solidFill>
                  <a:srgbClr val="8E4B61"/>
                </a:solidFill>
              </a:rPr>
              <a:t>If Medical Practicioners is missing, stop and ask the website administrator for help. User accounts are covered separately.</a:t>
            </a:r>
          </a:p>
        </p:txBody>
      </p:sp>
    </p:spTree>
    <p:extLst>
      <p:ext uri="{BB962C8B-B14F-4D97-AF65-F5344CB8AC3E}">
        <p14:creationId xmlns:p14="http://schemas.microsoft.com/office/powerpoint/2010/main" val="20542082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header-band">
            <a:extLst xmlns:a="http://schemas.openxmlformats.org/drawingml/2006/main">
              <a:ext uri="{FF2B5EF4-FFF2-40B4-BE49-F238E27FC236}">
                <a16:creationId xmlns:a16="http://schemas.microsoft.com/office/drawing/2014/main" id="{2B7229F9-12EB-49C1-BA2F-1EBD7566D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84242D1-95A4-4875-8EFC-38843ACCC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Sign in to the live website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4482FD05-761F-49C3-ACA9-8030C49E1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D1A4DEB5-1AD2-490C-AE6C-62F096320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2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80E01E7C-6E97-4CF2-99D3-70E0A3788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Add practitioner v1.1  •  3/16</a:t>
            </a:r>
          </a:p>
        </p:txBody>
      </p:sp>
      <p:sp>
        <p:nvSpPr>
          <p:cNvPr id="6" name="login-label">
            <a:extLst xmlns:a="http://schemas.openxmlformats.org/drawingml/2006/main">
              <a:ext uri="{FF2B5EF4-FFF2-40B4-BE49-F238E27FC236}">
                <a16:creationId xmlns:a16="http://schemas.microsoft.com/office/drawing/2014/main" id="{78C377A7-C011-4BCE-9725-1E6D1FCD5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714625"/>
            <a:ext cx="1352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3F7D50"/>
                </a:solidFill>
              </a:defRPr>
            </a:pPr>
            <a:r>
              <a:rPr sz="2100" b="1">
                <a:solidFill>
                  <a:srgbClr val="3F7D50"/>
                </a:solidFill>
              </a:rPr>
              <a:t>LIVE WORDPRESS LOGIN</a:t>
            </a:r>
          </a:p>
        </p:txBody>
      </p:sp>
      <p:sp>
        <p:nvSpPr>
          <p:cNvPr id="7" name="url-box">
            <a:extLst xmlns:a="http://schemas.openxmlformats.org/drawingml/2006/main">
              <a:ext uri="{FF2B5EF4-FFF2-40B4-BE49-F238E27FC236}">
                <a16:creationId xmlns:a16="http://schemas.microsoft.com/office/drawing/2014/main" id="{676B7AB7-D045-4FD8-A8ED-29D78FDD3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476625"/>
            <a:ext cx="14668500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sp>
        <p:nvSpPr>
          <p:cNvPr id="8" name="login-url">
            <a:extLst xmlns:a="http://schemas.openxmlformats.org/drawingml/2006/main">
              <a:ext uri="{FF2B5EF4-FFF2-40B4-BE49-F238E27FC236}">
                <a16:creationId xmlns:a16="http://schemas.microsoft.com/office/drawing/2014/main" id="{DAB01ED3-B55B-44DD-90E8-1EA47BA40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000500"/>
            <a:ext cx="1333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900" b="1">
                <a:solidFill>
                  <a:srgbClr val="174C3C"/>
                </a:solidFill>
              </a:defRPr>
            </a:pPr>
            <a:r>
              <a:rPr sz="3900" b="1">
                <a:solidFill>
                  <a:srgbClr val="174C3C"/>
                </a:solidFill>
              </a:rPr>
              <a:t>rebekahspureliving.com/wp-admin</a:t>
            </a:r>
          </a:p>
        </p:txBody>
      </p:sp>
      <p:sp>
        <p:nvSpPr>
          <p:cNvPr id="9" name="login-note">
            <a:extLst xmlns:a="http://schemas.openxmlformats.org/drawingml/2006/main">
              <a:ext uri="{FF2B5EF4-FFF2-40B4-BE49-F238E27FC236}">
                <a16:creationId xmlns:a16="http://schemas.microsoft.com/office/drawing/2014/main" id="{823C3F0D-DF47-464F-AAC9-2EC9A4A35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191250"/>
            <a:ext cx="1257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>
                <a:solidFill>
                  <a:srgbClr val="8E4B61"/>
                </a:solidFill>
              </a:defRPr>
            </a:pPr>
            <a:r>
              <a:rPr sz="2250">
                <a:solidFill>
                  <a:srgbClr val="8E4B61"/>
                </a:solidFill>
              </a:rPr>
              <a:t>Use your own login. Confirm the live domain. Do not use an old staging address.</a:t>
            </a:r>
          </a:p>
        </p:txBody>
      </p:sp>
    </p:spTree>
    <p:extLst>
      <p:ext uri="{BB962C8B-B14F-4D97-AF65-F5344CB8AC3E}">
        <p14:creationId xmlns:p14="http://schemas.microsoft.com/office/powerpoint/2010/main" val="8364025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3F343D95-AE8C-4643-9299-156D56A33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1C60F5D-5F4D-45D1-8EDD-733169564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Open All Medical Practicioners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F909A626-4E05-4DAC-91C0-595BB3865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CBC08ABB-9DD7-45BB-8B1A-A43284DE0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3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DECC1960-09CB-4064-9742-4AA050AA7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Add practitioner v1.1  •  4/16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F13372F0-B4C6-4533-885B-028729CC5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52500"/>
            <a:ext cx="17716500" cy="8905875"/>
          </a:xfrm>
          <a:prstGeom xmlns:a="http://schemas.openxmlformats.org/drawingml/2006/main" prst="roundRect">
            <a:avLst>
              <a:gd name="adj" fmla="val 8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9a9dd1124047b1"/>
          <a:stretch xmlns:a="http://schemas.openxmlformats.org/drawingml/2006/main"/>
        </p:blipFill>
        <p:spPr>
          <a:xfrm xmlns:a="http://schemas.openxmlformats.org/drawingml/2006/main">
            <a:off x="1809483" y="990600"/>
            <a:ext cx="14669033" cy="8829675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BC8955B9-8D63-40B6-AD88-D80B9B33A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483" y="3227451"/>
            <a:ext cx="1334262" cy="1491234"/>
          </a:xfrm>
          <a:prstGeom xmlns:a="http://schemas.openxmlformats.org/drawingml/2006/main" prst="roundRect">
            <a:avLst>
              <a:gd name="adj" fmla="val 5711"/>
            </a:avLst>
          </a:prstGeom>
          <a:noFill xmlns:a="http://schemas.openxmlformats.org/drawingml/2006/main"/>
          <a:ln xmlns:a="http://schemas.openxmlformats.org/drawingml/2006/main" w="76200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F52115E4-E015-493B-932F-F18FDE7AF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483" y="2770251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ED2AAB70-0013-472B-84D6-E07BC2C66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4733" y="2894076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LOOK HERE</a:t>
            </a:r>
          </a:p>
        </p:txBody>
      </p:sp>
      <p:sp>
        <p:nvSpPr>
          <p:cNvPr id="13" name="written-steps-s04-box">
            <a:extLst xmlns:a="http://schemas.openxmlformats.org/drawingml/2006/main">
              <a:ext uri="{FF2B5EF4-FFF2-40B4-BE49-F238E27FC236}">
                <a16:creationId xmlns:a16="http://schemas.microsoft.com/office/drawing/2014/main" id="{749CC583-2ADA-4B0C-B07C-A70D39419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2619375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47625">
            <a:solidFill>
              <a:srgbClr val="D6A33A"/>
            </a:solidFill>
            <a:prstDash val="solid"/>
          </a:ln>
        </p:spPr>
      </p:sp>
      <p:sp>
        <p:nvSpPr>
          <p:cNvPr id="14" name="written-steps-s04-heading">
            <a:extLst xmlns:a="http://schemas.openxmlformats.org/drawingml/2006/main">
              <a:ext uri="{FF2B5EF4-FFF2-40B4-BE49-F238E27FC236}">
                <a16:creationId xmlns:a16="http://schemas.microsoft.com/office/drawing/2014/main" id="{7F25953F-4AE7-4F02-A289-F98AEE3D9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16050" y="2790825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4C3C"/>
                </a:solidFill>
              </a:defRPr>
            </a:pPr>
            <a:r>
              <a:rPr sz="1650" b="1">
                <a:solidFill>
                  <a:srgbClr val="174C3C"/>
                </a:solidFill>
              </a:rPr>
              <a:t>WRITTEN STEPS</a:t>
            </a:r>
          </a:p>
        </p:txBody>
      </p:sp>
      <p:sp>
        <p:nvSpPr>
          <p:cNvPr id="15" name="written-steps-s04-body">
            <a:extLst xmlns:a="http://schemas.openxmlformats.org/drawingml/2006/main">
              <a:ext uri="{FF2B5EF4-FFF2-40B4-BE49-F238E27FC236}">
                <a16:creationId xmlns:a16="http://schemas.microsoft.com/office/drawing/2014/main" id="{10B576F1-08BF-4DE2-87D4-C0B5EEA2A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3248025"/>
            <a:ext cx="287655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26342E"/>
                </a:solidFill>
              </a:defRPr>
            </a:pPr>
            <a:r>
              <a:rPr sz="1500">
                <a:solidFill>
                  <a:srgbClr val="26342E"/>
                </a:solidFill>
              </a:rPr>
              <a:t>1. Click Medical Practicioners.</a:t>
            </a:r>
          </a:p>
          <a:p xmlns:a="http://schemas.openxmlformats.org/drawingml/2006/main">
            <a:pPr>
              <a:buNone/>
              <a:defRPr sz="1500">
                <a:solidFill>
                  <a:srgbClr val="26342E"/>
                </a:solidFill>
              </a:defRPr>
            </a:pPr>
            <a:r>
              <a:rPr sz="1500">
                <a:solidFill>
                  <a:srgbClr val="26342E"/>
                </a:solidFill>
              </a:rPr>
              <a:t>2. Click All Medical Practicioners.</a:t>
            </a:r>
          </a:p>
          <a:p xmlns:a="http://schemas.openxmlformats.org/drawingml/2006/main">
            <a:pPr>
              <a:buNone/>
              <a:defRPr sz="1500">
                <a:solidFill>
                  <a:srgbClr val="26342E"/>
                </a:solidFill>
              </a:defRPr>
            </a:pPr>
            <a:r>
              <a:rPr sz="1500">
                <a:solidFill>
                  <a:srgbClr val="26342E"/>
                </a:solidFill>
              </a:rPr>
              <a:t>3. Find Add New at the top.</a:t>
            </a:r>
          </a:p>
        </p:txBody>
      </p:sp>
    </p:spTree>
    <p:extLst>
      <p:ext uri="{BB962C8B-B14F-4D97-AF65-F5344CB8AC3E}">
        <p14:creationId xmlns:p14="http://schemas.microsoft.com/office/powerpoint/2010/main" val="4230552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143481F9-834A-47E5-A325-0D101CBF8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F068E14-D72B-4670-9452-CF258107C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Choose Add New Medical Practitioner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A2EA29D7-2ACD-4B7D-B5AA-1C15AF0DB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48E1E140-201E-4AE7-87C0-370AB94F9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4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F39B4467-816E-4759-B376-76FF60E77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Add practitioner v1.1  •  5/16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711B8736-D096-4EFF-AEE5-0F93BC613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52500"/>
            <a:ext cx="17716500" cy="8905875"/>
          </a:xfrm>
          <a:prstGeom xmlns:a="http://schemas.openxmlformats.org/drawingml/2006/main" prst="roundRect">
            <a:avLst>
              <a:gd name="adj" fmla="val 8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2c9a882be145d1"/>
          <a:stretch xmlns:a="http://schemas.openxmlformats.org/drawingml/2006/main"/>
        </p:blipFill>
        <p:spPr>
          <a:xfrm xmlns:a="http://schemas.openxmlformats.org/drawingml/2006/main">
            <a:off x="1809483" y="990600"/>
            <a:ext cx="14669033" cy="8829675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8395BCD8-3491-4343-A080-48E0EBF24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2988" y="2324862"/>
            <a:ext cx="6121908" cy="1216533"/>
          </a:xfrm>
          <a:prstGeom xmlns:a="http://schemas.openxmlformats.org/drawingml/2006/main" prst="roundRect">
            <a:avLst>
              <a:gd name="adj" fmla="val 6264"/>
            </a:avLst>
          </a:prstGeom>
          <a:noFill xmlns:a="http://schemas.openxmlformats.org/drawingml/2006/main"/>
          <a:ln xmlns:a="http://schemas.openxmlformats.org/drawingml/2006/main" w="76200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C29A73A6-4AE6-4794-8732-2A096D4A6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2988" y="1867662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43F7B89A-4DF5-4CDD-8967-44420CBAF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8238" y="1991487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LOOK HERE</a:t>
            </a:r>
          </a:p>
        </p:txBody>
      </p:sp>
      <p:sp>
        <p:nvSpPr>
          <p:cNvPr id="13" name="edit-cue-box">
            <a:extLst xmlns:a="http://schemas.openxmlformats.org/drawingml/2006/main">
              <a:ext uri="{FF2B5EF4-FFF2-40B4-BE49-F238E27FC236}">
                <a16:creationId xmlns:a16="http://schemas.microsoft.com/office/drawing/2014/main" id="{3DC60729-98AB-419F-8670-5757E7127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2047875"/>
            <a:ext cx="5572125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7F3E8"/>
          </a:solidFill>
          <a:ln xmlns:a="http://schemas.openxmlformats.org/drawingml/2006/main" w="57150">
            <a:solidFill>
              <a:srgbClr val="D6A33A"/>
            </a:solidFill>
            <a:prstDash val="solid"/>
          </a:ln>
        </p:spPr>
      </p:sp>
      <p:sp>
        <p:nvSpPr>
          <p:cNvPr id="14" name="edit-cue-instruction">
            <a:extLst xmlns:a="http://schemas.openxmlformats.org/drawingml/2006/main">
              <a:ext uri="{FF2B5EF4-FFF2-40B4-BE49-F238E27FC236}">
                <a16:creationId xmlns:a16="http://schemas.microsoft.com/office/drawing/2014/main" id="{FD1E51B8-97FF-43CA-A0FF-764F379A8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2209800"/>
            <a:ext cx="5000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26342E"/>
                </a:solidFill>
              </a:defRPr>
            </a:pPr>
            <a:r>
              <a:rPr sz="1425" b="1">
                <a:solidFill>
                  <a:srgbClr val="26342E"/>
                </a:solidFill>
              </a:rPr>
              <a:t>1. Find Add New Medical Practitioner.</a:t>
            </a:r>
          </a:p>
          <a:p xmlns:a="http://schemas.openxmlformats.org/drawingml/2006/main">
            <a:pPr>
              <a:buNone/>
              <a:defRPr sz="1425" b="1">
                <a:solidFill>
                  <a:srgbClr val="26342E"/>
                </a:solidFill>
              </a:defRPr>
            </a:pPr>
            <a:r>
              <a:rPr sz="1425" b="1">
                <a:solidFill>
                  <a:srgbClr val="26342E"/>
                </a:solidFill>
              </a:rPr>
              <a:t>2. Create only one approved record.</a:t>
            </a:r>
          </a:p>
        </p:txBody>
      </p:sp>
      <p:sp>
        <p:nvSpPr>
          <p:cNvPr id="15" name="edit-cue-action">
            <a:extLst xmlns:a="http://schemas.openxmlformats.org/drawingml/2006/main">
              <a:ext uri="{FF2B5EF4-FFF2-40B4-BE49-F238E27FC236}">
                <a16:creationId xmlns:a16="http://schemas.microsoft.com/office/drawing/2014/main" id="{686BEBBF-4C0E-4C8C-8C1A-8A824FA37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2933700"/>
            <a:ext cx="5000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174C3C"/>
                </a:solidFill>
              </a:defRPr>
            </a:pPr>
            <a:r>
              <a:rPr sz="2025" b="1">
                <a:solidFill>
                  <a:srgbClr val="174C3C"/>
                </a:solidFill>
              </a:rPr>
              <a:t>3. Click Add New once.</a:t>
            </a:r>
          </a:p>
        </p:txBody>
      </p:sp>
    </p:spTree>
    <p:extLst>
      <p:ext uri="{BB962C8B-B14F-4D97-AF65-F5344CB8AC3E}">
        <p14:creationId xmlns:p14="http://schemas.microsoft.com/office/powerpoint/2010/main" val="43108029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2E9E6FA6-B0B0-40DA-91DB-89CD89307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4D9CA27-6EA9-421D-A76B-D742963AE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Keep the new record as a draft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41293AF6-FE7C-4032-99E0-26FF56641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005B85BF-E489-47F0-835C-A81B4785C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5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AD3589C4-D9D5-43D2-BB71-AC30A6C07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Add practitioner v1.1  •  6/16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2558B131-DB65-4EB2-87A5-1F26D7B99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52500"/>
            <a:ext cx="17716500" cy="8905875"/>
          </a:xfrm>
          <a:prstGeom xmlns:a="http://schemas.openxmlformats.org/drawingml/2006/main" prst="roundRect">
            <a:avLst>
              <a:gd name="adj" fmla="val 8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9bade80fa049c6"/>
          <a:stretch xmlns:a="http://schemas.openxmlformats.org/drawingml/2006/main"/>
        </p:blipFill>
        <p:spPr>
          <a:xfrm xmlns:a="http://schemas.openxmlformats.org/drawingml/2006/main">
            <a:off x="1715300" y="990600"/>
            <a:ext cx="14857400" cy="8829675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2FF21450-62B5-4892-94A6-FF0CFC654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483" y="4797171"/>
            <a:ext cx="11890629" cy="4787646"/>
          </a:xfrm>
          <a:prstGeom xmlns:a="http://schemas.openxmlformats.org/drawingml/2006/main" prst="roundRect">
            <a:avLst>
              <a:gd name="adj" fmla="val 1592"/>
            </a:avLst>
          </a:prstGeom>
          <a:noFill xmlns:a="http://schemas.openxmlformats.org/drawingml/2006/main"/>
          <a:ln xmlns:a="http://schemas.openxmlformats.org/drawingml/2006/main" w="76200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98F40A2C-7F3E-46BB-9626-D4B8B6A20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483" y="4339971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734B08F6-49C9-4F2C-A153-275607E2F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4733" y="4463796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LOOK HERE</a:t>
            </a:r>
          </a:p>
        </p:txBody>
      </p:sp>
      <p:sp>
        <p:nvSpPr>
          <p:cNvPr id="13" name="written-steps-s06-box">
            <a:extLst xmlns:a="http://schemas.openxmlformats.org/drawingml/2006/main">
              <a:ext uri="{FF2B5EF4-FFF2-40B4-BE49-F238E27FC236}">
                <a16:creationId xmlns:a16="http://schemas.microsoft.com/office/drawing/2014/main" id="{6BCAB271-1F81-4B56-B476-704BFBC67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2476500"/>
            <a:ext cx="3333750" cy="3286125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47625">
            <a:solidFill>
              <a:srgbClr val="D6A33A"/>
            </a:solidFill>
            <a:prstDash val="solid"/>
          </a:ln>
        </p:spPr>
      </p:sp>
      <p:sp>
        <p:nvSpPr>
          <p:cNvPr id="14" name="written-steps-s06-heading">
            <a:extLst xmlns:a="http://schemas.openxmlformats.org/drawingml/2006/main">
              <a:ext uri="{FF2B5EF4-FFF2-40B4-BE49-F238E27FC236}">
                <a16:creationId xmlns:a16="http://schemas.microsoft.com/office/drawing/2014/main" id="{A50D89C6-9780-40E8-AB8A-4A91D56B8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16050" y="2647950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4C3C"/>
                </a:solidFill>
              </a:defRPr>
            </a:pPr>
            <a:r>
              <a:rPr sz="1650" b="1">
                <a:solidFill>
                  <a:srgbClr val="174C3C"/>
                </a:solidFill>
              </a:rPr>
              <a:t>WRITTEN STEPS</a:t>
            </a:r>
          </a:p>
        </p:txBody>
      </p:sp>
      <p:sp>
        <p:nvSpPr>
          <p:cNvPr id="15" name="written-steps-s06-body">
            <a:extLst xmlns:a="http://schemas.openxmlformats.org/drawingml/2006/main">
              <a:ext uri="{FF2B5EF4-FFF2-40B4-BE49-F238E27FC236}">
                <a16:creationId xmlns:a16="http://schemas.microsoft.com/office/drawing/2014/main" id="{EEE3997E-FC18-439D-B505-AF6CF1E1B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3105150"/>
            <a:ext cx="2876550" cy="2466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26342E"/>
                </a:solidFill>
              </a:defRPr>
            </a:pPr>
            <a:r>
              <a:rPr sz="1425">
                <a:solidFill>
                  <a:srgbClr val="26342E"/>
                </a:solidFill>
              </a:rPr>
              <a:t>1. Keep the record as Draft.</a:t>
            </a:r>
          </a:p>
          <a:p xmlns:a="http://schemas.openxmlformats.org/drawingml/2006/main">
            <a:pPr>
              <a:buNone/>
              <a:defRPr sz="1425">
                <a:solidFill>
                  <a:srgbClr val="26342E"/>
                </a:solidFill>
              </a:defRPr>
            </a:pPr>
            <a:r>
              <a:rPr sz="1425">
                <a:solidFill>
                  <a:srgbClr val="26342E"/>
                </a:solidFill>
              </a:rPr>
              <a:t>2. Open Medical Practicioner fields.</a:t>
            </a:r>
          </a:p>
          <a:p xmlns:a="http://schemas.openxmlformats.org/drawingml/2006/main">
            <a:pPr>
              <a:buNone/>
              <a:defRPr sz="1425">
                <a:solidFill>
                  <a:srgbClr val="26342E"/>
                </a:solidFill>
              </a:defRPr>
            </a:pPr>
            <a:r>
              <a:rPr sz="1425">
                <a:solidFill>
                  <a:srgbClr val="26342E"/>
                </a:solidFill>
              </a:rPr>
              <a:t>3. Stop if the fields are missing.</a:t>
            </a:r>
          </a:p>
        </p:txBody>
      </p:sp>
    </p:spTree>
    <p:extLst>
      <p:ext uri="{BB962C8B-B14F-4D97-AF65-F5344CB8AC3E}">
        <p14:creationId xmlns:p14="http://schemas.microsoft.com/office/powerpoint/2010/main" val="116968589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82829DCF-8334-4A11-92AA-AA873026A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09BE32B-C955-439D-AA0F-C0D75D058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Choose only approved service categories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1B7654F2-011D-472C-9567-1F4120A05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7C30ABE2-3453-4749-9378-30981C942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6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1E321EEB-9D33-44CE-8749-CE76C91D6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Add practitioner v1.1  •  7/16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3A46D963-A8F0-44D9-8034-67C6AA1DF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52500"/>
            <a:ext cx="17716500" cy="8905875"/>
          </a:xfrm>
          <a:prstGeom xmlns:a="http://schemas.openxmlformats.org/drawingml/2006/main" prst="roundRect">
            <a:avLst>
              <a:gd name="adj" fmla="val 8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2257d609624b38"/>
          <a:stretch xmlns:a="http://schemas.openxmlformats.org/drawingml/2006/main"/>
        </p:blipFill>
        <p:spPr>
          <a:xfrm xmlns:a="http://schemas.openxmlformats.org/drawingml/2006/main">
            <a:off x="1715300" y="990600"/>
            <a:ext cx="14857400" cy="8829675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43B94B79-7019-4BCB-BA54-2ED5D3BBF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483" y="4365498"/>
            <a:ext cx="9261348" cy="5101590"/>
          </a:xfrm>
          <a:prstGeom xmlns:a="http://schemas.openxmlformats.org/drawingml/2006/main" prst="roundRect">
            <a:avLst>
              <a:gd name="adj" fmla="val 1494"/>
            </a:avLst>
          </a:prstGeom>
          <a:noFill xmlns:a="http://schemas.openxmlformats.org/drawingml/2006/main"/>
          <a:ln xmlns:a="http://schemas.openxmlformats.org/drawingml/2006/main" w="76200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ED741AFC-ED9D-4B41-A2E1-063C3C0EC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483" y="3908298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CEEB048B-20E4-418B-A596-BA8ACDE18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4733" y="4032123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LOOK HERE</a:t>
            </a:r>
          </a:p>
        </p:txBody>
      </p:sp>
      <p:sp>
        <p:nvSpPr>
          <p:cNvPr id="13" name="written-steps-s07-box">
            <a:extLst xmlns:a="http://schemas.openxmlformats.org/drawingml/2006/main">
              <a:ext uri="{FF2B5EF4-FFF2-40B4-BE49-F238E27FC236}">
                <a16:creationId xmlns:a16="http://schemas.microsoft.com/office/drawing/2014/main" id="{0F19B1DB-3B3B-49C1-80BC-96FCE7521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2476500"/>
            <a:ext cx="3333750" cy="3286125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47625">
            <a:solidFill>
              <a:srgbClr val="D6A33A"/>
            </a:solidFill>
            <a:prstDash val="solid"/>
          </a:ln>
        </p:spPr>
      </p:sp>
      <p:sp>
        <p:nvSpPr>
          <p:cNvPr id="14" name="written-steps-s07-heading">
            <a:extLst xmlns:a="http://schemas.openxmlformats.org/drawingml/2006/main">
              <a:ext uri="{FF2B5EF4-FFF2-40B4-BE49-F238E27FC236}">
                <a16:creationId xmlns:a16="http://schemas.microsoft.com/office/drawing/2014/main" id="{82F39FEE-796F-4780-ABB1-8EFCF569F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16050" y="2647950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4C3C"/>
                </a:solidFill>
              </a:defRPr>
            </a:pPr>
            <a:r>
              <a:rPr sz="1650" b="1">
                <a:solidFill>
                  <a:srgbClr val="174C3C"/>
                </a:solidFill>
              </a:rPr>
              <a:t>WRITTEN STEPS</a:t>
            </a:r>
          </a:p>
        </p:txBody>
      </p:sp>
      <p:sp>
        <p:nvSpPr>
          <p:cNvPr id="15" name="written-steps-s07-body">
            <a:extLst xmlns:a="http://schemas.openxmlformats.org/drawingml/2006/main">
              <a:ext uri="{FF2B5EF4-FFF2-40B4-BE49-F238E27FC236}">
                <a16:creationId xmlns:a16="http://schemas.microsoft.com/office/drawing/2014/main" id="{7B905C5E-FC7C-4CAF-A6DE-D492D9B84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3105150"/>
            <a:ext cx="2876550" cy="2466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26342E"/>
                </a:solidFill>
              </a:defRPr>
            </a:pPr>
            <a:r>
              <a:rPr sz="1425">
                <a:solidFill>
                  <a:srgbClr val="26342E"/>
                </a:solidFill>
              </a:rPr>
              <a:t>1. Find Medical Service.</a:t>
            </a:r>
          </a:p>
          <a:p xmlns:a="http://schemas.openxmlformats.org/drawingml/2006/main">
            <a:pPr>
              <a:buNone/>
              <a:defRPr sz="1425">
                <a:solidFill>
                  <a:srgbClr val="26342E"/>
                </a:solidFill>
              </a:defRPr>
            </a:pPr>
            <a:r>
              <a:rPr sz="1425">
                <a:solidFill>
                  <a:srgbClr val="26342E"/>
                </a:solidFill>
              </a:rPr>
              <a:t>2. Check only approved categories.</a:t>
            </a:r>
          </a:p>
          <a:p xmlns:a="http://schemas.openxmlformats.org/drawingml/2006/main">
            <a:pPr>
              <a:buNone/>
              <a:defRPr sz="1425">
                <a:solidFill>
                  <a:srgbClr val="26342E"/>
                </a:solidFill>
              </a:defRPr>
            </a:pPr>
            <a:r>
              <a:rPr sz="1425">
                <a:solidFill>
                  <a:srgbClr val="26342E"/>
                </a:solidFill>
              </a:rPr>
              <a:t>3. Do not create or guess a category.</a:t>
            </a:r>
          </a:p>
        </p:txBody>
      </p:sp>
    </p:spTree>
    <p:extLst>
      <p:ext uri="{BB962C8B-B14F-4D97-AF65-F5344CB8AC3E}">
        <p14:creationId xmlns:p14="http://schemas.microsoft.com/office/powerpoint/2010/main" val="100926406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80A95A64-F5B0-44B7-9713-BC9E41B48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96BB6CA-56ED-40B6-9A1E-E8FBC17A6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Enter the practice and public name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77B59FE8-443D-4492-91EA-9E45046E7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C85D188C-EA31-40E0-9586-75A696085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7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ECF027A5-28D3-461C-BA9A-EF4A51208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Add practitioner v1.1  •  8/16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027E7F89-40CF-47A4-A8F5-1AB624BB7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52500"/>
            <a:ext cx="17716500" cy="8905875"/>
          </a:xfrm>
          <a:prstGeom xmlns:a="http://schemas.openxmlformats.org/drawingml/2006/main" prst="roundRect">
            <a:avLst>
              <a:gd name="adj" fmla="val 8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879195e42746c1"/>
          <a:stretch xmlns:a="http://schemas.openxmlformats.org/drawingml/2006/main"/>
        </p:blipFill>
        <p:spPr>
          <a:xfrm xmlns:a="http://schemas.openxmlformats.org/drawingml/2006/main">
            <a:off x="1715300" y="990600"/>
            <a:ext cx="14857400" cy="8829675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181649F0-E664-40C2-9EB4-38F151F8E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483" y="5111115"/>
            <a:ext cx="11890629" cy="2354580"/>
          </a:xfrm>
          <a:prstGeom xmlns:a="http://schemas.openxmlformats.org/drawingml/2006/main" prst="roundRect">
            <a:avLst>
              <a:gd name="adj" fmla="val 3236"/>
            </a:avLst>
          </a:prstGeom>
          <a:noFill xmlns:a="http://schemas.openxmlformats.org/drawingml/2006/main"/>
          <a:ln xmlns:a="http://schemas.openxmlformats.org/drawingml/2006/main" w="76200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08F3D016-7D5B-488B-A5BC-3EF8D50D4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483" y="4653915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2435039D-3438-4B61-AF0F-5F3E0110E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4733" y="477774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LOOK HERE</a:t>
            </a:r>
          </a:p>
        </p:txBody>
      </p:sp>
      <p:sp>
        <p:nvSpPr>
          <p:cNvPr id="13" name="written-steps-s08-box">
            <a:extLst xmlns:a="http://schemas.openxmlformats.org/drawingml/2006/main">
              <a:ext uri="{FF2B5EF4-FFF2-40B4-BE49-F238E27FC236}">
                <a16:creationId xmlns:a16="http://schemas.microsoft.com/office/drawing/2014/main" id="{F533EB29-2E4A-455E-AB83-2CA68715A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2476500"/>
            <a:ext cx="3333750" cy="3286125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47625">
            <a:solidFill>
              <a:srgbClr val="D6A33A"/>
            </a:solidFill>
            <a:prstDash val="solid"/>
          </a:ln>
        </p:spPr>
      </p:sp>
      <p:sp>
        <p:nvSpPr>
          <p:cNvPr id="14" name="written-steps-s08-heading">
            <a:extLst xmlns:a="http://schemas.openxmlformats.org/drawingml/2006/main">
              <a:ext uri="{FF2B5EF4-FFF2-40B4-BE49-F238E27FC236}">
                <a16:creationId xmlns:a16="http://schemas.microsoft.com/office/drawing/2014/main" id="{8563A368-8E5F-4070-B59B-ED6A2C739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16050" y="2647950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4C3C"/>
                </a:solidFill>
              </a:defRPr>
            </a:pPr>
            <a:r>
              <a:rPr sz="1650" b="1">
                <a:solidFill>
                  <a:srgbClr val="174C3C"/>
                </a:solidFill>
              </a:rPr>
              <a:t>WRITTEN STEPS</a:t>
            </a:r>
          </a:p>
        </p:txBody>
      </p:sp>
      <p:sp>
        <p:nvSpPr>
          <p:cNvPr id="15" name="written-steps-s08-body">
            <a:extLst xmlns:a="http://schemas.openxmlformats.org/drawingml/2006/main">
              <a:ext uri="{FF2B5EF4-FFF2-40B4-BE49-F238E27FC236}">
                <a16:creationId xmlns:a16="http://schemas.microsoft.com/office/drawing/2014/main" id="{6B60E56E-3903-43F7-9E43-44208304E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3105150"/>
            <a:ext cx="2876550" cy="2466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26342E"/>
                </a:solidFill>
              </a:defRPr>
            </a:pPr>
            <a:r>
              <a:rPr sz="1425">
                <a:solidFill>
                  <a:srgbClr val="26342E"/>
                </a:solidFill>
              </a:rPr>
              <a:t>1. Enter the approved Medical Center.</a:t>
            </a:r>
          </a:p>
          <a:p xmlns:a="http://schemas.openxmlformats.org/drawingml/2006/main">
            <a:pPr>
              <a:buNone/>
              <a:defRPr sz="1425">
                <a:solidFill>
                  <a:srgbClr val="26342E"/>
                </a:solidFill>
              </a:defRPr>
            </a:pPr>
            <a:r>
              <a:rPr sz="1425">
                <a:solidFill>
                  <a:srgbClr val="26342E"/>
                </a:solidFill>
              </a:rPr>
              <a:t>2. Enter the exact public name.</a:t>
            </a:r>
          </a:p>
          <a:p xmlns:a="http://schemas.openxmlformats.org/drawingml/2006/main">
            <a:pPr>
              <a:buNone/>
              <a:defRPr sz="1425">
                <a:solidFill>
                  <a:srgbClr val="26342E"/>
                </a:solidFill>
              </a:defRPr>
            </a:pPr>
            <a:r>
              <a:rPr sz="1425">
                <a:solidFill>
                  <a:srgbClr val="26342E"/>
                </a:solidFill>
              </a:rPr>
              <a:t>3. Match spelling and credentials.</a:t>
            </a:r>
          </a:p>
        </p:txBody>
      </p:sp>
    </p:spTree>
    <p:extLst>
      <p:ext uri="{BB962C8B-B14F-4D97-AF65-F5344CB8AC3E}">
        <p14:creationId xmlns:p14="http://schemas.microsoft.com/office/powerpoint/2010/main" val="55715601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A27D9FC1-5260-4252-BB51-89A72D4D1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EFE1540-B34E-4F3E-A3F5-5AEF9AE8A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Add the approved description in Visual mode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EBCAA534-4276-4EC9-962E-85E50B92D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CDD1637E-34F1-44FD-B840-90B49880C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8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254D989C-85DA-4E82-B69E-E4B1A3635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Add practitioner v1.1  •  9/16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6567CD9E-A9C3-4700-90A4-15F366985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52500"/>
            <a:ext cx="17716500" cy="8905875"/>
          </a:xfrm>
          <a:prstGeom xmlns:a="http://schemas.openxmlformats.org/drawingml/2006/main" prst="roundRect">
            <a:avLst>
              <a:gd name="adj" fmla="val 8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04bb5c1e424588"/>
          <a:stretch xmlns:a="http://schemas.openxmlformats.org/drawingml/2006/main"/>
        </p:blipFill>
        <p:spPr>
          <a:xfrm xmlns:a="http://schemas.openxmlformats.org/drawingml/2006/main">
            <a:off x="1715300" y="990600"/>
            <a:ext cx="14857400" cy="8829675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F86AD51D-C12E-4956-A090-E42926187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483" y="4483227"/>
            <a:ext cx="11890629" cy="4709160"/>
          </a:xfrm>
          <a:prstGeom xmlns:a="http://schemas.openxmlformats.org/drawingml/2006/main" prst="roundRect">
            <a:avLst>
              <a:gd name="adj" fmla="val 1618"/>
            </a:avLst>
          </a:prstGeom>
          <a:noFill xmlns:a="http://schemas.openxmlformats.org/drawingml/2006/main"/>
          <a:ln xmlns:a="http://schemas.openxmlformats.org/drawingml/2006/main" w="76200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BEA5DB97-AED1-49C8-BF20-A7B6FD7A2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483" y="4026027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DB60F1F2-6E74-4006-B59B-D02763286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4733" y="4149852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LOOK HERE</a:t>
            </a:r>
          </a:p>
        </p:txBody>
      </p:sp>
      <p:sp>
        <p:nvSpPr>
          <p:cNvPr id="13" name="written-steps-s09-box">
            <a:extLst xmlns:a="http://schemas.openxmlformats.org/drawingml/2006/main">
              <a:ext uri="{FF2B5EF4-FFF2-40B4-BE49-F238E27FC236}">
                <a16:creationId xmlns:a16="http://schemas.microsoft.com/office/drawing/2014/main" id="{4ABC69C6-DAD4-4F33-9D0B-71C0042FB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2476500"/>
            <a:ext cx="3333750" cy="3286125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47625">
            <a:solidFill>
              <a:srgbClr val="D6A33A"/>
            </a:solidFill>
            <a:prstDash val="solid"/>
          </a:ln>
        </p:spPr>
      </p:sp>
      <p:sp>
        <p:nvSpPr>
          <p:cNvPr id="14" name="written-steps-s09-heading">
            <a:extLst xmlns:a="http://schemas.openxmlformats.org/drawingml/2006/main">
              <a:ext uri="{FF2B5EF4-FFF2-40B4-BE49-F238E27FC236}">
                <a16:creationId xmlns:a16="http://schemas.microsoft.com/office/drawing/2014/main" id="{A67D71E3-0150-41E7-8E63-2A3F77821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16050" y="2647950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4C3C"/>
                </a:solidFill>
              </a:defRPr>
            </a:pPr>
            <a:r>
              <a:rPr sz="1650" b="1">
                <a:solidFill>
                  <a:srgbClr val="174C3C"/>
                </a:solidFill>
              </a:rPr>
              <a:t>WRITTEN STEPS</a:t>
            </a:r>
          </a:p>
        </p:txBody>
      </p:sp>
      <p:sp>
        <p:nvSpPr>
          <p:cNvPr id="15" name="written-steps-s09-body">
            <a:extLst xmlns:a="http://schemas.openxmlformats.org/drawingml/2006/main">
              <a:ext uri="{FF2B5EF4-FFF2-40B4-BE49-F238E27FC236}">
                <a16:creationId xmlns:a16="http://schemas.microsoft.com/office/drawing/2014/main" id="{7902B29C-2B93-41ED-ABA6-92C8BE4A4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3105150"/>
            <a:ext cx="2876550" cy="2466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26342E"/>
                </a:solidFill>
              </a:defRPr>
            </a:pPr>
            <a:r>
              <a:rPr sz="1425">
                <a:solidFill>
                  <a:srgbClr val="26342E"/>
                </a:solidFill>
              </a:rPr>
              <a:t>1. Select Visual.</a:t>
            </a:r>
          </a:p>
          <a:p xmlns:a="http://schemas.openxmlformats.org/drawingml/2006/main">
            <a:pPr>
              <a:buNone/>
              <a:defRPr sz="1425">
                <a:solidFill>
                  <a:srgbClr val="26342E"/>
                </a:solidFill>
              </a:defRPr>
            </a:pPr>
            <a:r>
              <a:rPr sz="1425">
                <a:solidFill>
                  <a:srgbClr val="26342E"/>
                </a:solidFill>
              </a:rPr>
              <a:t>2. Add only approved public copy.</a:t>
            </a:r>
          </a:p>
          <a:p xmlns:a="http://schemas.openxmlformats.org/drawingml/2006/main">
            <a:pPr>
              <a:buNone/>
              <a:defRPr sz="1425">
                <a:solidFill>
                  <a:srgbClr val="26342E"/>
                </a:solidFill>
              </a:defRPr>
            </a:pPr>
            <a:r>
              <a:rPr sz="1425">
                <a:solidFill>
                  <a:srgbClr val="26342E"/>
                </a:solidFill>
              </a:rPr>
              <a:t>3. Preserve the paragraph breaks.</a:t>
            </a:r>
          </a:p>
        </p:txBody>
      </p:sp>
    </p:spTree>
    <p:extLst>
      <p:ext uri="{BB962C8B-B14F-4D97-AF65-F5344CB8AC3E}">
        <p14:creationId xmlns:p14="http://schemas.microsoft.com/office/powerpoint/2010/main" val="213277689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2DA7032F-7E6B-4CE3-B00F-4B702D6A1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6057A19-5377-4D1E-B250-2E5DE94F5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Add only approved public contact details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61719648-24DD-438D-94E8-5301BE014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0978755A-D9CA-48B6-9573-E10438ED5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9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2A2A232-1E7D-4AD4-B07A-DD9F58279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Add practitioner v1.1  •  10/16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C19091F1-2EB5-4DCE-8FD4-4EA769B5C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52500"/>
            <a:ext cx="17716500" cy="8905875"/>
          </a:xfrm>
          <a:prstGeom xmlns:a="http://schemas.openxmlformats.org/drawingml/2006/main" prst="roundRect">
            <a:avLst>
              <a:gd name="adj" fmla="val 8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654886d8ce4110"/>
          <a:stretch xmlns:a="http://schemas.openxmlformats.org/drawingml/2006/main"/>
        </p:blipFill>
        <p:spPr>
          <a:xfrm xmlns:a="http://schemas.openxmlformats.org/drawingml/2006/main">
            <a:off x="1715300" y="990600"/>
            <a:ext cx="14857400" cy="8829675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AE6F87FC-1C92-4486-A3E2-1B7B12C86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483" y="4287012"/>
            <a:ext cx="11890629" cy="5180076"/>
          </a:xfrm>
          <a:prstGeom xmlns:a="http://schemas.openxmlformats.org/drawingml/2006/main" prst="roundRect">
            <a:avLst>
              <a:gd name="adj" fmla="val 1471"/>
            </a:avLst>
          </a:prstGeom>
          <a:noFill xmlns:a="http://schemas.openxmlformats.org/drawingml/2006/main"/>
          <a:ln xmlns:a="http://schemas.openxmlformats.org/drawingml/2006/main" w="76200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8793BAAC-B320-4576-845D-79F558EE5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483" y="3829812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6DA7D80F-A0B2-4384-A92A-9B553EF52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4733" y="3953637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LOOK HERE</a:t>
            </a:r>
          </a:p>
        </p:txBody>
      </p:sp>
      <p:sp>
        <p:nvSpPr>
          <p:cNvPr id="13" name="written-steps-s10-box">
            <a:extLst xmlns:a="http://schemas.openxmlformats.org/drawingml/2006/main">
              <a:ext uri="{FF2B5EF4-FFF2-40B4-BE49-F238E27FC236}">
                <a16:creationId xmlns:a16="http://schemas.microsoft.com/office/drawing/2014/main" id="{47D5217A-E42C-4ADF-9103-30D511652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2476500"/>
            <a:ext cx="3333750" cy="3286125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47625">
            <a:solidFill>
              <a:srgbClr val="D6A33A"/>
            </a:solidFill>
            <a:prstDash val="solid"/>
          </a:ln>
        </p:spPr>
      </p:sp>
      <p:sp>
        <p:nvSpPr>
          <p:cNvPr id="14" name="written-steps-s10-heading">
            <a:extLst xmlns:a="http://schemas.openxmlformats.org/drawingml/2006/main">
              <a:ext uri="{FF2B5EF4-FFF2-40B4-BE49-F238E27FC236}">
                <a16:creationId xmlns:a16="http://schemas.microsoft.com/office/drawing/2014/main" id="{780B9F1D-0BB3-4C1A-B929-5C80B4BF2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16050" y="2647950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4C3C"/>
                </a:solidFill>
              </a:defRPr>
            </a:pPr>
            <a:r>
              <a:rPr sz="1650" b="1">
                <a:solidFill>
                  <a:srgbClr val="174C3C"/>
                </a:solidFill>
              </a:rPr>
              <a:t>WRITTEN STEPS</a:t>
            </a:r>
          </a:p>
        </p:txBody>
      </p:sp>
      <p:sp>
        <p:nvSpPr>
          <p:cNvPr id="15" name="written-steps-s10-body">
            <a:extLst xmlns:a="http://schemas.openxmlformats.org/drawingml/2006/main">
              <a:ext uri="{FF2B5EF4-FFF2-40B4-BE49-F238E27FC236}">
                <a16:creationId xmlns:a16="http://schemas.microsoft.com/office/drawing/2014/main" id="{59DF0A13-2632-4088-9ED5-479F2E0AE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3105150"/>
            <a:ext cx="2876550" cy="2466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26342E"/>
                </a:solidFill>
              </a:defRPr>
            </a:pPr>
            <a:r>
              <a:rPr sz="1350">
                <a:solidFill>
                  <a:srgbClr val="26342E"/>
                </a:solidFill>
              </a:rPr>
              <a:t>1. Add approved public details.</a:t>
            </a:r>
          </a:p>
          <a:p xmlns:a="http://schemas.openxmlformats.org/drawingml/2006/main">
            <a:pPr>
              <a:buNone/>
              <a:defRPr sz="1350">
                <a:solidFill>
                  <a:srgbClr val="26342E"/>
                </a:solidFill>
              </a:defRPr>
            </a:pPr>
            <a:r>
              <a:rPr sz="1350">
                <a:solidFill>
                  <a:srgbClr val="26342E"/>
                </a:solidFill>
              </a:rPr>
              <a:t>2. Test every phone and web link.</a:t>
            </a:r>
          </a:p>
          <a:p xmlns:a="http://schemas.openxmlformats.org/drawingml/2006/main">
            <a:pPr>
              <a:buNone/>
              <a:defRPr sz="1350">
                <a:solidFill>
                  <a:srgbClr val="26342E"/>
                </a:solidFill>
              </a:defRPr>
            </a:pPr>
            <a:r>
              <a:rPr sz="1350">
                <a:solidFill>
                  <a:srgbClr val="26342E"/>
                </a:solidFill>
              </a:rPr>
              <a:t>3. Remove placeholders or private data.</a:t>
            </a:r>
          </a:p>
        </p:txBody>
      </p:sp>
    </p:spTree>
    <p:extLst>
      <p:ext uri="{BB962C8B-B14F-4D97-AF65-F5344CB8AC3E}">
        <p14:creationId xmlns:p14="http://schemas.microsoft.com/office/powerpoint/2010/main" val="175542564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00204415-C09B-43F4-A516-EEC81F602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B162462-8680-4C8A-9A60-074308842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Review every field before publishing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24D5385C-E589-4C92-8FC7-FC262FF7A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40E3938C-6AC8-45DB-A8ED-156F32322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10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ECBE663F-4CB9-43B0-A538-E0A353C78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Add practitioner v1.1  •  11/16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A9A4AD72-F189-4B70-82FC-AA50CB14C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52500"/>
            <a:ext cx="17716500" cy="8905875"/>
          </a:xfrm>
          <a:prstGeom xmlns:a="http://schemas.openxmlformats.org/drawingml/2006/main" prst="roundRect">
            <a:avLst>
              <a:gd name="adj" fmla="val 8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87d918c62c4347"/>
          <a:stretch xmlns:a="http://schemas.openxmlformats.org/drawingml/2006/main"/>
        </p:blipFill>
        <p:spPr>
          <a:xfrm xmlns:a="http://schemas.openxmlformats.org/drawingml/2006/main">
            <a:off x="1715300" y="990600"/>
            <a:ext cx="14857400" cy="8829675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D016561C-4CDD-4D4B-A3FC-656999134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483" y="5111115"/>
            <a:ext cx="11890629" cy="2354580"/>
          </a:xfrm>
          <a:prstGeom xmlns:a="http://schemas.openxmlformats.org/drawingml/2006/main" prst="roundRect">
            <a:avLst>
              <a:gd name="adj" fmla="val 3236"/>
            </a:avLst>
          </a:prstGeom>
          <a:noFill xmlns:a="http://schemas.openxmlformats.org/drawingml/2006/main"/>
          <a:ln xmlns:a="http://schemas.openxmlformats.org/drawingml/2006/main" w="76200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F3D2DF43-20BB-42E7-B00E-48996C727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483" y="4653915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3A18022C-E37F-4BF8-9F20-7B03040CB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4733" y="477774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LOOK HERE</a:t>
            </a:r>
          </a:p>
        </p:txBody>
      </p:sp>
      <p:sp>
        <p:nvSpPr>
          <p:cNvPr id="13" name="written-steps-s11-box">
            <a:extLst xmlns:a="http://schemas.openxmlformats.org/drawingml/2006/main">
              <a:ext uri="{FF2B5EF4-FFF2-40B4-BE49-F238E27FC236}">
                <a16:creationId xmlns:a16="http://schemas.microsoft.com/office/drawing/2014/main" id="{675C4915-8EB7-4966-8DF8-3A318ACC4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2476500"/>
            <a:ext cx="3333750" cy="3286125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47625">
            <a:solidFill>
              <a:srgbClr val="D6A33A"/>
            </a:solidFill>
            <a:prstDash val="solid"/>
          </a:ln>
        </p:spPr>
      </p:sp>
      <p:sp>
        <p:nvSpPr>
          <p:cNvPr id="14" name="written-steps-s11-heading">
            <a:extLst xmlns:a="http://schemas.openxmlformats.org/drawingml/2006/main">
              <a:ext uri="{FF2B5EF4-FFF2-40B4-BE49-F238E27FC236}">
                <a16:creationId xmlns:a16="http://schemas.microsoft.com/office/drawing/2014/main" id="{DB8BA70E-1E1C-42FF-8AD2-9CCC11CA1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16050" y="2647950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4C3C"/>
                </a:solidFill>
              </a:defRPr>
            </a:pPr>
            <a:r>
              <a:rPr sz="1650" b="1">
                <a:solidFill>
                  <a:srgbClr val="174C3C"/>
                </a:solidFill>
              </a:rPr>
              <a:t>WRITTEN STEPS</a:t>
            </a:r>
          </a:p>
        </p:txBody>
      </p:sp>
      <p:sp>
        <p:nvSpPr>
          <p:cNvPr id="15" name="written-steps-s11-body">
            <a:extLst xmlns:a="http://schemas.openxmlformats.org/drawingml/2006/main">
              <a:ext uri="{FF2B5EF4-FFF2-40B4-BE49-F238E27FC236}">
                <a16:creationId xmlns:a16="http://schemas.microsoft.com/office/drawing/2014/main" id="{EF2C2CC5-DFDA-44D3-88A6-EB8D397E0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3105150"/>
            <a:ext cx="2876550" cy="2466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26342E"/>
                </a:solidFill>
              </a:defRPr>
            </a:pPr>
            <a:r>
              <a:rPr sz="1350">
                <a:solidFill>
                  <a:srgbClr val="26342E"/>
                </a:solidFill>
              </a:rPr>
              <a:t>1. Re-read every field.</a:t>
            </a:r>
          </a:p>
          <a:p xmlns:a="http://schemas.openxmlformats.org/drawingml/2006/main">
            <a:pPr>
              <a:buNone/>
              <a:defRPr sz="1350">
                <a:solidFill>
                  <a:srgbClr val="26342E"/>
                </a:solidFill>
              </a:defRPr>
            </a:pPr>
            <a:r>
              <a:rPr sz="1350">
                <a:solidFill>
                  <a:srgbClr val="26342E"/>
                </a:solidFill>
              </a:rPr>
              <a:t>2. Compare with the approved information.</a:t>
            </a:r>
          </a:p>
          <a:p xmlns:a="http://schemas.openxmlformats.org/drawingml/2006/main">
            <a:pPr>
              <a:buNone/>
              <a:defRPr sz="1350">
                <a:solidFill>
                  <a:srgbClr val="26342E"/>
                </a:solidFill>
              </a:defRPr>
            </a:pPr>
            <a:r>
              <a:rPr sz="1350">
                <a:solidFill>
                  <a:srgbClr val="26342E"/>
                </a:solidFill>
              </a:rPr>
              <a:t>3. Leave as Draft if anything is uncertain.</a:t>
            </a:r>
          </a:p>
        </p:txBody>
      </p:sp>
    </p:spTree>
    <p:extLst>
      <p:ext uri="{BB962C8B-B14F-4D97-AF65-F5344CB8AC3E}">
        <p14:creationId xmlns:p14="http://schemas.microsoft.com/office/powerpoint/2010/main" val="6575466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9AC37860-02D0-40F1-AAEC-EE8A9036D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03ED3AB-F080-471C-A7DD-3920DCF69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Publish or Save once—and wait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06BFEEE2-6DDB-483C-B2F7-35AE637E0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D65A1AD8-730E-4F6A-BC01-73913E23D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11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026265E-08BC-472F-BF44-245C92B3F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Add practitioner v1.1  •  12/16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93542544-2909-447A-A48A-04F41BFAC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52500"/>
            <a:ext cx="17716500" cy="8905875"/>
          </a:xfrm>
          <a:prstGeom xmlns:a="http://schemas.openxmlformats.org/drawingml/2006/main" prst="roundRect">
            <a:avLst>
              <a:gd name="adj" fmla="val 8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6b54c81ddd4330"/>
          <a:stretch xmlns:a="http://schemas.openxmlformats.org/drawingml/2006/main"/>
        </p:blipFill>
        <p:spPr>
          <a:xfrm xmlns:a="http://schemas.openxmlformats.org/drawingml/2006/main">
            <a:off x="1715300" y="990600"/>
            <a:ext cx="14857400" cy="8829675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D6B35B9E-062E-43EE-BB3A-6607DCC25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5691" y="990600"/>
            <a:ext cx="1922907" cy="981075"/>
          </a:xfrm>
          <a:prstGeom xmlns:a="http://schemas.openxmlformats.org/drawingml/2006/main" prst="roundRect">
            <a:avLst>
              <a:gd name="adj" fmla="val 7767"/>
            </a:avLst>
          </a:prstGeom>
          <a:noFill xmlns:a="http://schemas.openxmlformats.org/drawingml/2006/main"/>
          <a:ln xmlns:a="http://schemas.openxmlformats.org/drawingml/2006/main" w="76200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EA0DD2F0-C3FE-4A82-AAC3-E5C6C3A90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5691" y="1009650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58E679B1-3331-4685-A450-09A536619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0941" y="11334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LOOK HERE</a:t>
            </a:r>
          </a:p>
        </p:txBody>
      </p:sp>
      <p:sp>
        <p:nvSpPr>
          <p:cNvPr id="13" name="written-steps-s12-box">
            <a:extLst xmlns:a="http://schemas.openxmlformats.org/drawingml/2006/main">
              <a:ext uri="{FF2B5EF4-FFF2-40B4-BE49-F238E27FC236}">
                <a16:creationId xmlns:a16="http://schemas.microsoft.com/office/drawing/2014/main" id="{AE96A1A7-2080-4A02-92EC-C234016CF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2476500"/>
            <a:ext cx="3333750" cy="3286125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47625">
            <a:solidFill>
              <a:srgbClr val="D6A33A"/>
            </a:solidFill>
            <a:prstDash val="solid"/>
          </a:ln>
        </p:spPr>
      </p:sp>
      <p:sp>
        <p:nvSpPr>
          <p:cNvPr id="14" name="written-steps-s12-heading">
            <a:extLst xmlns:a="http://schemas.openxmlformats.org/drawingml/2006/main">
              <a:ext uri="{FF2B5EF4-FFF2-40B4-BE49-F238E27FC236}">
                <a16:creationId xmlns:a16="http://schemas.microsoft.com/office/drawing/2014/main" id="{8659E305-1C06-41F7-B96B-24B1D38F2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16050" y="2647950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4C3C"/>
                </a:solidFill>
              </a:defRPr>
            </a:pPr>
            <a:r>
              <a:rPr sz="1650" b="1">
                <a:solidFill>
                  <a:srgbClr val="174C3C"/>
                </a:solidFill>
              </a:rPr>
              <a:t>WRITTEN STEPS</a:t>
            </a:r>
          </a:p>
        </p:txBody>
      </p:sp>
      <p:sp>
        <p:nvSpPr>
          <p:cNvPr id="15" name="written-steps-s12-body">
            <a:extLst xmlns:a="http://schemas.openxmlformats.org/drawingml/2006/main">
              <a:ext uri="{FF2B5EF4-FFF2-40B4-BE49-F238E27FC236}">
                <a16:creationId xmlns:a16="http://schemas.microsoft.com/office/drawing/2014/main" id="{85081FAA-0F62-48F5-A83B-901A83C27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3105150"/>
            <a:ext cx="2876550" cy="2466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26342E"/>
                </a:solidFill>
              </a:defRPr>
            </a:pPr>
            <a:r>
              <a:rPr sz="1425">
                <a:solidFill>
                  <a:srgbClr val="26342E"/>
                </a:solidFill>
              </a:rPr>
              <a:t>1. Click Publish or Save once.</a:t>
            </a:r>
          </a:p>
          <a:p xmlns:a="http://schemas.openxmlformats.org/drawingml/2006/main">
            <a:pPr>
              <a:buNone/>
              <a:defRPr sz="1425">
                <a:solidFill>
                  <a:srgbClr val="26342E"/>
                </a:solidFill>
              </a:defRPr>
            </a:pPr>
            <a:r>
              <a:rPr sz="1425">
                <a:solidFill>
                  <a:srgbClr val="26342E"/>
                </a:solidFill>
              </a:rPr>
              <a:t>2. Wait for confirmation.</a:t>
            </a:r>
          </a:p>
          <a:p xmlns:a="http://schemas.openxmlformats.org/drawingml/2006/main">
            <a:pPr>
              <a:buNone/>
              <a:defRPr sz="1425">
                <a:solidFill>
                  <a:srgbClr val="26342E"/>
                </a:solidFill>
              </a:defRPr>
            </a:pPr>
            <a:r>
              <a:rPr sz="1425">
                <a:solidFill>
                  <a:srgbClr val="26342E"/>
                </a:solidFill>
              </a:rPr>
              <a:t>3. Do not click repeatedly.</a:t>
            </a:r>
          </a:p>
        </p:txBody>
      </p:sp>
    </p:spTree>
    <p:extLst>
      <p:ext uri="{BB962C8B-B14F-4D97-AF65-F5344CB8AC3E}">
        <p14:creationId xmlns:p14="http://schemas.microsoft.com/office/powerpoint/2010/main" val="145456703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45A71D21-0EF2-4507-993D-4DB38F862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C3AC40A-A6CC-491E-9E0B-BB697AA53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74C3C"/>
                </a:solidFill>
              </a:defRPr>
            </a:pPr>
            <a:r>
              <a:rPr sz="2550" b="1">
                <a:solidFill>
                  <a:srgbClr val="174C3C"/>
                </a:solidFill>
              </a:rPr>
              <a:t>Clear only the applicable cache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47F7DE6B-AEA3-495C-8875-2DB934088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37D68557-DCCA-4704-9414-561988DE3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12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4EE6A30-5E38-4C0C-B1B5-183B8F06F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Add practitioner v1.1  •  13/16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C171564A-9FFE-42A1-837F-141E5D5CE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52500"/>
            <a:ext cx="17716500" cy="8905875"/>
          </a:xfrm>
          <a:prstGeom xmlns:a="http://schemas.openxmlformats.org/drawingml/2006/main" prst="roundRect">
            <a:avLst>
              <a:gd name="adj" fmla="val 8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9e949c63f24dc9"/>
          <a:stretch xmlns:a="http://schemas.openxmlformats.org/drawingml/2006/main"/>
        </p:blipFill>
        <p:spPr>
          <a:xfrm xmlns:a="http://schemas.openxmlformats.org/drawingml/2006/main">
            <a:off x="1809483" y="990600"/>
            <a:ext cx="14669033" cy="8829675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5925F395-3AE0-458F-AC8F-92ECAC02E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2988" y="2324862"/>
            <a:ext cx="6121908" cy="1216533"/>
          </a:xfrm>
          <a:prstGeom xmlns:a="http://schemas.openxmlformats.org/drawingml/2006/main" prst="roundRect">
            <a:avLst>
              <a:gd name="adj" fmla="val 6264"/>
            </a:avLst>
          </a:prstGeom>
          <a:noFill xmlns:a="http://schemas.openxmlformats.org/drawingml/2006/main"/>
          <a:ln xmlns:a="http://schemas.openxmlformats.org/drawingml/2006/main" w="76200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11775FA4-9811-4BF9-A4C6-FA75DA40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2988" y="1867662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066C8F92-B295-4084-958B-157EE6563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8238" y="1991487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LOOK HERE</a:t>
            </a:r>
          </a:p>
        </p:txBody>
      </p:sp>
      <p:sp>
        <p:nvSpPr>
          <p:cNvPr id="13" name="cache-cue-box">
            <a:extLst xmlns:a="http://schemas.openxmlformats.org/drawingml/2006/main">
              <a:ext uri="{FF2B5EF4-FFF2-40B4-BE49-F238E27FC236}">
                <a16:creationId xmlns:a16="http://schemas.microsoft.com/office/drawing/2014/main" id="{63AE86B5-DAA9-4BC6-B2FB-5231AF08E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2047875"/>
            <a:ext cx="5572125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7F3E8"/>
          </a:solidFill>
          <a:ln xmlns:a="http://schemas.openxmlformats.org/drawingml/2006/main" w="57150">
            <a:solidFill>
              <a:srgbClr val="D6A33A"/>
            </a:solidFill>
            <a:prstDash val="solid"/>
          </a:ln>
        </p:spPr>
      </p:sp>
      <p:sp>
        <p:nvSpPr>
          <p:cNvPr id="14" name="cache-cue-instruction">
            <a:extLst xmlns:a="http://schemas.openxmlformats.org/drawingml/2006/main">
              <a:ext uri="{FF2B5EF4-FFF2-40B4-BE49-F238E27FC236}">
                <a16:creationId xmlns:a16="http://schemas.microsoft.com/office/drawing/2014/main" id="{CC0FB520-EB88-4FF0-929C-7722B705A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2209800"/>
            <a:ext cx="5000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26342E"/>
                </a:solidFill>
              </a:defRPr>
            </a:pPr>
            <a:r>
              <a:rPr sz="1425" b="1">
                <a:solidFill>
                  <a:srgbClr val="26342E"/>
                </a:solidFill>
              </a:rPr>
              <a:t>1. Return to the practitioner list.</a:t>
            </a:r>
          </a:p>
          <a:p xmlns:a="http://schemas.openxmlformats.org/drawingml/2006/main">
            <a:pPr>
              <a:buNone/>
              <a:defRPr sz="1425" b="1">
                <a:solidFill>
                  <a:srgbClr val="26342E"/>
                </a:solidFill>
              </a:defRPr>
            </a:pPr>
            <a:r>
              <a:rPr sz="1425" b="1">
                <a:solidFill>
                  <a:srgbClr val="26342E"/>
                </a:solidFill>
              </a:rPr>
              <a:t>2. Find the new record.</a:t>
            </a:r>
          </a:p>
        </p:txBody>
      </p:sp>
      <p:sp>
        <p:nvSpPr>
          <p:cNvPr id="15" name="cache-cue-action">
            <a:extLst xmlns:a="http://schemas.openxmlformats.org/drawingml/2006/main">
              <a:ext uri="{FF2B5EF4-FFF2-40B4-BE49-F238E27FC236}">
                <a16:creationId xmlns:a16="http://schemas.microsoft.com/office/drawing/2014/main" id="{B6D5F10A-0932-45CB-82F5-1F7B55C9D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2933700"/>
            <a:ext cx="5000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174C3C"/>
                </a:solidFill>
              </a:defRPr>
            </a:pPr>
            <a:r>
              <a:rPr sz="2025" b="1">
                <a:solidFill>
                  <a:srgbClr val="174C3C"/>
                </a:solidFill>
              </a:rPr>
              <a:t>3. Click Clear Cache once.</a:t>
            </a:r>
          </a:p>
        </p:txBody>
      </p:sp>
    </p:spTree>
    <p:extLst>
      <p:ext uri="{BB962C8B-B14F-4D97-AF65-F5344CB8AC3E}">
        <p14:creationId xmlns:p14="http://schemas.microsoft.com/office/powerpoint/2010/main" val="187470296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0AA533D2-BE24-46A8-A65F-98CE3B461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4EDB082-46ED-4422-94D9-1E9547CCE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Verify the exact public directory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5B8D6E69-0499-4817-BA76-B2F8FB8EA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A63A66C6-F41D-4B45-94BB-D40CE5D86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13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2354369C-FB52-44DE-B423-2FDFF33D5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Add practitioner v1.1  •  14/16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83A1A526-5618-4E26-AFAC-3CBDE0CC7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52500"/>
            <a:ext cx="17716500" cy="8905875"/>
          </a:xfrm>
          <a:prstGeom xmlns:a="http://schemas.openxmlformats.org/drawingml/2006/main" prst="roundRect">
            <a:avLst>
              <a:gd name="adj" fmla="val 8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81500593684345"/>
          <a:stretch xmlns:a="http://schemas.openxmlformats.org/drawingml/2006/main"/>
        </p:blipFill>
        <p:spPr>
          <a:xfrm xmlns:a="http://schemas.openxmlformats.org/drawingml/2006/main">
            <a:off x="1381735" y="1398630"/>
            <a:ext cx="15524531" cy="8013615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A56D7C2D-EF40-4D21-8C26-2465770C6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5100" y="3580638"/>
            <a:ext cx="11301984" cy="5101590"/>
          </a:xfrm>
          <a:prstGeom xmlns:a="http://schemas.openxmlformats.org/drawingml/2006/main" prst="roundRect">
            <a:avLst>
              <a:gd name="adj" fmla="val 1494"/>
            </a:avLst>
          </a:prstGeom>
          <a:noFill xmlns:a="http://schemas.openxmlformats.org/drawingml/2006/main"/>
          <a:ln xmlns:a="http://schemas.openxmlformats.org/drawingml/2006/main" w="76200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88E5471D-3B6A-4F1F-8EE8-BCD0EEEC5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5100" y="3123438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B9940694-2672-4251-A044-50B23665D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0350" y="3247263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LOOK HERE</a:t>
            </a:r>
          </a:p>
        </p:txBody>
      </p:sp>
      <p:sp>
        <p:nvSpPr>
          <p:cNvPr id="13" name="written-steps-s14-box">
            <a:extLst xmlns:a="http://schemas.openxmlformats.org/drawingml/2006/main">
              <a:ext uri="{FF2B5EF4-FFF2-40B4-BE49-F238E27FC236}">
                <a16:creationId xmlns:a16="http://schemas.microsoft.com/office/drawing/2014/main" id="{6DC89904-0505-4186-A6F9-DE145750A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8572500"/>
            <a:ext cx="34290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38100">
            <a:solidFill>
              <a:srgbClr val="D6A33A"/>
            </a:solidFill>
            <a:prstDash val="solid"/>
          </a:ln>
        </p:spPr>
      </p:sp>
      <p:sp>
        <p:nvSpPr>
          <p:cNvPr id="14" name="written-steps-s14-heading">
            <a:extLst xmlns:a="http://schemas.openxmlformats.org/drawingml/2006/main">
              <a:ext uri="{FF2B5EF4-FFF2-40B4-BE49-F238E27FC236}">
                <a16:creationId xmlns:a16="http://schemas.microsoft.com/office/drawing/2014/main" id="{E56D5C24-D474-49BD-8D23-ABC67D4B4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9350" y="8648700"/>
            <a:ext cx="3162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74C3C"/>
                </a:solidFill>
              </a:defRPr>
            </a:pPr>
            <a:r>
              <a:rPr sz="1125" b="1">
                <a:solidFill>
                  <a:srgbClr val="174C3C"/>
                </a:solidFill>
              </a:rPr>
              <a:t>WRITTEN CHECK</a:t>
            </a:r>
          </a:p>
        </p:txBody>
      </p:sp>
      <p:sp>
        <p:nvSpPr>
          <p:cNvPr id="15" name="written-steps-s14-body">
            <a:extLst xmlns:a="http://schemas.openxmlformats.org/drawingml/2006/main">
              <a:ext uri="{FF2B5EF4-FFF2-40B4-BE49-F238E27FC236}">
                <a16:creationId xmlns:a16="http://schemas.microsoft.com/office/drawing/2014/main" id="{8D41BF83-9913-4A25-8265-FF672CFA7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9825" y="8896350"/>
            <a:ext cx="3181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26342E"/>
                </a:solidFill>
              </a:defRPr>
            </a:pPr>
            <a:r>
              <a:rPr sz="1050">
                <a:solidFill>
                  <a:srgbClr val="26342E"/>
                </a:solidFill>
              </a:rPr>
              <a:t>1. Search the name, practice, or city.</a:t>
            </a:r>
          </a:p>
          <a:p xmlns:a="http://schemas.openxmlformats.org/drawingml/2006/main">
            <a:pPr>
              <a:buNone/>
              <a:defRPr sz="1050">
                <a:solidFill>
                  <a:srgbClr val="26342E"/>
                </a:solidFill>
              </a:defRPr>
            </a:pPr>
            <a:r>
              <a:rPr sz="1050">
                <a:solidFill>
                  <a:srgbClr val="26342E"/>
                </a:solidFill>
              </a:rPr>
              <a:t>2. Confirm the category and details.</a:t>
            </a:r>
          </a:p>
          <a:p xmlns:a="http://schemas.openxmlformats.org/drawingml/2006/main">
            <a:pPr>
              <a:buNone/>
              <a:defRPr sz="1050">
                <a:solidFill>
                  <a:srgbClr val="26342E"/>
                </a:solidFill>
              </a:defRPr>
            </a:pPr>
            <a:r>
              <a:rPr sz="1050">
                <a:solidFill>
                  <a:srgbClr val="26342E"/>
                </a:solidFill>
              </a:rPr>
              <a:t>3. Test the public links.</a:t>
            </a:r>
          </a:p>
        </p:txBody>
      </p:sp>
    </p:spTree>
    <p:extLst>
      <p:ext uri="{BB962C8B-B14F-4D97-AF65-F5344CB8AC3E}">
        <p14:creationId xmlns:p14="http://schemas.microsoft.com/office/powerpoint/2010/main" val="46343482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F7C4EE00-7D04-4B85-AE44-397B93845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1FEAAAD-0656-4343-A284-DD5066DE9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Open the full listing and check a phone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97CEDD81-6C44-49B3-B6BE-F0D0EDE20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A0604F83-8D73-4185-83C0-01685C9AB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6342E"/>
                </a:solidFill>
              </a:defRPr>
            </a:pPr>
            <a:r>
              <a:rPr sz="1875" b="1">
                <a:solidFill>
                  <a:srgbClr val="26342E"/>
                </a:solidFill>
              </a:rPr>
              <a:t>14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4012E193-791F-4DAA-8DE2-0991E8653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Add practitioner v1.1  •  15/16</a:t>
            </a:r>
          </a:p>
        </p:txBody>
      </p:sp>
      <p:sp>
        <p:nvSpPr>
          <p:cNvPr id="6" name="screen-frame">
            <a:extLst xmlns:a="http://schemas.openxmlformats.org/drawingml/2006/main">
              <a:ext uri="{FF2B5EF4-FFF2-40B4-BE49-F238E27FC236}">
                <a16:creationId xmlns:a16="http://schemas.microsoft.com/office/drawing/2014/main" id="{AE640E1B-D4D1-4291-A802-A4751BDA3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52500"/>
            <a:ext cx="17716500" cy="8905875"/>
          </a:xfrm>
          <a:prstGeom xmlns:a="http://schemas.openxmlformats.org/drawingml/2006/main" prst="roundRect">
            <a:avLst>
              <a:gd name="adj" fmla="val 8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C3A0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af392a0e724a39"/>
          <a:stretch xmlns:a="http://schemas.openxmlformats.org/drawingml/2006/main"/>
        </p:blipFill>
        <p:spPr>
          <a:xfrm xmlns:a="http://schemas.openxmlformats.org/drawingml/2006/main">
            <a:off x="1381735" y="990600"/>
            <a:ext cx="15524531" cy="8829675"/>
          </a:xfrm>
          <a:prstGeom xmlns:a="http://schemas.openxmlformats.org/drawingml/2006/main" prst="rect">
            <a:avLst/>
          </a:prstGeom>
        </p:spPr>
      </p:pic>
      <p:sp>
        <p:nvSpPr>
          <p:cNvPr id="8" name="look-here-highlight">
            <a:extLst xmlns:a="http://schemas.openxmlformats.org/drawingml/2006/main">
              <a:ext uri="{FF2B5EF4-FFF2-40B4-BE49-F238E27FC236}">
                <a16:creationId xmlns:a16="http://schemas.microsoft.com/office/drawing/2014/main" id="{6F05081D-1D84-41B2-AD2E-2381274ED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586" y="990600"/>
            <a:ext cx="4473702" cy="7220712"/>
          </a:xfrm>
          <a:prstGeom xmlns:a="http://schemas.openxmlformats.org/drawingml/2006/main" prst="roundRect">
            <a:avLst>
              <a:gd name="adj" fmla="val 1703"/>
            </a:avLst>
          </a:prstGeom>
          <a:noFill xmlns:a="http://schemas.openxmlformats.org/drawingml/2006/main"/>
          <a:ln xmlns:a="http://schemas.openxmlformats.org/drawingml/2006/main" w="76200">
            <a:solidFill>
              <a:srgbClr val="D6A33A"/>
            </a:solidFill>
            <a:prstDash val="solid"/>
          </a:ln>
        </p:spPr>
      </p:sp>
      <p:sp>
        <p:nvSpPr>
          <p:cNvPr id="9" name="look-here-label">
            <a:extLst xmlns:a="http://schemas.openxmlformats.org/drawingml/2006/main">
              <a:ext uri="{FF2B5EF4-FFF2-40B4-BE49-F238E27FC236}">
                <a16:creationId xmlns:a16="http://schemas.microsoft.com/office/drawing/2014/main" id="{8EE2F574-CD98-424B-8C85-2E177CA37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586" y="1009650"/>
            <a:ext cx="161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10" name="look-here-text">
            <a:extLst xmlns:a="http://schemas.openxmlformats.org/drawingml/2006/main">
              <a:ext uri="{FF2B5EF4-FFF2-40B4-BE49-F238E27FC236}">
                <a16:creationId xmlns:a16="http://schemas.microsoft.com/office/drawing/2014/main" id="{43E433C4-7BE3-4567-A7D4-BAC17E8AC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8836" y="11334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6342E"/>
                </a:solidFill>
              </a:defRPr>
            </a:pPr>
            <a:r>
              <a:rPr sz="1350" b="1">
                <a:solidFill>
                  <a:srgbClr val="26342E"/>
                </a:solidFill>
              </a:rPr>
              <a:t>LOOK HERE</a:t>
            </a:r>
          </a:p>
        </p:txBody>
      </p:sp>
      <p:sp>
        <p:nvSpPr>
          <p:cNvPr id="13" name="written-steps-s15-box">
            <a:extLst xmlns:a="http://schemas.openxmlformats.org/drawingml/2006/main">
              <a:ext uri="{FF2B5EF4-FFF2-40B4-BE49-F238E27FC236}">
                <a16:creationId xmlns:a16="http://schemas.microsoft.com/office/drawing/2014/main" id="{95F7E925-0EF7-4F1A-9828-BF8ECBF0A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571750"/>
            <a:ext cx="619125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FFDF6"/>
          </a:solidFill>
          <a:ln xmlns:a="http://schemas.openxmlformats.org/drawingml/2006/main" w="47625">
            <a:solidFill>
              <a:srgbClr val="D6A33A"/>
            </a:solidFill>
            <a:prstDash val="solid"/>
          </a:ln>
        </p:spPr>
      </p:sp>
      <p:sp>
        <p:nvSpPr>
          <p:cNvPr id="14" name="written-steps-s15-heading">
            <a:extLst xmlns:a="http://schemas.openxmlformats.org/drawingml/2006/main">
              <a:ext uri="{FF2B5EF4-FFF2-40B4-BE49-F238E27FC236}">
                <a16:creationId xmlns:a16="http://schemas.microsoft.com/office/drawing/2014/main" id="{14D4D90E-89F6-47C7-9D04-00F10433D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743200"/>
            <a:ext cx="5772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74C3C"/>
                </a:solidFill>
              </a:defRPr>
            </a:pPr>
            <a:r>
              <a:rPr sz="1650" b="1">
                <a:solidFill>
                  <a:srgbClr val="174C3C"/>
                </a:solidFill>
              </a:rPr>
              <a:t>WRITTEN STEPS</a:t>
            </a:r>
          </a:p>
        </p:txBody>
      </p:sp>
      <p:sp>
        <p:nvSpPr>
          <p:cNvPr id="15" name="written-steps-s15-body">
            <a:extLst xmlns:a="http://schemas.openxmlformats.org/drawingml/2006/main">
              <a:ext uri="{FF2B5EF4-FFF2-40B4-BE49-F238E27FC236}">
                <a16:creationId xmlns:a16="http://schemas.microsoft.com/office/drawing/2014/main" id="{CC6F111D-F8F6-4BF7-B6D2-F9566B6C9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200400"/>
            <a:ext cx="5734050" cy="251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725">
                <a:solidFill>
                  <a:srgbClr val="26342E"/>
                </a:solidFill>
              </a:defRPr>
            </a:pPr>
            <a:r>
              <a:rPr sz="1725">
                <a:solidFill>
                  <a:srgbClr val="26342E"/>
                </a:solidFill>
              </a:rPr>
              <a:t>1. Click View full listing.</a:t>
            </a:r>
          </a:p>
          <a:p xmlns:a="http://schemas.openxmlformats.org/drawingml/2006/main">
            <a:pPr>
              <a:buNone/>
              <a:defRPr sz="1725">
                <a:solidFill>
                  <a:srgbClr val="26342E"/>
                </a:solidFill>
              </a:defRPr>
            </a:pPr>
            <a:r>
              <a:rPr sz="1725">
                <a:solidFill>
                  <a:srgbClr val="26342E"/>
                </a:solidFill>
              </a:rPr>
              <a:t>2. Check every detail and link.</a:t>
            </a:r>
          </a:p>
          <a:p xmlns:a="http://schemas.openxmlformats.org/drawingml/2006/main">
            <a:pPr>
              <a:buNone/>
              <a:defRPr sz="1725">
                <a:solidFill>
                  <a:srgbClr val="26342E"/>
                </a:solidFill>
              </a:defRPr>
            </a:pPr>
            <a:r>
              <a:rPr sz="1725">
                <a:solidFill>
                  <a:srgbClr val="26342E"/>
                </a:solidFill>
              </a:rPr>
              <a:t>3. Repeat the check on a phone.</a:t>
            </a:r>
          </a:p>
        </p:txBody>
      </p:sp>
    </p:spTree>
    <p:extLst>
      <p:ext uri="{BB962C8B-B14F-4D97-AF65-F5344CB8AC3E}">
        <p14:creationId xmlns:p14="http://schemas.microsoft.com/office/powerpoint/2010/main" val="177241682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header-band">
            <a:extLst xmlns:a="http://schemas.openxmlformats.org/drawingml/2006/main">
              <a:ext uri="{FF2B5EF4-FFF2-40B4-BE49-F238E27FC236}">
                <a16:creationId xmlns:a16="http://schemas.microsoft.com/office/drawing/2014/main" id="{56D56CF1-CB42-43F8-A171-CAD658D52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solidFill>
              <a:srgbClr val="F7F3E8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F12736A-3237-432B-A27F-95B5DF3AA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9075"/>
            <a:ext cx="1476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174C3C"/>
                </a:solidFill>
              </a:defRPr>
            </a:pPr>
            <a:r>
              <a:rPr sz="3000" b="1">
                <a:solidFill>
                  <a:srgbClr val="174C3C"/>
                </a:solidFill>
              </a:rPr>
              <a:t>Always finish with the same three checks</a:t>
            </a:r>
          </a:p>
        </p:txBody>
      </p:sp>
      <p:sp>
        <p:nvSpPr>
          <p:cNvPr id="3" name="step">
            <a:extLst xmlns:a="http://schemas.openxmlformats.org/drawingml/2006/main">
              <a:ext uri="{FF2B5EF4-FFF2-40B4-BE49-F238E27FC236}">
                <a16:creationId xmlns:a16="http://schemas.microsoft.com/office/drawing/2014/main" id="{96965DEC-E8BD-4604-B486-4FCC9370B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0" y="190500"/>
            <a:ext cx="161925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D6A33A"/>
          </a:solidFill>
          <a:ln xmlns:a="http://schemas.openxmlformats.org/drawingml/2006/main" w="9525">
            <a:solidFill>
              <a:srgbClr val="D6A33A"/>
            </a:solidFill>
            <a:prstDash val="solid"/>
          </a:ln>
        </p:spPr>
      </p:sp>
      <p:sp>
        <p:nvSpPr>
          <p:cNvPr id="4" name="step-text">
            <a:extLst xmlns:a="http://schemas.openxmlformats.org/drawingml/2006/main">
              <a:ext uri="{FF2B5EF4-FFF2-40B4-BE49-F238E27FC236}">
                <a16:creationId xmlns:a16="http://schemas.microsoft.com/office/drawing/2014/main" id="{261E1EE3-6C69-493C-8A0E-3A5F5D276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6800" y="3238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26342E"/>
                </a:solidFill>
              </a:defRPr>
            </a:pPr>
            <a:r>
              <a:rPr sz="1500" b="1">
                <a:solidFill>
                  <a:srgbClr val="26342E"/>
                </a:solidFill>
              </a:rPr>
              <a:t>DONE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5770A9C1-8828-4AC2-BAB6-54F4919F8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25" y="998220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3F7D50"/>
                </a:solidFill>
              </a:defRPr>
            </a:pPr>
            <a:r>
              <a:rPr sz="975">
                <a:solidFill>
                  <a:srgbClr val="3F7D50"/>
                </a:solidFill>
              </a:rPr>
              <a:t>Add practitioner v1.1  •  16/16</a:t>
            </a:r>
          </a:p>
        </p:txBody>
      </p:sp>
      <p:sp>
        <p:nvSpPr>
          <p:cNvPr id="6" name="closing">
            <a:extLst xmlns:a="http://schemas.openxmlformats.org/drawingml/2006/main">
              <a:ext uri="{FF2B5EF4-FFF2-40B4-BE49-F238E27FC236}">
                <a16:creationId xmlns:a16="http://schemas.microsoft.com/office/drawing/2014/main" id="{C20E6F55-B1B6-4049-95D7-58D9DF005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24125"/>
            <a:ext cx="15430500" cy="3714750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174C3C"/>
          </a:solidFill>
          <a:ln xmlns:a="http://schemas.openxmlformats.org/drawingml/2006/main" w="9525">
            <a:solidFill>
              <a:srgbClr val="174C3C"/>
            </a:solidFill>
            <a:prstDash val="solid"/>
          </a:ln>
        </p:spPr>
      </p:sp>
      <p:sp>
        <p:nvSpPr>
          <p:cNvPr id="7" name="closing-main">
            <a:extLst xmlns:a="http://schemas.openxmlformats.org/drawingml/2006/main">
              <a:ext uri="{FF2B5EF4-FFF2-40B4-BE49-F238E27FC236}">
                <a16:creationId xmlns:a16="http://schemas.microsoft.com/office/drawing/2014/main" id="{B82384AB-1979-489F-BB04-85435FC7F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524250"/>
            <a:ext cx="13430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SAVE  →  CLEAR APPLICABLE CACHE  →  VERIFY LIVE</a:t>
            </a:r>
          </a:p>
        </p:txBody>
      </p:sp>
      <p:sp>
        <p:nvSpPr>
          <p:cNvPr id="8" name="closing-sub">
            <a:extLst xmlns:a="http://schemas.openxmlformats.org/drawingml/2006/main">
              <a:ext uri="{FF2B5EF4-FFF2-40B4-BE49-F238E27FC236}">
                <a16:creationId xmlns:a16="http://schemas.microsoft.com/office/drawing/2014/main" id="{D717D01D-A1BB-48AE-AF6E-28C4FB58E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191125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>
                <a:solidFill>
                  <a:srgbClr val="FFFFFF"/>
                </a:solidFill>
              </a:defRPr>
            </a:pPr>
            <a:r>
              <a:rPr sz="2250">
                <a:solidFill>
                  <a:srgbClr val="FFFFFF"/>
                </a:solidFill>
              </a:rPr>
              <a:t>Check the exact /practitioners/ directory on desktop and phone. There is no separate public practitioner page to manage.</a:t>
            </a:r>
          </a:p>
        </p:txBody>
      </p:sp>
      <p:sp>
        <p:nvSpPr>
          <p:cNvPr id="9" name="closing-help">
            <a:extLst xmlns:a="http://schemas.openxmlformats.org/drawingml/2006/main">
              <a:ext uri="{FF2B5EF4-FFF2-40B4-BE49-F238E27FC236}">
                <a16:creationId xmlns:a16="http://schemas.microsoft.com/office/drawing/2014/main" id="{01968A25-814D-43CE-B680-CB35891D9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7143750"/>
            <a:ext cx="1219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025">
                <a:solidFill>
                  <a:srgbClr val="8E4B61"/>
                </a:solidFill>
              </a:defRPr>
            </a:pPr>
            <a:r>
              <a:rPr sz="2025">
                <a:solidFill>
                  <a:srgbClr val="8E4B61"/>
                </a:solidFill>
              </a:rPr>
              <a:t>If the live result is wrong or missing, stop and ask for help.</a:t>
            </a:r>
          </a:p>
        </p:txBody>
      </p:sp>
    </p:spTree>
    <p:extLst>
      <p:ext uri="{BB962C8B-B14F-4D97-AF65-F5344CB8AC3E}">
        <p14:creationId xmlns:p14="http://schemas.microsoft.com/office/powerpoint/2010/main" val="7736851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2026-09-01T14:52:01.4450000Z</dcterms:created>
  <dcterms:modified xsi:type="dcterms:W3CDTF">2026-09-01T14:52:01.4450000Z</dcterms:modified>
</coreProperties>
</file>